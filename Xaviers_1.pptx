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9" r:id="rId2"/>
    <p:sldId id="266" r:id="rId3"/>
    <p:sldId id="265" r:id="rId4"/>
    <p:sldId id="257" r:id="rId5"/>
    <p:sldId id="258" r:id="rId6"/>
    <p:sldId id="276" r:id="rId7"/>
    <p:sldId id="267" r:id="rId8"/>
    <p:sldId id="261" r:id="rId9"/>
    <p:sldId id="275" r:id="rId10"/>
    <p:sldId id="274" r:id="rId11"/>
    <p:sldId id="273" r:id="rId12"/>
    <p:sldId id="263" r:id="rId13"/>
    <p:sldId id="262" r:id="rId14"/>
    <p:sldId id="277" r:id="rId15"/>
    <p:sldId id="278" r:id="rId16"/>
    <p:sldId id="269" r:id="rId17"/>
    <p:sldId id="270" r:id="rId18"/>
    <p:sldId id="271" r:id="rId19"/>
    <p:sldId id="260" r:id="rId20"/>
    <p:sldId id="264" r:id="rId21"/>
    <p:sldId id="26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72338A-1E56-4C7C-933B-8F59C3841D99}" type="datetimeFigureOut">
              <a:rPr lang="en-IN" smtClean="0"/>
              <a:t>16-02-2025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FDAEAE-0A11-4954-8B0D-3B21BB4B4249}" type="slidenum">
              <a:rPr lang="en-IN" smtClean="0"/>
              <a:t>‹#›</a:t>
            </a:fld>
            <a:endParaRPr lang="en-IN"/>
          </a:p>
        </p:txBody>
      </p:sp>
    </p:spTree>
    <p:extLst>
      <p:ext uri="{BB962C8B-B14F-4D97-AF65-F5344CB8AC3E}">
        <p14:creationId xmlns:p14="http://schemas.microsoft.com/office/powerpoint/2010/main" val="1931914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2fe422952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2fe422952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1249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2fe4229527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2fe4229527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9603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2fe4229527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2fe4229527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8371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2fe4229527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2fe4229527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325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2735-3949-B618-26FC-55E4C12D2E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49E406-05C8-0C6D-AFCB-F1C92647EA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0BB900D-409B-2298-310D-EC8924205627}"/>
              </a:ext>
            </a:extLst>
          </p:cNvPr>
          <p:cNvSpPr>
            <a:spLocks noGrp="1"/>
          </p:cNvSpPr>
          <p:nvPr>
            <p:ph type="dt" sz="half" idx="10"/>
          </p:nvPr>
        </p:nvSpPr>
        <p:spPr/>
        <p:txBody>
          <a:bodyPr/>
          <a:lstStyle/>
          <a:p>
            <a:fld id="{ACA08E54-069F-422F-AFE7-CE2237CA1E15}" type="datetimeFigureOut">
              <a:rPr lang="en-IN" smtClean="0"/>
              <a:t>16-02-2025</a:t>
            </a:fld>
            <a:endParaRPr lang="en-IN"/>
          </a:p>
        </p:txBody>
      </p:sp>
      <p:sp>
        <p:nvSpPr>
          <p:cNvPr id="5" name="Footer Placeholder 4">
            <a:extLst>
              <a:ext uri="{FF2B5EF4-FFF2-40B4-BE49-F238E27FC236}">
                <a16:creationId xmlns:a16="http://schemas.microsoft.com/office/drawing/2014/main" id="{617E8EEF-70AD-1C32-5F95-AD76C34A53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506704-0C49-457D-ABD1-D63A8E4DE428}"/>
              </a:ext>
            </a:extLst>
          </p:cNvPr>
          <p:cNvSpPr>
            <a:spLocks noGrp="1"/>
          </p:cNvSpPr>
          <p:nvPr>
            <p:ph type="sldNum" sz="quarter" idx="12"/>
          </p:nvPr>
        </p:nvSpPr>
        <p:spPr/>
        <p:txBody>
          <a:bodyPr/>
          <a:lstStyle/>
          <a:p>
            <a:fld id="{0AFF952E-E7C3-4FA4-AAB2-F629E7573E9F}" type="slidenum">
              <a:rPr lang="en-IN" smtClean="0"/>
              <a:t>‹#›</a:t>
            </a:fld>
            <a:endParaRPr lang="en-IN"/>
          </a:p>
        </p:txBody>
      </p:sp>
    </p:spTree>
    <p:extLst>
      <p:ext uri="{BB962C8B-B14F-4D97-AF65-F5344CB8AC3E}">
        <p14:creationId xmlns:p14="http://schemas.microsoft.com/office/powerpoint/2010/main" val="2136048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52718-ECE2-4CC9-E300-A5E10CE74A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280E01-F885-BFDF-0EEC-A861C6F146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F36F08-75C0-E8D3-5F25-1018ABF4E35F}"/>
              </a:ext>
            </a:extLst>
          </p:cNvPr>
          <p:cNvSpPr>
            <a:spLocks noGrp="1"/>
          </p:cNvSpPr>
          <p:nvPr>
            <p:ph type="dt" sz="half" idx="10"/>
          </p:nvPr>
        </p:nvSpPr>
        <p:spPr/>
        <p:txBody>
          <a:bodyPr/>
          <a:lstStyle/>
          <a:p>
            <a:fld id="{ACA08E54-069F-422F-AFE7-CE2237CA1E15}" type="datetimeFigureOut">
              <a:rPr lang="en-IN" smtClean="0"/>
              <a:t>16-02-2025</a:t>
            </a:fld>
            <a:endParaRPr lang="en-IN"/>
          </a:p>
        </p:txBody>
      </p:sp>
      <p:sp>
        <p:nvSpPr>
          <p:cNvPr id="5" name="Footer Placeholder 4">
            <a:extLst>
              <a:ext uri="{FF2B5EF4-FFF2-40B4-BE49-F238E27FC236}">
                <a16:creationId xmlns:a16="http://schemas.microsoft.com/office/drawing/2014/main" id="{2B2DD714-261E-FAE4-69E3-A71D191A1C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727786-4DF2-8568-E2BE-6EAB6129CAE0}"/>
              </a:ext>
            </a:extLst>
          </p:cNvPr>
          <p:cNvSpPr>
            <a:spLocks noGrp="1"/>
          </p:cNvSpPr>
          <p:nvPr>
            <p:ph type="sldNum" sz="quarter" idx="12"/>
          </p:nvPr>
        </p:nvSpPr>
        <p:spPr/>
        <p:txBody>
          <a:bodyPr/>
          <a:lstStyle/>
          <a:p>
            <a:fld id="{0AFF952E-E7C3-4FA4-AAB2-F629E7573E9F}" type="slidenum">
              <a:rPr lang="en-IN" smtClean="0"/>
              <a:t>‹#›</a:t>
            </a:fld>
            <a:endParaRPr lang="en-IN"/>
          </a:p>
        </p:txBody>
      </p:sp>
    </p:spTree>
    <p:extLst>
      <p:ext uri="{BB962C8B-B14F-4D97-AF65-F5344CB8AC3E}">
        <p14:creationId xmlns:p14="http://schemas.microsoft.com/office/powerpoint/2010/main" val="3501021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80170-D0DA-EA20-DBDC-44A80DC673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62CF830-4C6A-E8D3-4017-CD44B9A783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B7D63A-E406-E949-2286-FFF2AD7818E4}"/>
              </a:ext>
            </a:extLst>
          </p:cNvPr>
          <p:cNvSpPr>
            <a:spLocks noGrp="1"/>
          </p:cNvSpPr>
          <p:nvPr>
            <p:ph type="dt" sz="half" idx="10"/>
          </p:nvPr>
        </p:nvSpPr>
        <p:spPr/>
        <p:txBody>
          <a:bodyPr/>
          <a:lstStyle/>
          <a:p>
            <a:fld id="{ACA08E54-069F-422F-AFE7-CE2237CA1E15}" type="datetimeFigureOut">
              <a:rPr lang="en-IN" smtClean="0"/>
              <a:t>16-02-2025</a:t>
            </a:fld>
            <a:endParaRPr lang="en-IN"/>
          </a:p>
        </p:txBody>
      </p:sp>
      <p:sp>
        <p:nvSpPr>
          <p:cNvPr id="5" name="Footer Placeholder 4">
            <a:extLst>
              <a:ext uri="{FF2B5EF4-FFF2-40B4-BE49-F238E27FC236}">
                <a16:creationId xmlns:a16="http://schemas.microsoft.com/office/drawing/2014/main" id="{4666D975-3F57-5A37-6005-E69A4AB1ED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CA08D1-B3DA-2355-344C-6EBA92839D2D}"/>
              </a:ext>
            </a:extLst>
          </p:cNvPr>
          <p:cNvSpPr>
            <a:spLocks noGrp="1"/>
          </p:cNvSpPr>
          <p:nvPr>
            <p:ph type="sldNum" sz="quarter" idx="12"/>
          </p:nvPr>
        </p:nvSpPr>
        <p:spPr/>
        <p:txBody>
          <a:bodyPr/>
          <a:lstStyle/>
          <a:p>
            <a:fld id="{0AFF952E-E7C3-4FA4-AAB2-F629E7573E9F}" type="slidenum">
              <a:rPr lang="en-IN" smtClean="0"/>
              <a:t>‹#›</a:t>
            </a:fld>
            <a:endParaRPr lang="en-IN"/>
          </a:p>
        </p:txBody>
      </p:sp>
    </p:spTree>
    <p:extLst>
      <p:ext uri="{BB962C8B-B14F-4D97-AF65-F5344CB8AC3E}">
        <p14:creationId xmlns:p14="http://schemas.microsoft.com/office/powerpoint/2010/main" val="2715869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683BB-F1F9-D237-5572-07C82D2F57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4671FA-DEE6-9EBA-B1BA-FFDBCEADC4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430D00-4728-CBEC-F34B-0A20C3CA63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063D007-0348-E4EA-5961-ABFEFBDD34A7}"/>
              </a:ext>
            </a:extLst>
          </p:cNvPr>
          <p:cNvSpPr>
            <a:spLocks noGrp="1"/>
          </p:cNvSpPr>
          <p:nvPr>
            <p:ph type="dt" sz="half" idx="10"/>
          </p:nvPr>
        </p:nvSpPr>
        <p:spPr/>
        <p:txBody>
          <a:bodyPr/>
          <a:lstStyle/>
          <a:p>
            <a:fld id="{ACA08E54-069F-422F-AFE7-CE2237CA1E15}" type="datetimeFigureOut">
              <a:rPr lang="en-IN" smtClean="0"/>
              <a:t>16-02-2025</a:t>
            </a:fld>
            <a:endParaRPr lang="en-IN"/>
          </a:p>
        </p:txBody>
      </p:sp>
      <p:sp>
        <p:nvSpPr>
          <p:cNvPr id="6" name="Footer Placeholder 5">
            <a:extLst>
              <a:ext uri="{FF2B5EF4-FFF2-40B4-BE49-F238E27FC236}">
                <a16:creationId xmlns:a16="http://schemas.microsoft.com/office/drawing/2014/main" id="{76FC7453-8040-43A1-22DD-54FCE68749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651597-2851-8303-5E58-8F7E42188ADF}"/>
              </a:ext>
            </a:extLst>
          </p:cNvPr>
          <p:cNvSpPr>
            <a:spLocks noGrp="1"/>
          </p:cNvSpPr>
          <p:nvPr>
            <p:ph type="sldNum" sz="quarter" idx="12"/>
          </p:nvPr>
        </p:nvSpPr>
        <p:spPr/>
        <p:txBody>
          <a:bodyPr/>
          <a:lstStyle/>
          <a:p>
            <a:fld id="{0AFF952E-E7C3-4FA4-AAB2-F629E7573E9F}" type="slidenum">
              <a:rPr lang="en-IN" smtClean="0"/>
              <a:t>‹#›</a:t>
            </a:fld>
            <a:endParaRPr lang="en-IN"/>
          </a:p>
        </p:txBody>
      </p:sp>
    </p:spTree>
    <p:extLst>
      <p:ext uri="{BB962C8B-B14F-4D97-AF65-F5344CB8AC3E}">
        <p14:creationId xmlns:p14="http://schemas.microsoft.com/office/powerpoint/2010/main" val="2483453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0848A-84D8-11C4-B964-D899EF6849A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4D896C-2FFF-4505-0E2A-6B0B9F275E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4321D9-080F-4CB4-56DA-6351352AB5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7E70CF4-5BA7-7C7B-01DC-B6C9549FA2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D5B258-9985-4F18-0BCC-D1DA6C090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595FA4-0139-9C4C-B8A0-901801D982CC}"/>
              </a:ext>
            </a:extLst>
          </p:cNvPr>
          <p:cNvSpPr>
            <a:spLocks noGrp="1"/>
          </p:cNvSpPr>
          <p:nvPr>
            <p:ph type="dt" sz="half" idx="10"/>
          </p:nvPr>
        </p:nvSpPr>
        <p:spPr/>
        <p:txBody>
          <a:bodyPr/>
          <a:lstStyle/>
          <a:p>
            <a:fld id="{ACA08E54-069F-422F-AFE7-CE2237CA1E15}" type="datetimeFigureOut">
              <a:rPr lang="en-IN" smtClean="0"/>
              <a:t>16-02-2025</a:t>
            </a:fld>
            <a:endParaRPr lang="en-IN"/>
          </a:p>
        </p:txBody>
      </p:sp>
      <p:sp>
        <p:nvSpPr>
          <p:cNvPr id="8" name="Footer Placeholder 7">
            <a:extLst>
              <a:ext uri="{FF2B5EF4-FFF2-40B4-BE49-F238E27FC236}">
                <a16:creationId xmlns:a16="http://schemas.microsoft.com/office/drawing/2014/main" id="{AC36810C-7B97-3858-3AAF-20FCED6F9AC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42C1145-BE70-45B9-18FC-FBBCCF3E21B4}"/>
              </a:ext>
            </a:extLst>
          </p:cNvPr>
          <p:cNvSpPr>
            <a:spLocks noGrp="1"/>
          </p:cNvSpPr>
          <p:nvPr>
            <p:ph type="sldNum" sz="quarter" idx="12"/>
          </p:nvPr>
        </p:nvSpPr>
        <p:spPr/>
        <p:txBody>
          <a:bodyPr/>
          <a:lstStyle/>
          <a:p>
            <a:fld id="{0AFF952E-E7C3-4FA4-AAB2-F629E7573E9F}" type="slidenum">
              <a:rPr lang="en-IN" smtClean="0"/>
              <a:t>‹#›</a:t>
            </a:fld>
            <a:endParaRPr lang="en-IN"/>
          </a:p>
        </p:txBody>
      </p:sp>
    </p:spTree>
    <p:extLst>
      <p:ext uri="{BB962C8B-B14F-4D97-AF65-F5344CB8AC3E}">
        <p14:creationId xmlns:p14="http://schemas.microsoft.com/office/powerpoint/2010/main" val="249347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00105-5363-364B-CA6A-36D2E212ABB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0CDC28-04C2-DB20-C072-A082EE57D832}"/>
              </a:ext>
            </a:extLst>
          </p:cNvPr>
          <p:cNvSpPr>
            <a:spLocks noGrp="1"/>
          </p:cNvSpPr>
          <p:nvPr>
            <p:ph type="dt" sz="half" idx="10"/>
          </p:nvPr>
        </p:nvSpPr>
        <p:spPr/>
        <p:txBody>
          <a:bodyPr/>
          <a:lstStyle/>
          <a:p>
            <a:fld id="{ACA08E54-069F-422F-AFE7-CE2237CA1E15}" type="datetimeFigureOut">
              <a:rPr lang="en-IN" smtClean="0"/>
              <a:t>16-02-2025</a:t>
            </a:fld>
            <a:endParaRPr lang="en-IN"/>
          </a:p>
        </p:txBody>
      </p:sp>
      <p:sp>
        <p:nvSpPr>
          <p:cNvPr id="4" name="Footer Placeholder 3">
            <a:extLst>
              <a:ext uri="{FF2B5EF4-FFF2-40B4-BE49-F238E27FC236}">
                <a16:creationId xmlns:a16="http://schemas.microsoft.com/office/drawing/2014/main" id="{6CB69ECB-C3D2-7F74-6154-BFF5BE3F608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860A39C-A750-8418-298A-B16DB80272E9}"/>
              </a:ext>
            </a:extLst>
          </p:cNvPr>
          <p:cNvSpPr>
            <a:spLocks noGrp="1"/>
          </p:cNvSpPr>
          <p:nvPr>
            <p:ph type="sldNum" sz="quarter" idx="12"/>
          </p:nvPr>
        </p:nvSpPr>
        <p:spPr/>
        <p:txBody>
          <a:bodyPr/>
          <a:lstStyle/>
          <a:p>
            <a:fld id="{0AFF952E-E7C3-4FA4-AAB2-F629E7573E9F}" type="slidenum">
              <a:rPr lang="en-IN" smtClean="0"/>
              <a:t>‹#›</a:t>
            </a:fld>
            <a:endParaRPr lang="en-IN"/>
          </a:p>
        </p:txBody>
      </p:sp>
    </p:spTree>
    <p:extLst>
      <p:ext uri="{BB962C8B-B14F-4D97-AF65-F5344CB8AC3E}">
        <p14:creationId xmlns:p14="http://schemas.microsoft.com/office/powerpoint/2010/main" val="450428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7822B0-5FAB-016F-86BC-6D9E6C9B8A71}"/>
              </a:ext>
            </a:extLst>
          </p:cNvPr>
          <p:cNvSpPr>
            <a:spLocks noGrp="1"/>
          </p:cNvSpPr>
          <p:nvPr>
            <p:ph type="dt" sz="half" idx="10"/>
          </p:nvPr>
        </p:nvSpPr>
        <p:spPr/>
        <p:txBody>
          <a:bodyPr/>
          <a:lstStyle/>
          <a:p>
            <a:fld id="{ACA08E54-069F-422F-AFE7-CE2237CA1E15}" type="datetimeFigureOut">
              <a:rPr lang="en-IN" smtClean="0"/>
              <a:t>16-02-2025</a:t>
            </a:fld>
            <a:endParaRPr lang="en-IN"/>
          </a:p>
        </p:txBody>
      </p:sp>
      <p:sp>
        <p:nvSpPr>
          <p:cNvPr id="3" name="Footer Placeholder 2">
            <a:extLst>
              <a:ext uri="{FF2B5EF4-FFF2-40B4-BE49-F238E27FC236}">
                <a16:creationId xmlns:a16="http://schemas.microsoft.com/office/drawing/2014/main" id="{92F0D953-0530-7956-32E7-ABDA971911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30C83F1-14D1-EEC3-3E32-E9945F52F9FD}"/>
              </a:ext>
            </a:extLst>
          </p:cNvPr>
          <p:cNvSpPr>
            <a:spLocks noGrp="1"/>
          </p:cNvSpPr>
          <p:nvPr>
            <p:ph type="sldNum" sz="quarter" idx="12"/>
          </p:nvPr>
        </p:nvSpPr>
        <p:spPr/>
        <p:txBody>
          <a:bodyPr/>
          <a:lstStyle/>
          <a:p>
            <a:fld id="{0AFF952E-E7C3-4FA4-AAB2-F629E7573E9F}" type="slidenum">
              <a:rPr lang="en-IN" smtClean="0"/>
              <a:t>‹#›</a:t>
            </a:fld>
            <a:endParaRPr lang="en-IN"/>
          </a:p>
        </p:txBody>
      </p:sp>
    </p:spTree>
    <p:extLst>
      <p:ext uri="{BB962C8B-B14F-4D97-AF65-F5344CB8AC3E}">
        <p14:creationId xmlns:p14="http://schemas.microsoft.com/office/powerpoint/2010/main" val="3835851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14520-528E-63CA-3D4E-A73C41071F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9AAAFDA-4933-13C5-6FE0-BBEEF69F60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538C744-472C-2A23-55F5-4D7FEA4BD7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93F25-0DD0-FC06-5C22-DDF3E61382CB}"/>
              </a:ext>
            </a:extLst>
          </p:cNvPr>
          <p:cNvSpPr>
            <a:spLocks noGrp="1"/>
          </p:cNvSpPr>
          <p:nvPr>
            <p:ph type="dt" sz="half" idx="10"/>
          </p:nvPr>
        </p:nvSpPr>
        <p:spPr/>
        <p:txBody>
          <a:bodyPr/>
          <a:lstStyle/>
          <a:p>
            <a:fld id="{ACA08E54-069F-422F-AFE7-CE2237CA1E15}" type="datetimeFigureOut">
              <a:rPr lang="en-IN" smtClean="0"/>
              <a:t>16-02-2025</a:t>
            </a:fld>
            <a:endParaRPr lang="en-IN"/>
          </a:p>
        </p:txBody>
      </p:sp>
      <p:sp>
        <p:nvSpPr>
          <p:cNvPr id="6" name="Footer Placeholder 5">
            <a:extLst>
              <a:ext uri="{FF2B5EF4-FFF2-40B4-BE49-F238E27FC236}">
                <a16:creationId xmlns:a16="http://schemas.microsoft.com/office/drawing/2014/main" id="{3CE22534-F389-A8A0-E091-E5FDBA1385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C3D2BD-29DA-D5C5-8310-AC574155E11E}"/>
              </a:ext>
            </a:extLst>
          </p:cNvPr>
          <p:cNvSpPr>
            <a:spLocks noGrp="1"/>
          </p:cNvSpPr>
          <p:nvPr>
            <p:ph type="sldNum" sz="quarter" idx="12"/>
          </p:nvPr>
        </p:nvSpPr>
        <p:spPr/>
        <p:txBody>
          <a:bodyPr/>
          <a:lstStyle/>
          <a:p>
            <a:fld id="{0AFF952E-E7C3-4FA4-AAB2-F629E7573E9F}" type="slidenum">
              <a:rPr lang="en-IN" smtClean="0"/>
              <a:t>‹#›</a:t>
            </a:fld>
            <a:endParaRPr lang="en-IN"/>
          </a:p>
        </p:txBody>
      </p:sp>
    </p:spTree>
    <p:extLst>
      <p:ext uri="{BB962C8B-B14F-4D97-AF65-F5344CB8AC3E}">
        <p14:creationId xmlns:p14="http://schemas.microsoft.com/office/powerpoint/2010/main" val="1760499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48D35-553A-076E-695C-3B4DE2FDE8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3183C5C-6437-874B-F333-AC50C19827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A36707-2654-DFC5-E295-7E963F1A17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28C3C0-B1E8-9DA9-4848-D8A8E43D409F}"/>
              </a:ext>
            </a:extLst>
          </p:cNvPr>
          <p:cNvSpPr>
            <a:spLocks noGrp="1"/>
          </p:cNvSpPr>
          <p:nvPr>
            <p:ph type="dt" sz="half" idx="10"/>
          </p:nvPr>
        </p:nvSpPr>
        <p:spPr/>
        <p:txBody>
          <a:bodyPr/>
          <a:lstStyle/>
          <a:p>
            <a:fld id="{ACA08E54-069F-422F-AFE7-CE2237CA1E15}" type="datetimeFigureOut">
              <a:rPr lang="en-IN" smtClean="0"/>
              <a:t>16-02-2025</a:t>
            </a:fld>
            <a:endParaRPr lang="en-IN"/>
          </a:p>
        </p:txBody>
      </p:sp>
      <p:sp>
        <p:nvSpPr>
          <p:cNvPr id="6" name="Footer Placeholder 5">
            <a:extLst>
              <a:ext uri="{FF2B5EF4-FFF2-40B4-BE49-F238E27FC236}">
                <a16:creationId xmlns:a16="http://schemas.microsoft.com/office/drawing/2014/main" id="{1BDDCEA0-DDA4-C284-F079-22AB932878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5DEBAE-B241-BE89-FEFA-BEEB41E66DD3}"/>
              </a:ext>
            </a:extLst>
          </p:cNvPr>
          <p:cNvSpPr>
            <a:spLocks noGrp="1"/>
          </p:cNvSpPr>
          <p:nvPr>
            <p:ph type="sldNum" sz="quarter" idx="12"/>
          </p:nvPr>
        </p:nvSpPr>
        <p:spPr/>
        <p:txBody>
          <a:bodyPr/>
          <a:lstStyle/>
          <a:p>
            <a:fld id="{0AFF952E-E7C3-4FA4-AAB2-F629E7573E9F}" type="slidenum">
              <a:rPr lang="en-IN" smtClean="0"/>
              <a:t>‹#›</a:t>
            </a:fld>
            <a:endParaRPr lang="en-IN"/>
          </a:p>
        </p:txBody>
      </p:sp>
    </p:spTree>
    <p:extLst>
      <p:ext uri="{BB962C8B-B14F-4D97-AF65-F5344CB8AC3E}">
        <p14:creationId xmlns:p14="http://schemas.microsoft.com/office/powerpoint/2010/main" val="1944128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E7FD1-D8BE-B99E-FCF6-808C0F6F885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7F6C20-B5E7-3308-5EFA-53D96E6C2D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CAE79C-C482-C8C4-8B4A-1160BD754ADB}"/>
              </a:ext>
            </a:extLst>
          </p:cNvPr>
          <p:cNvSpPr>
            <a:spLocks noGrp="1"/>
          </p:cNvSpPr>
          <p:nvPr>
            <p:ph type="dt" sz="half" idx="10"/>
          </p:nvPr>
        </p:nvSpPr>
        <p:spPr/>
        <p:txBody>
          <a:bodyPr/>
          <a:lstStyle/>
          <a:p>
            <a:fld id="{ACA08E54-069F-422F-AFE7-CE2237CA1E15}" type="datetimeFigureOut">
              <a:rPr lang="en-IN" smtClean="0"/>
              <a:t>16-02-2025</a:t>
            </a:fld>
            <a:endParaRPr lang="en-IN"/>
          </a:p>
        </p:txBody>
      </p:sp>
      <p:sp>
        <p:nvSpPr>
          <p:cNvPr id="5" name="Footer Placeholder 4">
            <a:extLst>
              <a:ext uri="{FF2B5EF4-FFF2-40B4-BE49-F238E27FC236}">
                <a16:creationId xmlns:a16="http://schemas.microsoft.com/office/drawing/2014/main" id="{4414364F-E004-C657-0F5F-1C82E8D835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21B405-1049-049D-C377-591DB8194168}"/>
              </a:ext>
            </a:extLst>
          </p:cNvPr>
          <p:cNvSpPr>
            <a:spLocks noGrp="1"/>
          </p:cNvSpPr>
          <p:nvPr>
            <p:ph type="sldNum" sz="quarter" idx="12"/>
          </p:nvPr>
        </p:nvSpPr>
        <p:spPr/>
        <p:txBody>
          <a:bodyPr/>
          <a:lstStyle/>
          <a:p>
            <a:fld id="{0AFF952E-E7C3-4FA4-AAB2-F629E7573E9F}" type="slidenum">
              <a:rPr lang="en-IN" smtClean="0"/>
              <a:t>‹#›</a:t>
            </a:fld>
            <a:endParaRPr lang="en-IN"/>
          </a:p>
        </p:txBody>
      </p:sp>
    </p:spTree>
    <p:extLst>
      <p:ext uri="{BB962C8B-B14F-4D97-AF65-F5344CB8AC3E}">
        <p14:creationId xmlns:p14="http://schemas.microsoft.com/office/powerpoint/2010/main" val="2387353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F0DC15-B0AC-CD20-F294-72C643229B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B5FE29-7C0A-016D-98D1-6C00C1C8FB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AFF44A-70CF-6EE1-134A-479E9186FB63}"/>
              </a:ext>
            </a:extLst>
          </p:cNvPr>
          <p:cNvSpPr>
            <a:spLocks noGrp="1"/>
          </p:cNvSpPr>
          <p:nvPr>
            <p:ph type="dt" sz="half" idx="10"/>
          </p:nvPr>
        </p:nvSpPr>
        <p:spPr/>
        <p:txBody>
          <a:bodyPr/>
          <a:lstStyle/>
          <a:p>
            <a:fld id="{ACA08E54-069F-422F-AFE7-CE2237CA1E15}" type="datetimeFigureOut">
              <a:rPr lang="en-IN" smtClean="0"/>
              <a:t>16-02-2025</a:t>
            </a:fld>
            <a:endParaRPr lang="en-IN"/>
          </a:p>
        </p:txBody>
      </p:sp>
      <p:sp>
        <p:nvSpPr>
          <p:cNvPr id="5" name="Footer Placeholder 4">
            <a:extLst>
              <a:ext uri="{FF2B5EF4-FFF2-40B4-BE49-F238E27FC236}">
                <a16:creationId xmlns:a16="http://schemas.microsoft.com/office/drawing/2014/main" id="{5BB48144-368F-629A-A551-B9330F2B2B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DB13C5-7D33-1B6E-5B76-1EADF1FCDA24}"/>
              </a:ext>
            </a:extLst>
          </p:cNvPr>
          <p:cNvSpPr>
            <a:spLocks noGrp="1"/>
          </p:cNvSpPr>
          <p:nvPr>
            <p:ph type="sldNum" sz="quarter" idx="12"/>
          </p:nvPr>
        </p:nvSpPr>
        <p:spPr/>
        <p:txBody>
          <a:bodyPr/>
          <a:lstStyle/>
          <a:p>
            <a:fld id="{0AFF952E-E7C3-4FA4-AAB2-F629E7573E9F}" type="slidenum">
              <a:rPr lang="en-IN" smtClean="0"/>
              <a:t>‹#›</a:t>
            </a:fld>
            <a:endParaRPr lang="en-IN"/>
          </a:p>
        </p:txBody>
      </p:sp>
    </p:spTree>
    <p:extLst>
      <p:ext uri="{BB962C8B-B14F-4D97-AF65-F5344CB8AC3E}">
        <p14:creationId xmlns:p14="http://schemas.microsoft.com/office/powerpoint/2010/main" val="2218093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37729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3595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CAF701-FB08-AB61-A30F-E45C089CDB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79A657-B19D-DB86-9666-8A459688AE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8B1C74-3716-1262-E79F-D9A5CC4EA3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A08E54-069F-422F-AFE7-CE2237CA1E15}" type="datetimeFigureOut">
              <a:rPr lang="en-IN" smtClean="0"/>
              <a:t>16-02-2025</a:t>
            </a:fld>
            <a:endParaRPr lang="en-IN"/>
          </a:p>
        </p:txBody>
      </p:sp>
      <p:sp>
        <p:nvSpPr>
          <p:cNvPr id="5" name="Footer Placeholder 4">
            <a:extLst>
              <a:ext uri="{FF2B5EF4-FFF2-40B4-BE49-F238E27FC236}">
                <a16:creationId xmlns:a16="http://schemas.microsoft.com/office/drawing/2014/main" id="{07FA5B17-DBFE-C9A3-B455-E45E65098D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C8A20D7-7E0F-E7A1-7376-64FE7726D3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FF952E-E7C3-4FA4-AAB2-F629E7573E9F}" type="slidenum">
              <a:rPr lang="en-IN" smtClean="0"/>
              <a:t>‹#›</a:t>
            </a:fld>
            <a:endParaRPr lang="en-IN"/>
          </a:p>
        </p:txBody>
      </p:sp>
    </p:spTree>
    <p:extLst>
      <p:ext uri="{BB962C8B-B14F-4D97-AF65-F5344CB8AC3E}">
        <p14:creationId xmlns:p14="http://schemas.microsoft.com/office/powerpoint/2010/main" val="940898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1C42A7-73FD-420A-9B5D-50F8E9790C9E}"/>
              </a:ext>
            </a:extLst>
          </p:cNvPr>
          <p:cNvSpPr txBox="1"/>
          <p:nvPr/>
        </p:nvSpPr>
        <p:spPr>
          <a:xfrm>
            <a:off x="0" y="-39757"/>
            <a:ext cx="12192000" cy="6863417"/>
          </a:xfrm>
          <a:prstGeom prst="rect">
            <a:avLst/>
          </a:prstGeom>
          <a:noFill/>
        </p:spPr>
        <p:txBody>
          <a:bodyPr wrap="square" rtlCol="0">
            <a:spAutoFit/>
          </a:bodyPr>
          <a:lstStyle/>
          <a:p>
            <a:pPr algn="ctr"/>
            <a:endParaRPr lang="en-US" sz="2400" u="sng" dirty="0"/>
          </a:p>
          <a:p>
            <a:pPr algn="ctr"/>
            <a:endParaRPr lang="en-US" sz="2400" u="sng" dirty="0"/>
          </a:p>
          <a:p>
            <a:pPr algn="ctr"/>
            <a:endParaRPr lang="en-US" sz="3200" u="sng" dirty="0"/>
          </a:p>
          <a:p>
            <a:pPr algn="ctr"/>
            <a:endParaRPr lang="en-US" sz="3200" u="sng" dirty="0"/>
          </a:p>
          <a:p>
            <a:pPr algn="ctr"/>
            <a:r>
              <a:rPr lang="en-US" sz="3200" b="1" dirty="0">
                <a:solidFill>
                  <a:schemeClr val="accent5">
                    <a:lumMod val="50000"/>
                  </a:schemeClr>
                </a:solidFill>
              </a:rPr>
              <a:t>Tracing the link between </a:t>
            </a:r>
            <a:r>
              <a:rPr lang="en-IN" sz="3200" b="1" dirty="0">
                <a:solidFill>
                  <a:schemeClr val="accent5">
                    <a:lumMod val="50000"/>
                  </a:schemeClr>
                </a:solidFill>
              </a:rPr>
              <a:t>Education and Development: </a:t>
            </a:r>
          </a:p>
          <a:p>
            <a:pPr algn="ctr"/>
            <a:r>
              <a:rPr lang="en-IN" sz="3200" b="1" i="1" dirty="0">
                <a:solidFill>
                  <a:schemeClr val="accent5">
                    <a:lumMod val="50000"/>
                  </a:schemeClr>
                </a:solidFill>
              </a:rPr>
              <a:t>Global Inequalities through the Lens of PISA Scores (2022)</a:t>
            </a:r>
            <a:endParaRPr lang="en-US" sz="3200" i="1" dirty="0">
              <a:solidFill>
                <a:schemeClr val="accent5">
                  <a:lumMod val="50000"/>
                </a:schemeClr>
              </a:solidFill>
            </a:endParaRPr>
          </a:p>
          <a:p>
            <a:endParaRPr lang="en-US" dirty="0"/>
          </a:p>
          <a:p>
            <a:r>
              <a:rPr lang="en-US" dirty="0"/>
              <a:t>	</a:t>
            </a:r>
            <a:r>
              <a:rPr lang="en-US" sz="2400" i="1" dirty="0"/>
              <a:t>Understanding the intricacies of the relationship between education and the dynamics of development, has triggered a great deal of academic inquiry and policy discussions. In this paper, we are going to exploit the PISA scores obtained until the year 2022.</a:t>
            </a:r>
            <a:endParaRPr lang="en-US" sz="2400" b="1" i="1" dirty="0"/>
          </a:p>
          <a:p>
            <a:endParaRPr lang="en-US" dirty="0"/>
          </a:p>
          <a:p>
            <a:endParaRPr lang="en-US" i="1" dirty="0"/>
          </a:p>
          <a:p>
            <a:r>
              <a:rPr lang="en-US" i="1" dirty="0"/>
              <a:t>	 </a:t>
            </a:r>
          </a:p>
          <a:p>
            <a:endParaRPr lang="en-US" i="1" dirty="0"/>
          </a:p>
          <a:p>
            <a:endParaRPr lang="en-US" i="1" dirty="0"/>
          </a:p>
          <a:p>
            <a:pPr algn="ctr"/>
            <a:endParaRPr lang="en-US" sz="2000" i="1" dirty="0"/>
          </a:p>
          <a:p>
            <a:pPr algn="just"/>
            <a:endParaRPr lang="en-US" sz="2000" i="1" dirty="0"/>
          </a:p>
          <a:p>
            <a:pPr algn="just"/>
            <a:endParaRPr lang="en-US" sz="2000" i="1" dirty="0"/>
          </a:p>
          <a:p>
            <a:pPr algn="just"/>
            <a:endParaRPr lang="en-US" sz="2400" b="1" dirty="0"/>
          </a:p>
        </p:txBody>
      </p:sp>
      <p:sp>
        <p:nvSpPr>
          <p:cNvPr id="4" name="TextBox 3">
            <a:extLst>
              <a:ext uri="{FF2B5EF4-FFF2-40B4-BE49-F238E27FC236}">
                <a16:creationId xmlns:a16="http://schemas.microsoft.com/office/drawing/2014/main" id="{2E1565FD-BFDA-C89F-36C3-B016122EC5F5}"/>
              </a:ext>
            </a:extLst>
          </p:cNvPr>
          <p:cNvSpPr txBox="1"/>
          <p:nvPr/>
        </p:nvSpPr>
        <p:spPr>
          <a:xfrm>
            <a:off x="7876853" y="4423003"/>
            <a:ext cx="4315147" cy="2400657"/>
          </a:xfrm>
          <a:prstGeom prst="rect">
            <a:avLst/>
          </a:prstGeom>
          <a:noFill/>
          <a:ln w="19050">
            <a:solidFill>
              <a:schemeClr val="accent1">
                <a:lumMod val="40000"/>
                <a:lumOff val="60000"/>
              </a:schemeClr>
            </a:solidFill>
          </a:ln>
        </p:spPr>
        <p:txBody>
          <a:bodyPr wrap="square" rtlCol="0">
            <a:spAutoFit/>
          </a:bodyPr>
          <a:lstStyle/>
          <a:p>
            <a:r>
              <a:rPr lang="en-US" sz="2200" i="1" dirty="0">
                <a:latin typeface="Times New Roman" panose="02020603050405020304" pitchFamily="18" charset="0"/>
                <a:cs typeface="Times New Roman" panose="02020603050405020304" pitchFamily="18" charset="0"/>
              </a:rPr>
              <a:t>Prantika Mukherjee </a:t>
            </a:r>
          </a:p>
          <a:p>
            <a:r>
              <a:rPr lang="en-US" sz="2200" i="1" dirty="0" err="1">
                <a:latin typeface="Times New Roman" panose="02020603050405020304" pitchFamily="18" charset="0"/>
                <a:cs typeface="Times New Roman" panose="02020603050405020304" pitchFamily="18" charset="0"/>
              </a:rPr>
              <a:t>Ritobhash</a:t>
            </a:r>
            <a:r>
              <a:rPr lang="en-US" sz="2200" i="1" dirty="0">
                <a:latin typeface="Times New Roman" panose="02020603050405020304" pitchFamily="18" charset="0"/>
                <a:cs typeface="Times New Roman" panose="02020603050405020304" pitchFamily="18" charset="0"/>
              </a:rPr>
              <a:t> Daw </a:t>
            </a:r>
          </a:p>
          <a:p>
            <a:r>
              <a:rPr lang="en-US" sz="2200" i="1" dirty="0">
                <a:latin typeface="Times New Roman" panose="02020603050405020304" pitchFamily="18" charset="0"/>
                <a:cs typeface="Times New Roman" panose="02020603050405020304" pitchFamily="18" charset="0"/>
              </a:rPr>
              <a:t>Ivan Das</a:t>
            </a:r>
          </a:p>
          <a:p>
            <a:r>
              <a:rPr lang="en-US" sz="2200" i="1" dirty="0">
                <a:latin typeface="Times New Roman" panose="02020603050405020304" pitchFamily="18" charset="0"/>
                <a:cs typeface="Times New Roman" panose="02020603050405020304" pitchFamily="18" charset="0"/>
              </a:rPr>
              <a:t>Annwesha Pal</a:t>
            </a:r>
          </a:p>
          <a:p>
            <a:r>
              <a:rPr lang="en-US" sz="2200" u="sng" dirty="0">
                <a:latin typeface="Times New Roman" panose="02020603050405020304" pitchFamily="18" charset="0"/>
                <a:cs typeface="Times New Roman" panose="02020603050405020304" pitchFamily="18" charset="0"/>
              </a:rPr>
              <a:t>Department of Economics, Presidency University (3</a:t>
            </a:r>
            <a:r>
              <a:rPr lang="en-US" sz="2200" u="sng" baseline="30000" dirty="0">
                <a:latin typeface="Times New Roman" panose="02020603050405020304" pitchFamily="18" charset="0"/>
                <a:cs typeface="Times New Roman" panose="02020603050405020304" pitchFamily="18" charset="0"/>
              </a:rPr>
              <a:t>rd</a:t>
            </a:r>
            <a:r>
              <a:rPr lang="en-US" sz="2200" u="sng" dirty="0">
                <a:latin typeface="Times New Roman" panose="02020603050405020304" pitchFamily="18" charset="0"/>
                <a:cs typeface="Times New Roman" panose="02020603050405020304" pitchFamily="18" charset="0"/>
              </a:rPr>
              <a:t> Year)</a:t>
            </a:r>
            <a:endParaRPr lang="en-US" sz="2200" b="1" u="sng"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75684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586C63-F437-5027-C43E-09D65EA843E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92000"/>
                    </a14:imgEffect>
                    <a14:imgEffect>
                      <a14:colorTemperature colorTemp="5288"/>
                    </a14:imgEffect>
                    <a14:imgEffect>
                      <a14:saturation sat="99000"/>
                    </a14:imgEffect>
                    <a14:imgEffect>
                      <a14:brightnessContrast bright="24000" contrast="-2000"/>
                    </a14:imgEffect>
                  </a14:imgLayer>
                </a14:imgProps>
              </a:ext>
              <a:ext uri="{28A0092B-C50C-407E-A947-70E740481C1C}">
                <a14:useLocalDpi xmlns:a14="http://schemas.microsoft.com/office/drawing/2010/main" val="0"/>
              </a:ext>
            </a:extLst>
          </a:blip>
          <a:stretch>
            <a:fillRect/>
          </a:stretch>
        </p:blipFill>
        <p:spPr>
          <a:xfrm>
            <a:off x="0" y="-1"/>
            <a:ext cx="12192000" cy="6857495"/>
          </a:xfrm>
          <a:prstGeom prst="rect">
            <a:avLst/>
          </a:prstGeom>
        </p:spPr>
      </p:pic>
      <p:sp>
        <p:nvSpPr>
          <p:cNvPr id="2" name="Rectangle 1">
            <a:extLst>
              <a:ext uri="{FF2B5EF4-FFF2-40B4-BE49-F238E27FC236}">
                <a16:creationId xmlns:a16="http://schemas.microsoft.com/office/drawing/2014/main" id="{B66AEF31-3A3C-4CC3-8578-80782DBBED1C}"/>
              </a:ext>
            </a:extLst>
          </p:cNvPr>
          <p:cNvSpPr/>
          <p:nvPr/>
        </p:nvSpPr>
        <p:spPr>
          <a:xfrm>
            <a:off x="154744" y="421240"/>
            <a:ext cx="11830929" cy="5755422"/>
          </a:xfrm>
          <a:prstGeom prst="rect">
            <a:avLst/>
          </a:prstGeom>
        </p:spPr>
        <p:txBody>
          <a:bodyPr wrap="square">
            <a:spAutoFit/>
          </a:bodyPr>
          <a:lstStyle/>
          <a:p>
            <a:pPr algn="just"/>
            <a:r>
              <a:rPr lang="en-US" sz="3200" b="1" dirty="0">
                <a:latin typeface="Times New Roman" panose="02020603050405020304" pitchFamily="18" charset="0"/>
                <a:cs typeface="Times New Roman" panose="02020603050405020304" pitchFamily="18" charset="0"/>
              </a:rPr>
              <a:t>Research Objectives:</a:t>
            </a: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Analyze whether and how the PISA scores capture the impact on education of various demand and supply-side factors</a:t>
            </a: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Establish the impact of education on the nature of development across regions</a:t>
            </a: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Observe how inequalities in educational outcomes vary across and within countries</a:t>
            </a:r>
          </a:p>
          <a:p>
            <a:pPr marL="285750" indent="-285750" algn="just">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algn="just"/>
            <a:r>
              <a:rPr lang="en-US" sz="2800" i="1" dirty="0">
                <a:latin typeface="Times New Roman" panose="02020603050405020304" pitchFamily="18" charset="0"/>
                <a:ea typeface="Calibri" panose="020F0502020204030204" pitchFamily="34" charset="0"/>
                <a:cs typeface="Times New Roman" panose="02020603050405020304" pitchFamily="18" charset="0"/>
              </a:rPr>
              <a:t>The </a:t>
            </a:r>
            <a:r>
              <a:rPr lang="en-US" sz="2800" i="1"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research methodology</a:t>
            </a:r>
            <a:r>
              <a:rPr lang="en-US" sz="2800" i="1" dirty="0">
                <a:latin typeface="Times New Roman" panose="02020603050405020304" pitchFamily="18" charset="0"/>
                <a:ea typeface="Calibri" panose="020F0502020204030204" pitchFamily="34" charset="0"/>
                <a:cs typeface="Times New Roman" panose="02020603050405020304" pitchFamily="18" charset="0"/>
              </a:rPr>
              <a:t> involves applying regression techniques, while ensuring the accuracy of the specified models through diagnostic corrections, and using scatter plots to visually assess the relationships between variables. Confidence intervals are also used to quantify and understand deviations in the distribution of a curated inequality indicator for PISA scores</a:t>
            </a:r>
            <a:r>
              <a:rPr lang="en-US" sz="2400" i="1" dirty="0">
                <a:latin typeface="Times New Roman" panose="02020603050405020304" pitchFamily="18" charset="0"/>
                <a:ea typeface="Calibri" panose="020F0502020204030204" pitchFamily="34" charset="0"/>
                <a:cs typeface="Times New Roman" panose="02020603050405020304" pitchFamily="18" charset="0"/>
              </a:rPr>
              <a:t>.</a:t>
            </a:r>
            <a:endParaRPr lang="en-IN"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5430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9AA65E-BEB2-44CC-9259-898018FC21B9}"/>
              </a:ext>
            </a:extLst>
          </p:cNvPr>
          <p:cNvSpPr/>
          <p:nvPr/>
        </p:nvSpPr>
        <p:spPr>
          <a:xfrm>
            <a:off x="0" y="0"/>
            <a:ext cx="12192000" cy="6210611"/>
          </a:xfrm>
          <a:prstGeom prst="rect">
            <a:avLst/>
          </a:prstGeom>
        </p:spPr>
        <p:txBody>
          <a:bodyPr wrap="square">
            <a:spAutoFit/>
          </a:bodyPr>
          <a:lstStyle/>
          <a:p>
            <a:pPr algn="ctr">
              <a:lnSpc>
                <a:spcPct val="107000"/>
              </a:lnSpc>
              <a:spcAft>
                <a:spcPts val="800"/>
              </a:spcAft>
            </a:pPr>
            <a:r>
              <a:rPr lang="en-US" sz="2800" b="1" i="1" dirty="0"/>
              <a:t>Literature Review</a:t>
            </a:r>
            <a:endParaRPr lang="en-IN" sz="2800" b="1" i="1" dirty="0"/>
          </a:p>
          <a:p>
            <a:pPr algn="just">
              <a:lnSpc>
                <a:spcPct val="107000"/>
              </a:lnSpc>
              <a:spcAft>
                <a:spcPts val="800"/>
              </a:spcAft>
            </a:pPr>
            <a:r>
              <a:rPr lang="en-IN" sz="2000" dirty="0">
                <a:latin typeface="Times New Roman" panose="02020603050405020304" pitchFamily="18" charset="0"/>
                <a:cs typeface="Times New Roman" panose="02020603050405020304" pitchFamily="18" charset="0"/>
              </a:rPr>
              <a:t>It is reasonably believed by researchers that the PISA project is grounded in Human Capital Theory, which views education as a crucial investment in economic growth. High PISA scores in science and mathematics are often seen as indicators of national competitiveness. </a:t>
            </a:r>
            <a:r>
              <a:rPr lang="en-IN" sz="2000" dirty="0">
                <a:solidFill>
                  <a:schemeClr val="accent1">
                    <a:lumMod val="75000"/>
                  </a:schemeClr>
                </a:solidFill>
                <a:latin typeface="Times New Roman" panose="02020603050405020304" pitchFamily="18" charset="0"/>
                <a:cs typeface="Times New Roman" panose="02020603050405020304" pitchFamily="18" charset="0"/>
              </a:rPr>
              <a:t>(</a:t>
            </a:r>
            <a:r>
              <a:rPr lang="en-IN" sz="2000" dirty="0" err="1">
                <a:solidFill>
                  <a:schemeClr val="accent1">
                    <a:lumMod val="75000"/>
                  </a:schemeClr>
                </a:solidFill>
                <a:latin typeface="Times New Roman" panose="02020603050405020304" pitchFamily="18" charset="0"/>
                <a:cs typeface="Times New Roman" panose="02020603050405020304" pitchFamily="18" charset="0"/>
              </a:rPr>
              <a:t>Sjøberg</a:t>
            </a:r>
            <a:r>
              <a:rPr lang="en-IN" sz="2000" dirty="0">
                <a:solidFill>
                  <a:schemeClr val="accent1">
                    <a:lumMod val="75000"/>
                  </a:schemeClr>
                </a:solidFill>
                <a:latin typeface="Times New Roman" panose="02020603050405020304" pitchFamily="18" charset="0"/>
                <a:cs typeface="Times New Roman" panose="02020603050405020304" pitchFamily="18" charset="0"/>
              </a:rPr>
              <a:t> &amp; Jenkins, 2022)</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Past research in this area has examined how non-educational factors, such as socio-economic status, cultural values and social capital, significantly influence PISA outcomes, challenging the conventional assumption that school quality alone determines performance. Two distinct paths to high PISA rankings have also been highlighted: individualistic and egalitarian cultures (</a:t>
            </a:r>
            <a:r>
              <a:rPr lang="en-IN" sz="2000" dirty="0" err="1">
                <a:latin typeface="Times New Roman" panose="02020603050405020304" pitchFamily="18" charset="0"/>
                <a:ea typeface="Calibri" panose="020F0502020204030204" pitchFamily="34" charset="0"/>
                <a:cs typeface="Times New Roman" panose="02020603050405020304" pitchFamily="18" charset="0"/>
              </a:rPr>
              <a:t>eg.</a:t>
            </a:r>
            <a:r>
              <a:rPr lang="en-IN" sz="2000" dirty="0">
                <a:latin typeface="Times New Roman" panose="02020603050405020304" pitchFamily="18" charset="0"/>
                <a:ea typeface="Calibri" panose="020F0502020204030204" pitchFamily="34" charset="0"/>
                <a:cs typeface="Times New Roman" panose="02020603050405020304" pitchFamily="18" charset="0"/>
              </a:rPr>
              <a:t> Finland, Canada) and collectivist, hierarchical societies (</a:t>
            </a:r>
            <a:r>
              <a:rPr lang="en-IN" sz="2000" dirty="0" err="1">
                <a:latin typeface="Times New Roman" panose="02020603050405020304" pitchFamily="18" charset="0"/>
                <a:ea typeface="Calibri" panose="020F0502020204030204" pitchFamily="34" charset="0"/>
                <a:cs typeface="Times New Roman" panose="02020603050405020304" pitchFamily="18" charset="0"/>
              </a:rPr>
              <a:t>eg.</a:t>
            </a:r>
            <a:r>
              <a:rPr lang="en-IN" sz="2000" dirty="0">
                <a:latin typeface="Times New Roman" panose="02020603050405020304" pitchFamily="18" charset="0"/>
                <a:ea typeface="Calibri" panose="020F0502020204030204" pitchFamily="34" charset="0"/>
                <a:cs typeface="Times New Roman" panose="02020603050405020304" pitchFamily="18" charset="0"/>
              </a:rPr>
              <a:t> South Korea, Singapore). </a:t>
            </a:r>
            <a:r>
              <a:rPr lang="en-IN" sz="2000" dirty="0">
                <a:solidFill>
                  <a:schemeClr val="accent1">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(Meyer &amp; Schiller, 2013)</a:t>
            </a:r>
          </a:p>
          <a:p>
            <a:pPr algn="just">
              <a:lnSpc>
                <a:spcPct val="107000"/>
              </a:lnSpc>
              <a:spcAft>
                <a:spcPts val="800"/>
              </a:spcAft>
            </a:pPr>
            <a:r>
              <a:rPr lang="en-US" sz="2000" dirty="0">
                <a:latin typeface="Times New Roman" panose="02020603050405020304" pitchFamily="18" charset="0"/>
                <a:cs typeface="Times New Roman" panose="02020603050405020304" pitchFamily="18" charset="0"/>
              </a:rPr>
              <a:t>An exploration of the relationship between PISA scores, economic growth and employment across various sectors, has earlier found that higher scores in mathematics, science and reading are linked to increased economic productivity and workforce distribution. This study aligns with endogenous growth theories, suggesting that investment in education fosters innovation and technological advancement. </a:t>
            </a:r>
            <a:r>
              <a:rPr lang="en-US" sz="2000" dirty="0">
                <a:solidFill>
                  <a:schemeClr val="accent1">
                    <a:lumMod val="75000"/>
                  </a:schemeClr>
                </a:solidFill>
                <a:latin typeface="Times New Roman" panose="02020603050405020304" pitchFamily="18" charset="0"/>
                <a:cs typeface="Times New Roman" panose="02020603050405020304" pitchFamily="18" charset="0"/>
              </a:rPr>
              <a:t>(</a:t>
            </a:r>
            <a:r>
              <a:rPr lang="en-IN" sz="2000" dirty="0">
                <a:solidFill>
                  <a:schemeClr val="accent1">
                    <a:lumMod val="75000"/>
                  </a:schemeClr>
                </a:solidFill>
                <a:latin typeface="Times New Roman" panose="02020603050405020304" pitchFamily="18" charset="0"/>
                <a:cs typeface="Times New Roman" panose="02020603050405020304" pitchFamily="18" charset="0"/>
              </a:rPr>
              <a:t>Cheung &amp; Chan, 2003)</a:t>
            </a:r>
          </a:p>
          <a:p>
            <a:pPr algn="just">
              <a:lnSpc>
                <a:spcPct val="107000"/>
              </a:lnSpc>
              <a:spcAft>
                <a:spcPts val="800"/>
              </a:spcAft>
            </a:pPr>
            <a:r>
              <a:rPr lang="en-US" sz="2000" dirty="0">
                <a:latin typeface="Times New Roman" panose="02020603050405020304" pitchFamily="18" charset="0"/>
                <a:cs typeface="Times New Roman" panose="02020603050405020304" pitchFamily="18" charset="0"/>
              </a:rPr>
              <a:t>Another wing of research has </a:t>
            </a:r>
            <a:r>
              <a:rPr lang="en-US" sz="2000" dirty="0" err="1">
                <a:latin typeface="Times New Roman" panose="02020603050405020304" pitchFamily="18" charset="0"/>
                <a:cs typeface="Times New Roman" panose="02020603050405020304" pitchFamily="18" charset="0"/>
              </a:rPr>
              <a:t>analysed</a:t>
            </a:r>
            <a:r>
              <a:rPr lang="en-US" sz="2000" dirty="0">
                <a:latin typeface="Times New Roman" panose="02020603050405020304" pitchFamily="18" charset="0"/>
                <a:cs typeface="Times New Roman" panose="02020603050405020304" pitchFamily="18" charset="0"/>
              </a:rPr>
              <a:t> PISA data using network theory, identifying clusters of countries with similar student performance and socio-economic backgrounds. The findings state that in some countries less privileged students perform well, while in others private schools with more privileged students achieve higher results, highlighting issues of educational inequality. </a:t>
            </a:r>
            <a:r>
              <a:rPr lang="en-US" altLang="en-US" sz="2000" dirty="0">
                <a:solidFill>
                  <a:schemeClr val="accent1">
                    <a:lumMod val="75000"/>
                  </a:schemeClr>
                </a:solidFill>
                <a:latin typeface="Times New Roman" panose="02020603050405020304" pitchFamily="18" charset="0"/>
                <a:ea typeface="Calibri" panose="020F0502020204030204" pitchFamily="34" charset="0"/>
                <a:cs typeface="Times New Roman" panose="02020603050405020304" pitchFamily="18" charset="0"/>
              </a:rPr>
              <a:t>(Neuman, 2022)</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43055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5594DA-E2A9-4960-9E61-4D1BD75A79EA}"/>
              </a:ext>
            </a:extLst>
          </p:cNvPr>
          <p:cNvSpPr txBox="1"/>
          <p:nvPr/>
        </p:nvSpPr>
        <p:spPr>
          <a:xfrm>
            <a:off x="0" y="0"/>
            <a:ext cx="12192000" cy="67403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Why </a:t>
            </a:r>
            <a:r>
              <a:rPr lang="en-US" sz="2800" b="1" dirty="0">
                <a:solidFill>
                  <a:schemeClr val="accent1">
                    <a:lumMod val="75000"/>
                  </a:schemeClr>
                </a:solidFill>
                <a:latin typeface="Times New Roman" panose="02020603050405020304" pitchFamily="18" charset="0"/>
                <a:cs typeface="Times New Roman" panose="02020603050405020304" pitchFamily="18" charset="0"/>
              </a:rPr>
              <a:t>PISA</a:t>
            </a:r>
            <a:r>
              <a:rPr lang="en-US" sz="2800" b="1" dirty="0">
                <a:latin typeface="Times New Roman" panose="02020603050405020304" pitchFamily="18" charset="0"/>
                <a:cs typeface="Times New Roman" panose="02020603050405020304" pitchFamily="18" charset="0"/>
              </a:rPr>
              <a:t>?</a:t>
            </a:r>
          </a:p>
          <a:p>
            <a:r>
              <a:rPr lang="en-IN" sz="2400" i="1" dirty="0">
                <a:solidFill>
                  <a:schemeClr val="accent1">
                    <a:lumMod val="75000"/>
                  </a:schemeClr>
                </a:solidFill>
                <a:latin typeface="Times New Roman" panose="02020603050405020304" pitchFamily="18" charset="0"/>
                <a:cs typeface="Times New Roman" panose="02020603050405020304" pitchFamily="18" charset="0"/>
              </a:rPr>
              <a:t>                           ~Programme for International Student Assessment</a:t>
            </a:r>
            <a:endParaRPr lang="en-US" sz="2400" b="1" i="1" dirty="0">
              <a:solidFill>
                <a:schemeClr val="accent1">
                  <a:lumMod val="75000"/>
                </a:schemeClr>
              </a:solidFill>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Created by the</a:t>
            </a:r>
            <a:r>
              <a:rPr lang="en-US" sz="2400" b="1" dirty="0">
                <a:latin typeface="Times New Roman" panose="02020603050405020304" pitchFamily="18" charset="0"/>
                <a:cs typeface="Times New Roman" panose="02020603050405020304" pitchFamily="18" charset="0"/>
              </a:rPr>
              <a:t> </a:t>
            </a:r>
            <a:r>
              <a:rPr lang="en-US" sz="2400" b="1" i="1" u="sng" dirty="0" err="1">
                <a:latin typeface="Times New Roman" panose="02020603050405020304" pitchFamily="18" charset="0"/>
                <a:cs typeface="Times New Roman" panose="02020603050405020304" pitchFamily="18" charset="0"/>
              </a:rPr>
              <a:t>Organisation</a:t>
            </a:r>
            <a:r>
              <a:rPr lang="en-US" sz="2400" b="1" i="1" u="sng" dirty="0">
                <a:latin typeface="Times New Roman" panose="02020603050405020304" pitchFamily="18" charset="0"/>
                <a:cs typeface="Times New Roman" panose="02020603050405020304" pitchFamily="18" charset="0"/>
              </a:rPr>
              <a:t> for Economic Co-operation and Development</a:t>
            </a:r>
            <a:r>
              <a:rPr lang="en-US" sz="2400" b="1" i="1" dirty="0">
                <a:latin typeface="Times New Roman" panose="02020603050405020304" pitchFamily="18" charset="0"/>
                <a:cs typeface="Times New Roman" panose="02020603050405020304" pitchFamily="18" charset="0"/>
              </a:rPr>
              <a:t> (OECD</a:t>
            </a:r>
            <a:r>
              <a:rPr lang="en-US" sz="2400" i="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PISA tests the skills and knowledge of </a:t>
            </a:r>
            <a:r>
              <a:rPr lang="en-US" sz="2400" u="sng" dirty="0">
                <a:latin typeface="Times New Roman" panose="02020603050405020304" pitchFamily="18" charset="0"/>
                <a:cs typeface="Times New Roman" panose="02020603050405020304" pitchFamily="18" charset="0"/>
              </a:rPr>
              <a:t>15-year-old</a:t>
            </a:r>
            <a:r>
              <a:rPr lang="en-US" sz="2400" dirty="0">
                <a:latin typeface="Times New Roman" panose="02020603050405020304" pitchFamily="18" charset="0"/>
                <a:cs typeface="Times New Roman" panose="02020603050405020304" pitchFamily="18" charset="0"/>
              </a:rPr>
              <a:t> students in </a:t>
            </a:r>
            <a:r>
              <a:rPr lang="en-US" sz="2400" u="sng" dirty="0">
                <a:latin typeface="Times New Roman" panose="02020603050405020304" pitchFamily="18" charset="0"/>
                <a:cs typeface="Times New Roman" panose="02020603050405020304" pitchFamily="18" charset="0"/>
              </a:rPr>
              <a:t>mathematics</a:t>
            </a:r>
            <a:r>
              <a:rPr lang="en-US" sz="2400" dirty="0">
                <a:latin typeface="Times New Roman" panose="02020603050405020304" pitchFamily="18" charset="0"/>
                <a:cs typeface="Times New Roman" panose="02020603050405020304" pitchFamily="18" charset="0"/>
              </a:rPr>
              <a:t>, </a:t>
            </a:r>
            <a:r>
              <a:rPr lang="en-US" sz="2400" u="sng" dirty="0">
                <a:latin typeface="Times New Roman" panose="02020603050405020304" pitchFamily="18" charset="0"/>
                <a:cs typeface="Times New Roman" panose="02020603050405020304" pitchFamily="18" charset="0"/>
              </a:rPr>
              <a:t>reading</a:t>
            </a:r>
            <a:r>
              <a:rPr lang="en-US" sz="2400" dirty="0">
                <a:latin typeface="Times New Roman" panose="02020603050405020304" pitchFamily="18" charset="0"/>
                <a:cs typeface="Times New Roman" panose="02020603050405020304" pitchFamily="18" charset="0"/>
              </a:rPr>
              <a:t> and </a:t>
            </a:r>
            <a:r>
              <a:rPr lang="en-US" sz="2400" u="sng" dirty="0">
                <a:latin typeface="Times New Roman" panose="02020603050405020304" pitchFamily="18" charset="0"/>
                <a:cs typeface="Times New Roman" panose="02020603050405020304" pitchFamily="18" charset="0"/>
              </a:rPr>
              <a:t>science</a:t>
            </a:r>
            <a:r>
              <a:rPr lang="en-US" sz="2400" dirty="0">
                <a:latin typeface="Times New Roman" panose="02020603050405020304" pitchFamily="18" charset="0"/>
                <a:cs typeface="Times New Roman" panose="02020603050405020304" pitchFamily="18" charset="0"/>
              </a:rPr>
              <a:t>. </a:t>
            </a:r>
            <a:r>
              <a:rPr lang="en-US" sz="2400" u="sng" dirty="0">
                <a:latin typeface="Times New Roman" panose="02020603050405020304" pitchFamily="18" charset="0"/>
                <a:cs typeface="Times New Roman" panose="02020603050405020304" pitchFamily="18" charset="0"/>
              </a:rPr>
              <a:t>Eighty-one</a:t>
            </a:r>
            <a:r>
              <a:rPr lang="en-US" sz="2400" dirty="0">
                <a:latin typeface="Times New Roman" panose="02020603050405020304" pitchFamily="18" charset="0"/>
                <a:cs typeface="Times New Roman" panose="02020603050405020304" pitchFamily="18" charset="0"/>
              </a:rPr>
              <a:t> countries and economies took part in the </a:t>
            </a:r>
            <a:r>
              <a:rPr lang="en-US" sz="2400" u="sng" dirty="0">
                <a:latin typeface="Times New Roman" panose="02020603050405020304" pitchFamily="18" charset="0"/>
                <a:cs typeface="Times New Roman" panose="02020603050405020304" pitchFamily="18" charset="0"/>
              </a:rPr>
              <a:t>2022</a:t>
            </a:r>
            <a:r>
              <a:rPr lang="en-US" sz="2400" dirty="0">
                <a:latin typeface="Times New Roman" panose="02020603050405020304" pitchFamily="18" charset="0"/>
                <a:cs typeface="Times New Roman" panose="02020603050405020304" pitchFamily="18" charset="0"/>
              </a:rPr>
              <a:t> assessment.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solidFill>
                  <a:schemeClr val="accent5">
                    <a:lumMod val="50000"/>
                  </a:schemeClr>
                </a:solidFill>
                <a:latin typeface="Times New Roman" panose="02020603050405020304" pitchFamily="18" charset="0"/>
                <a:cs typeface="Times New Roman" panose="02020603050405020304" pitchFamily="18" charset="0"/>
              </a:rPr>
              <a:t>Why 15-year olds? - </a:t>
            </a:r>
            <a:r>
              <a:rPr lang="en-US" sz="2400" i="1" dirty="0">
                <a:latin typeface="Times New Roman" panose="02020603050405020304" pitchFamily="18" charset="0"/>
                <a:cs typeface="Times New Roman" panose="02020603050405020304" pitchFamily="18" charset="0"/>
              </a:rPr>
              <a:t>It is when young people in most OECD countries are nearing the end of compulsory education.</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solidFill>
                  <a:schemeClr val="accent5">
                    <a:lumMod val="50000"/>
                  </a:schemeClr>
                </a:solidFill>
                <a:latin typeface="Times New Roman" panose="02020603050405020304" pitchFamily="18" charset="0"/>
                <a:cs typeface="Times New Roman" panose="02020603050405020304" pitchFamily="18" charset="0"/>
              </a:rPr>
              <a:t>Key Features:</a:t>
            </a:r>
          </a:p>
          <a:p>
            <a:pPr marL="285750" indent="-28575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Does not prescribe or promote any one curriculum</a:t>
            </a:r>
          </a:p>
          <a:p>
            <a:pPr marL="285750" indent="-28575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Assesses skills such as collaborative problem solving, global competence and creative thinking </a:t>
            </a:r>
            <a:r>
              <a:rPr lang="en-US" sz="2400" i="1" dirty="0">
                <a:latin typeface="Times New Roman" panose="02020603050405020304" pitchFamily="18" charset="0"/>
                <a:cs typeface="Times New Roman" panose="02020603050405020304" pitchFamily="18" charset="0"/>
              </a:rPr>
              <a:t>("learning in a digital world“, "critical media literacy“, “financial literacy”)</a:t>
            </a:r>
          </a:p>
          <a:p>
            <a:pPr algn="just"/>
            <a:endParaRPr lang="en-US" sz="2400" i="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400" i="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000" i="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7467E0A-EBF9-4BF4-8F3D-43B2439C7D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52225" y="-1"/>
            <a:ext cx="2739775" cy="1489008"/>
          </a:xfrm>
          <a:prstGeom prst="rect">
            <a:avLst/>
          </a:prstGeom>
        </p:spPr>
      </p:pic>
    </p:spTree>
    <p:extLst>
      <p:ext uri="{BB962C8B-B14F-4D97-AF65-F5344CB8AC3E}">
        <p14:creationId xmlns:p14="http://schemas.microsoft.com/office/powerpoint/2010/main" val="3519084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51C2A6-6DA4-49BD-B550-E4FAA80421F0}"/>
              </a:ext>
            </a:extLst>
          </p:cNvPr>
          <p:cNvSpPr txBox="1"/>
          <p:nvPr/>
        </p:nvSpPr>
        <p:spPr>
          <a:xfrm>
            <a:off x="0" y="0"/>
            <a:ext cx="12192000" cy="6709529"/>
          </a:xfrm>
          <a:prstGeom prst="rect">
            <a:avLst/>
          </a:prstGeom>
          <a:noFill/>
        </p:spPr>
        <p:txBody>
          <a:bodyPr wrap="square" rtlCol="0">
            <a:spAutoFit/>
          </a:bodyPr>
          <a:lstStyle/>
          <a:p>
            <a:pPr algn="ctr"/>
            <a:r>
              <a:rPr lang="en-US" sz="2600" b="1" dirty="0">
                <a:solidFill>
                  <a:schemeClr val="accent5">
                    <a:lumMod val="50000"/>
                  </a:schemeClr>
                </a:solidFill>
                <a:latin typeface="Times New Roman" panose="02020603050405020304" pitchFamily="18" charset="0"/>
                <a:cs typeface="Times New Roman" panose="02020603050405020304" pitchFamily="18" charset="0"/>
              </a:rPr>
              <a:t>What makes PISA unique?</a:t>
            </a:r>
            <a:endParaRPr lang="en-US" sz="26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Only international education survey to measure the knowledge and skills of 15-year-olds - </a:t>
            </a:r>
            <a:r>
              <a:rPr lang="en-US" sz="2400" i="1" dirty="0">
                <a:latin typeface="Times New Roman" panose="02020603050405020304" pitchFamily="18" charset="0"/>
                <a:cs typeface="Times New Roman" panose="02020603050405020304" pitchFamily="18" charset="0"/>
              </a:rPr>
              <a:t>Surveys are usually carried out every three years, allowing participating countries and economies to track their progress in meeting key learning goals</a:t>
            </a:r>
          </a:p>
          <a:p>
            <a:pPr marL="285750" indent="-285750" algn="just">
              <a:buFont typeface="Wingdings" panose="05000000000000000000" pitchFamily="2" charset="2"/>
              <a:buChar char="Ø"/>
            </a:pPr>
            <a:endParaRPr lang="en-US" sz="2400" i="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Public policy issues </a:t>
            </a:r>
            <a:r>
              <a:rPr lang="en-US" altLang="en-US" sz="2400" dirty="0">
                <a:latin typeface="Times New Roman" panose="02020603050405020304" pitchFamily="18" charset="0"/>
                <a:cs typeface="Times New Roman" panose="02020603050405020304" pitchFamily="18" charset="0"/>
              </a:rPr>
              <a:t>- </a:t>
            </a:r>
            <a:r>
              <a:rPr lang="en-US" altLang="en-US" sz="2400" i="1" dirty="0">
                <a:latin typeface="Times New Roman" panose="02020603050405020304" pitchFamily="18" charset="0"/>
                <a:cs typeface="Times New Roman" panose="02020603050405020304" pitchFamily="18" charset="0"/>
              </a:rPr>
              <a:t>"Are our schools adequately preparing young people for the challenges of adult life?", "Are some kinds of teaching and schools more effective than others?“, "Can schools contribute to improving the futures of students from immigrant or disadvantaged backgrounds?“</a:t>
            </a:r>
          </a:p>
          <a:p>
            <a:pPr marL="285750" indent="-285750" algn="just">
              <a:buFont typeface="Wingdings" panose="05000000000000000000" pitchFamily="2" charset="2"/>
              <a:buChar char="Ø"/>
            </a:pPr>
            <a:endParaRPr lang="en-US" altLang="en-US" sz="2400" i="1" dirty="0">
              <a:latin typeface="Times New Roman" panose="02020603050405020304" pitchFamily="18" charset="0"/>
              <a:cs typeface="Times New Roman" panose="02020603050405020304" pitchFamily="18" charset="0"/>
            </a:endParaRPr>
          </a:p>
          <a:p>
            <a:pPr marL="342900" indent="-342900" algn="just" eaLnBrk="0" fontAlgn="base" hangingPunct="0">
              <a:spcBef>
                <a:spcPct val="0"/>
              </a:spcBef>
              <a:spcAft>
                <a:spcPct val="0"/>
              </a:spcAft>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Lifelong learning </a:t>
            </a:r>
            <a:r>
              <a:rPr lang="en-US" altLang="en-US" sz="2400" dirty="0">
                <a:latin typeface="Times New Roman" panose="02020603050405020304" pitchFamily="18" charset="0"/>
                <a:cs typeface="Times New Roman" panose="02020603050405020304" pitchFamily="18" charset="0"/>
              </a:rPr>
              <a:t>- </a:t>
            </a:r>
            <a:r>
              <a:rPr lang="en-US" altLang="en-US" sz="2400" i="1" dirty="0">
                <a:latin typeface="Times New Roman" panose="02020603050405020304" pitchFamily="18" charset="0"/>
                <a:cs typeface="Times New Roman" panose="02020603050405020304" pitchFamily="18" charset="0"/>
              </a:rPr>
              <a:t>In addition to measuring student performance in reading, mathematics and science literacy, PISA also asks students about their motivations, beliefs about themselves and learning strategies</a:t>
            </a:r>
          </a:p>
          <a:p>
            <a:pPr marL="342900" lvl="0" indent="-342900" eaLnBrk="0" fontAlgn="base" hangingPunct="0">
              <a:spcBef>
                <a:spcPct val="0"/>
              </a:spcBef>
              <a:spcAft>
                <a:spcPct val="0"/>
              </a:spcAft>
              <a:buFont typeface="Wingdings" panose="05000000000000000000" pitchFamily="2" charset="2"/>
              <a:buChar char="Ø"/>
            </a:pPr>
            <a:endParaRPr lang="en-US" altLang="en-US" sz="2400" i="1" dirty="0">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Literacy</a:t>
            </a:r>
            <a:r>
              <a:rPr lang="en-US" altLang="en-US" sz="2400" dirty="0">
                <a:latin typeface="Times New Roman" panose="02020603050405020304" pitchFamily="18" charset="0"/>
                <a:cs typeface="Times New Roman" panose="02020603050405020304" pitchFamily="18" charset="0"/>
              </a:rPr>
              <a:t> - </a:t>
            </a:r>
            <a:r>
              <a:rPr lang="en-US" altLang="en-US" sz="2400" i="1" dirty="0">
                <a:latin typeface="Times New Roman" panose="02020603050405020304" pitchFamily="18" charset="0"/>
                <a:cs typeface="Times New Roman" panose="02020603050405020304" pitchFamily="18" charset="0"/>
              </a:rPr>
              <a:t>Rather than examining mastery of specific school curricula, PISA looks at students’ ability to apply knowledge and skills in key subject areas</a:t>
            </a:r>
          </a:p>
          <a:p>
            <a:pPr marL="342900" lvl="0" indent="-342900" eaLnBrk="0" fontAlgn="base" hangingPunct="0">
              <a:spcBef>
                <a:spcPct val="0"/>
              </a:spcBef>
              <a:spcAft>
                <a:spcPct val="0"/>
              </a:spcAft>
              <a:buFont typeface="Wingdings" panose="05000000000000000000" pitchFamily="2" charset="2"/>
              <a:buChar char="Ø"/>
            </a:pPr>
            <a:endParaRPr lang="en-IN" sz="20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871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34770C-1F13-44DF-B2D5-8C38A6839850}"/>
              </a:ext>
            </a:extLst>
          </p:cNvPr>
          <p:cNvSpPr txBox="1"/>
          <p:nvPr/>
        </p:nvSpPr>
        <p:spPr>
          <a:xfrm>
            <a:off x="565080" y="280248"/>
            <a:ext cx="10726220" cy="3908762"/>
          </a:xfrm>
          <a:prstGeom prst="rect">
            <a:avLst/>
          </a:prstGeom>
          <a:noFill/>
        </p:spPr>
        <p:txBody>
          <a:bodyPr wrap="square" rtlCol="0">
            <a:spAutoFit/>
          </a:bodyPr>
          <a:lstStyle/>
          <a:p>
            <a:r>
              <a:rPr lang="en-US" sz="3200" b="1" i="1" dirty="0">
                <a:latin typeface="Times New Roman" panose="02020603050405020304" pitchFamily="18" charset="0"/>
                <a:cs typeface="Times New Roman" panose="02020603050405020304" pitchFamily="18" charset="0"/>
              </a:rPr>
              <a:t>Hypothesis</a:t>
            </a:r>
          </a:p>
          <a:p>
            <a:endParaRPr lang="en-US" sz="2400" b="1" i="1" dirty="0">
              <a:latin typeface="Times New Roman" panose="02020603050405020304" pitchFamily="18" charset="0"/>
              <a:cs typeface="Times New Roman" panose="02020603050405020304" pitchFamily="18" charset="0"/>
            </a:endParaRPr>
          </a:p>
          <a:p>
            <a:pPr marL="514350" indent="-514350">
              <a:buFont typeface="+mj-lt"/>
              <a:buAutoNum type="romanLcPeriod"/>
            </a:pPr>
            <a:r>
              <a:rPr lang="en-US" sz="2400" dirty="0">
                <a:latin typeface="Times New Roman" panose="02020603050405020304" pitchFamily="18" charset="0"/>
                <a:cs typeface="Times New Roman" panose="02020603050405020304" pitchFamily="18" charset="0"/>
              </a:rPr>
              <a:t>Scores correlate positively to per capita income and this relation is consistent across regions</a:t>
            </a:r>
          </a:p>
          <a:p>
            <a:pPr marL="514350" indent="-514350">
              <a:buFont typeface="+mj-lt"/>
              <a:buAutoNum type="romanLcPeriod"/>
            </a:pPr>
            <a:r>
              <a:rPr lang="en-US" sz="2400" dirty="0">
                <a:latin typeface="Times New Roman" panose="02020603050405020304" pitchFamily="18" charset="0"/>
                <a:cs typeface="Times New Roman" panose="02020603050405020304" pitchFamily="18" charset="0"/>
              </a:rPr>
              <a:t>Scores depend inversely on pupil-teacher ratio, while directly on government expenditure on education and access to facilities like internet</a:t>
            </a:r>
          </a:p>
          <a:p>
            <a:pPr marL="514350" indent="-514350">
              <a:buFont typeface="+mj-lt"/>
              <a:buAutoNum type="romanLcPeriod"/>
            </a:pPr>
            <a:r>
              <a:rPr lang="en-US" sz="2400" dirty="0">
                <a:latin typeface="Times New Roman" panose="02020603050405020304" pitchFamily="18" charset="0"/>
                <a:cs typeface="Times New Roman" panose="02020603050405020304" pitchFamily="18" charset="0"/>
              </a:rPr>
              <a:t>Gender equality and higher standards of living are reflected positively in scores, while societal inequality is reflect negatively</a:t>
            </a:r>
          </a:p>
          <a:p>
            <a:pPr marL="514350" indent="-514350">
              <a:buFont typeface="+mj-lt"/>
              <a:buAutoNum type="romanLcPeriod"/>
            </a:pPr>
            <a:r>
              <a:rPr lang="en-US" sz="2400" dirty="0">
                <a:latin typeface="Times New Roman" panose="02020603050405020304" pitchFamily="18" charset="0"/>
                <a:cs typeface="Times New Roman" panose="02020603050405020304" pitchFamily="18" charset="0"/>
              </a:rPr>
              <a:t>High PISA scores correlate with increasing dominance of the service sector at the cost of other sectors</a:t>
            </a:r>
          </a:p>
        </p:txBody>
      </p:sp>
      <p:sp>
        <p:nvSpPr>
          <p:cNvPr id="2" name="TextBox 1">
            <a:extLst>
              <a:ext uri="{FF2B5EF4-FFF2-40B4-BE49-F238E27FC236}">
                <a16:creationId xmlns:a16="http://schemas.microsoft.com/office/drawing/2014/main" id="{39717A8B-3010-CFDC-D671-B88A164AEEE7}"/>
              </a:ext>
            </a:extLst>
          </p:cNvPr>
          <p:cNvSpPr txBox="1"/>
          <p:nvPr/>
        </p:nvSpPr>
        <p:spPr>
          <a:xfrm>
            <a:off x="729464" y="4417888"/>
            <a:ext cx="10561836" cy="1800493"/>
          </a:xfrm>
          <a:prstGeom prst="rect">
            <a:avLst/>
          </a:prstGeom>
          <a:noFill/>
        </p:spPr>
        <p:txBody>
          <a:bodyPr wrap="square" rtlCol="0">
            <a:spAutoFit/>
          </a:bodyPr>
          <a:lstStyle/>
          <a:p>
            <a:r>
              <a:rPr lang="en-IN" sz="2800" b="1" i="1" dirty="0">
                <a:latin typeface="Times New Roman" panose="02020603050405020304" pitchFamily="18" charset="0"/>
                <a:cs typeface="Times New Roman" panose="02020603050405020304" pitchFamily="18" charset="0"/>
              </a:rPr>
              <a:t>Literature Gap</a:t>
            </a:r>
            <a:br>
              <a:rPr lang="en-IN" sz="1100" b="1" i="1" dirty="0">
                <a:latin typeface="Times New Roman" panose="02020603050405020304" pitchFamily="18" charset="0"/>
                <a:cs typeface="Times New Roman" panose="02020603050405020304" pitchFamily="18" charset="0"/>
              </a:rPr>
            </a:br>
            <a:endParaRPr lang="en-IN" sz="1100" b="1" i="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existing literature on the study of PISA scores has not adequately explored within-country variations in scores over time. Understanding how well countries ensure a consistent quality of education for all students is a critical area of research.</a:t>
            </a:r>
          </a:p>
        </p:txBody>
      </p:sp>
    </p:spTree>
    <p:extLst>
      <p:ext uri="{BB962C8B-B14F-4D97-AF65-F5344CB8AC3E}">
        <p14:creationId xmlns:p14="http://schemas.microsoft.com/office/powerpoint/2010/main" val="3737352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78B2C5-6638-4E5B-8BE1-264DA7460A18}"/>
              </a:ext>
            </a:extLst>
          </p:cNvPr>
          <p:cNvPicPr>
            <a:picLocks noChangeAspect="1"/>
          </p:cNvPicPr>
          <p:nvPr/>
        </p:nvPicPr>
        <p:blipFill rotWithShape="1">
          <a:blip r:embed="rId2"/>
          <a:srcRect r="90046" b="4942"/>
          <a:stretch/>
        </p:blipFill>
        <p:spPr>
          <a:xfrm>
            <a:off x="43072" y="987287"/>
            <a:ext cx="1537252" cy="4333461"/>
          </a:xfrm>
          <a:prstGeom prst="rect">
            <a:avLst/>
          </a:prstGeom>
        </p:spPr>
      </p:pic>
      <p:pic>
        <p:nvPicPr>
          <p:cNvPr id="3" name="Picture 2">
            <a:extLst>
              <a:ext uri="{FF2B5EF4-FFF2-40B4-BE49-F238E27FC236}">
                <a16:creationId xmlns:a16="http://schemas.microsoft.com/office/drawing/2014/main" id="{5F9ECFB8-25B2-43FA-ABB9-6E9CFBD264A1}"/>
              </a:ext>
            </a:extLst>
          </p:cNvPr>
          <p:cNvPicPr>
            <a:picLocks noChangeAspect="1"/>
          </p:cNvPicPr>
          <p:nvPr/>
        </p:nvPicPr>
        <p:blipFill rotWithShape="1">
          <a:blip r:embed="rId2">
            <a:grayscl/>
          </a:blip>
          <a:srcRect l="23572" r="40771" b="4270"/>
          <a:stretch/>
        </p:blipFill>
        <p:spPr>
          <a:xfrm>
            <a:off x="1587245" y="987287"/>
            <a:ext cx="4727716" cy="4333461"/>
          </a:xfrm>
          <a:prstGeom prst="rect">
            <a:avLst/>
          </a:prstGeom>
        </p:spPr>
      </p:pic>
      <p:pic>
        <p:nvPicPr>
          <p:cNvPr id="4" name="Picture 3">
            <a:extLst>
              <a:ext uri="{FF2B5EF4-FFF2-40B4-BE49-F238E27FC236}">
                <a16:creationId xmlns:a16="http://schemas.microsoft.com/office/drawing/2014/main" id="{AE7B1758-8DD2-4919-B23A-6618AED56C34}"/>
              </a:ext>
            </a:extLst>
          </p:cNvPr>
          <p:cNvPicPr>
            <a:picLocks noChangeAspect="1"/>
          </p:cNvPicPr>
          <p:nvPr/>
        </p:nvPicPr>
        <p:blipFill rotWithShape="1">
          <a:blip r:embed="rId3"/>
          <a:srcRect r="53529"/>
          <a:stretch/>
        </p:blipFill>
        <p:spPr>
          <a:xfrm>
            <a:off x="6682404" y="1310514"/>
            <a:ext cx="5380387" cy="2078730"/>
          </a:xfrm>
          <a:prstGeom prst="rect">
            <a:avLst/>
          </a:prstGeom>
          <a:ln w="19050">
            <a:solidFill>
              <a:schemeClr val="tx1"/>
            </a:solidFill>
          </a:ln>
        </p:spPr>
      </p:pic>
      <p:pic>
        <p:nvPicPr>
          <p:cNvPr id="5" name="Picture 4">
            <a:extLst>
              <a:ext uri="{FF2B5EF4-FFF2-40B4-BE49-F238E27FC236}">
                <a16:creationId xmlns:a16="http://schemas.microsoft.com/office/drawing/2014/main" id="{85E0CC24-9B21-44AF-B643-37619E84AD8E}"/>
              </a:ext>
            </a:extLst>
          </p:cNvPr>
          <p:cNvPicPr>
            <a:picLocks noChangeAspect="1"/>
          </p:cNvPicPr>
          <p:nvPr/>
        </p:nvPicPr>
        <p:blipFill rotWithShape="1">
          <a:blip r:embed="rId4"/>
          <a:srcRect r="58872"/>
          <a:stretch/>
        </p:blipFill>
        <p:spPr>
          <a:xfrm>
            <a:off x="6639334" y="4294118"/>
            <a:ext cx="5380388" cy="1497082"/>
          </a:xfrm>
          <a:prstGeom prst="rect">
            <a:avLst/>
          </a:prstGeom>
          <a:ln w="19050">
            <a:solidFill>
              <a:schemeClr val="tx1"/>
            </a:solidFill>
          </a:ln>
        </p:spPr>
      </p:pic>
      <p:cxnSp>
        <p:nvCxnSpPr>
          <p:cNvPr id="7" name="Straight Connector 6">
            <a:extLst>
              <a:ext uri="{FF2B5EF4-FFF2-40B4-BE49-F238E27FC236}">
                <a16:creationId xmlns:a16="http://schemas.microsoft.com/office/drawing/2014/main" id="{6A690530-01E6-409E-B0C5-8F33334E47D9}"/>
              </a:ext>
            </a:extLst>
          </p:cNvPr>
          <p:cNvCxnSpPr>
            <a:cxnSpLocks/>
          </p:cNvCxnSpPr>
          <p:nvPr/>
        </p:nvCxnSpPr>
        <p:spPr>
          <a:xfrm>
            <a:off x="6314961" y="1119809"/>
            <a:ext cx="0" cy="5738191"/>
          </a:xfrm>
          <a:prstGeom prst="line">
            <a:avLst/>
          </a:prstGeom>
          <a:ln w="38100"/>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F54D096A-730C-43FE-BAC6-E2E0C0B81985}"/>
              </a:ext>
            </a:extLst>
          </p:cNvPr>
          <p:cNvPicPr>
            <a:picLocks noChangeAspect="1"/>
          </p:cNvPicPr>
          <p:nvPr/>
        </p:nvPicPr>
        <p:blipFill rotWithShape="1">
          <a:blip r:embed="rId5"/>
          <a:srcRect l="1" t="1" r="93438" b="-3295"/>
          <a:stretch/>
        </p:blipFill>
        <p:spPr>
          <a:xfrm>
            <a:off x="92768" y="5320748"/>
            <a:ext cx="815006" cy="470452"/>
          </a:xfrm>
          <a:prstGeom prst="rect">
            <a:avLst/>
          </a:prstGeom>
        </p:spPr>
      </p:pic>
      <p:pic>
        <p:nvPicPr>
          <p:cNvPr id="9" name="Picture 8">
            <a:extLst>
              <a:ext uri="{FF2B5EF4-FFF2-40B4-BE49-F238E27FC236}">
                <a16:creationId xmlns:a16="http://schemas.microsoft.com/office/drawing/2014/main" id="{B4D70461-856D-46D7-8525-27FFAACA0FE4}"/>
              </a:ext>
            </a:extLst>
          </p:cNvPr>
          <p:cNvPicPr>
            <a:picLocks noChangeAspect="1"/>
          </p:cNvPicPr>
          <p:nvPr/>
        </p:nvPicPr>
        <p:blipFill rotWithShape="1">
          <a:blip r:embed="rId5"/>
          <a:srcRect l="30144" t="461" r="46339" b="-1647"/>
          <a:stretch/>
        </p:blipFill>
        <p:spPr>
          <a:xfrm>
            <a:off x="2408579" y="5320748"/>
            <a:ext cx="3773560" cy="470452"/>
          </a:xfrm>
          <a:prstGeom prst="rect">
            <a:avLst/>
          </a:prstGeom>
        </p:spPr>
      </p:pic>
      <p:sp>
        <p:nvSpPr>
          <p:cNvPr id="12" name="TextBox 11">
            <a:extLst>
              <a:ext uri="{FF2B5EF4-FFF2-40B4-BE49-F238E27FC236}">
                <a16:creationId xmlns:a16="http://schemas.microsoft.com/office/drawing/2014/main" id="{DF9829E1-2B92-4B71-844A-67B4DA7E5921}"/>
              </a:ext>
            </a:extLst>
          </p:cNvPr>
          <p:cNvSpPr txBox="1"/>
          <p:nvPr/>
        </p:nvSpPr>
        <p:spPr>
          <a:xfrm>
            <a:off x="1231858" y="165580"/>
            <a:ext cx="9197004" cy="523220"/>
          </a:xfrm>
          <a:prstGeom prst="rect">
            <a:avLst/>
          </a:prstGeom>
          <a:noFill/>
        </p:spPr>
        <p:txBody>
          <a:bodyPr wrap="square" rtlCol="0">
            <a:spAutoFit/>
          </a:bodyPr>
          <a:lstStyle/>
          <a:p>
            <a:pPr algn="ctr"/>
            <a:r>
              <a:rPr lang="en-US" sz="2800" b="1" i="1" dirty="0">
                <a:latin typeface="Times New Roman" panose="02020603050405020304" pitchFamily="18" charset="0"/>
                <a:cs typeface="Times New Roman" panose="02020603050405020304" pitchFamily="18" charset="0"/>
              </a:rPr>
              <a:t>Description of Variables</a:t>
            </a:r>
            <a:endParaRPr lang="en-IN" sz="24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0293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6AD6F-38E3-49E5-A374-1139D1B40AF6}"/>
              </a:ext>
            </a:extLst>
          </p:cNvPr>
          <p:cNvPicPr>
            <a:picLocks noChangeAspect="1"/>
          </p:cNvPicPr>
          <p:nvPr/>
        </p:nvPicPr>
        <p:blipFill rotWithShape="1">
          <a:blip r:embed="rId2"/>
          <a:srcRect r="48600" b="7075"/>
          <a:stretch/>
        </p:blipFill>
        <p:spPr>
          <a:xfrm>
            <a:off x="1895061" y="888371"/>
            <a:ext cx="7937308" cy="4407594"/>
          </a:xfrm>
          <a:prstGeom prst="rect">
            <a:avLst/>
          </a:prstGeom>
          <a:ln w="28575">
            <a:solidFill>
              <a:schemeClr val="tx1"/>
            </a:solidFill>
          </a:ln>
        </p:spPr>
      </p:pic>
      <p:sp>
        <p:nvSpPr>
          <p:cNvPr id="3" name="TextBox 2">
            <a:extLst>
              <a:ext uri="{FF2B5EF4-FFF2-40B4-BE49-F238E27FC236}">
                <a16:creationId xmlns:a16="http://schemas.microsoft.com/office/drawing/2014/main" id="{15BA57C6-AC7A-45FE-B2CE-4800E711A92C}"/>
              </a:ext>
            </a:extLst>
          </p:cNvPr>
          <p:cNvSpPr txBox="1"/>
          <p:nvPr/>
        </p:nvSpPr>
        <p:spPr>
          <a:xfrm>
            <a:off x="3041151" y="87753"/>
            <a:ext cx="5433391" cy="523220"/>
          </a:xfrm>
          <a:prstGeom prst="rect">
            <a:avLst/>
          </a:prstGeom>
          <a:noFill/>
        </p:spPr>
        <p:txBody>
          <a:bodyPr wrap="square" rtlCol="0">
            <a:spAutoFit/>
          </a:bodyPr>
          <a:lstStyle/>
          <a:p>
            <a:pPr algn="ctr"/>
            <a:r>
              <a:rPr lang="en-US" sz="2800" b="1" i="1" dirty="0">
                <a:latin typeface="Times New Roman" panose="02020603050405020304" pitchFamily="18" charset="0"/>
                <a:cs typeface="Times New Roman" panose="02020603050405020304" pitchFamily="18" charset="0"/>
              </a:rPr>
              <a:t>Summary Statistics</a:t>
            </a:r>
            <a:endParaRPr lang="en-IN" sz="2400" b="1" i="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4B55B2A-145E-4ACE-8F44-05CD6231C7C1}"/>
              </a:ext>
            </a:extLst>
          </p:cNvPr>
          <p:cNvPicPr>
            <a:picLocks noChangeAspect="1"/>
          </p:cNvPicPr>
          <p:nvPr/>
        </p:nvPicPr>
        <p:blipFill rotWithShape="1">
          <a:blip r:embed="rId3"/>
          <a:srcRect r="47888"/>
          <a:stretch/>
        </p:blipFill>
        <p:spPr>
          <a:xfrm>
            <a:off x="1874514" y="5354177"/>
            <a:ext cx="7957856" cy="696413"/>
          </a:xfrm>
          <a:prstGeom prst="rect">
            <a:avLst/>
          </a:prstGeom>
          <a:ln w="28575">
            <a:solidFill>
              <a:schemeClr val="tx1"/>
            </a:solidFill>
          </a:ln>
        </p:spPr>
      </p:pic>
    </p:spTree>
    <p:extLst>
      <p:ext uri="{BB962C8B-B14F-4D97-AF65-F5344CB8AC3E}">
        <p14:creationId xmlns:p14="http://schemas.microsoft.com/office/powerpoint/2010/main" val="1480231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
            <a:extLst>
              <a:ext uri="{FF2B5EF4-FFF2-40B4-BE49-F238E27FC236}">
                <a16:creationId xmlns:a16="http://schemas.microsoft.com/office/drawing/2014/main" id="{E60C258C-ABFE-2EBF-442B-C0C8A54F33AC}"/>
              </a:ext>
            </a:extLst>
          </p:cNvPr>
          <p:cNvSpPr>
            <a:spLocks noChangeArrowheads="1"/>
          </p:cNvSpPr>
          <p:nvPr/>
        </p:nvSpPr>
        <p:spPr bwMode="auto">
          <a:xfrm rot="10800000" flipV="1">
            <a:off x="6813939" y="976052"/>
            <a:ext cx="5287766" cy="518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ts val="600"/>
              </a:spcBef>
              <a:spcAft>
                <a:spcPct val="0"/>
              </a:spcAft>
              <a:buClrTx/>
              <a:buSzTx/>
              <a:buFont typeface="Wingdings" panose="05000000000000000000" pitchFamily="2" charset="2"/>
              <a:buChar char="Ø"/>
              <a:tabLst/>
            </a:pPr>
            <a:r>
              <a:rPr lang="en-US" sz="1860" b="0" i="0" dirty="0">
                <a:effectLst/>
                <a:latin typeface="Times New Roman" panose="02020603050405020304" pitchFamily="18" charset="0"/>
                <a:cs typeface="Times New Roman" panose="02020603050405020304" pitchFamily="18" charset="0"/>
              </a:rPr>
              <a:t>The regression model shows that GDP per capita is highly significant and</a:t>
            </a:r>
            <a:r>
              <a:rPr lang="en-US" sz="1860" b="0" i="0" dirty="0">
                <a:solidFill>
                  <a:srgbClr val="191919"/>
                </a:solidFill>
                <a:effectLst/>
                <a:latin typeface="Times New Roman" panose="02020603050405020304" pitchFamily="18" charset="0"/>
                <a:cs typeface="Times New Roman" panose="02020603050405020304" pitchFamily="18" charset="0"/>
              </a:rPr>
              <a:t> </a:t>
            </a:r>
            <a:r>
              <a:rPr lang="en-US" sz="1860" b="0" i="0" dirty="0">
                <a:effectLst/>
                <a:latin typeface="Times New Roman" panose="02020603050405020304" pitchFamily="18" charset="0"/>
                <a:cs typeface="Times New Roman" panose="02020603050405020304" pitchFamily="18" charset="0"/>
              </a:rPr>
              <a:t>has</a:t>
            </a:r>
            <a:r>
              <a:rPr lang="en-US" sz="1860" b="0" i="0" dirty="0">
                <a:solidFill>
                  <a:srgbClr val="191919"/>
                </a:solidFill>
                <a:effectLst/>
                <a:latin typeface="Times New Roman" panose="02020603050405020304" pitchFamily="18" charset="0"/>
                <a:cs typeface="Times New Roman" panose="02020603050405020304" pitchFamily="18" charset="0"/>
              </a:rPr>
              <a:t> </a:t>
            </a:r>
            <a:r>
              <a:rPr lang="en-US" sz="1860" b="0" i="0" dirty="0">
                <a:effectLst/>
                <a:latin typeface="Times New Roman" panose="02020603050405020304" pitchFamily="18" charset="0"/>
                <a:cs typeface="Times New Roman" panose="02020603050405020304" pitchFamily="18" charset="0"/>
              </a:rPr>
              <a:t>a strong positive impact on PISA scores</a:t>
            </a:r>
          </a:p>
          <a:p>
            <a:pPr marL="285750" marR="0" lvl="0" indent="-285750" defTabSz="914400" rtl="0" eaLnBrk="0" fontAlgn="base" latinLnBrk="0" hangingPunct="0">
              <a:lnSpc>
                <a:spcPct val="100000"/>
              </a:lnSpc>
              <a:spcBef>
                <a:spcPts val="600"/>
              </a:spcBef>
              <a:spcAft>
                <a:spcPct val="0"/>
              </a:spcAft>
              <a:buClrTx/>
              <a:buSzTx/>
              <a:buFont typeface="Wingdings" panose="05000000000000000000" pitchFamily="2" charset="2"/>
              <a:buChar char="Ø"/>
              <a:tabLst/>
            </a:pPr>
            <a:r>
              <a:rPr lang="en-US" sz="1860" b="0" i="0" dirty="0">
                <a:effectLst/>
                <a:latin typeface="Times New Roman" panose="02020603050405020304" pitchFamily="18" charset="0"/>
                <a:cs typeface="Times New Roman" panose="02020603050405020304" pitchFamily="18" charset="0"/>
              </a:rPr>
              <a:t>The model uses East Asia &amp; Pacific as the reference category, so</a:t>
            </a:r>
            <a:r>
              <a:rPr lang="en-US" sz="1860" b="0" i="0" dirty="0">
                <a:solidFill>
                  <a:srgbClr val="191919"/>
                </a:solidFill>
                <a:effectLst/>
                <a:latin typeface="Times New Roman" panose="02020603050405020304" pitchFamily="18" charset="0"/>
                <a:cs typeface="Times New Roman" panose="02020603050405020304" pitchFamily="18" charset="0"/>
              </a:rPr>
              <a:t> all regional coefficients </a:t>
            </a:r>
            <a:r>
              <a:rPr lang="en-US" sz="1860" b="0" i="0" dirty="0">
                <a:effectLst/>
                <a:latin typeface="Times New Roman" panose="02020603050405020304" pitchFamily="18" charset="0"/>
                <a:cs typeface="Times New Roman" panose="02020603050405020304" pitchFamily="18" charset="0"/>
              </a:rPr>
              <a:t>represent</a:t>
            </a:r>
            <a:r>
              <a:rPr lang="en-US" sz="1860" b="0" i="0" dirty="0">
                <a:solidFill>
                  <a:srgbClr val="191919"/>
                </a:solidFill>
                <a:effectLst/>
                <a:latin typeface="Times New Roman" panose="02020603050405020304" pitchFamily="18" charset="0"/>
                <a:cs typeface="Times New Roman" panose="02020603050405020304" pitchFamily="18" charset="0"/>
              </a:rPr>
              <a:t> how PISA scores </a:t>
            </a:r>
            <a:r>
              <a:rPr lang="en-US" sz="1860" b="0" i="0" dirty="0">
                <a:effectLst/>
                <a:latin typeface="Times New Roman" panose="02020603050405020304" pitchFamily="18" charset="0"/>
                <a:cs typeface="Times New Roman" panose="02020603050405020304" pitchFamily="18" charset="0"/>
              </a:rPr>
              <a:t>differ </a:t>
            </a:r>
            <a:r>
              <a:rPr lang="en-US" sz="1860" b="0" i="0" dirty="0">
                <a:solidFill>
                  <a:srgbClr val="191919"/>
                </a:solidFill>
                <a:effectLst/>
                <a:latin typeface="Times New Roman" panose="02020603050405020304" pitchFamily="18" charset="0"/>
                <a:cs typeface="Times New Roman" panose="02020603050405020304" pitchFamily="18" charset="0"/>
              </a:rPr>
              <a:t>from this region, </a:t>
            </a:r>
            <a:r>
              <a:rPr lang="en-US" sz="1860" b="0" i="0" dirty="0">
                <a:effectLst/>
                <a:latin typeface="Times New Roman" panose="02020603050405020304" pitchFamily="18" charset="0"/>
                <a:cs typeface="Times New Roman" panose="02020603050405020304" pitchFamily="18" charset="0"/>
              </a:rPr>
              <a:t>controlling</a:t>
            </a:r>
            <a:r>
              <a:rPr lang="en-US" sz="1860" b="0" i="0" dirty="0">
                <a:solidFill>
                  <a:srgbClr val="191919"/>
                </a:solidFill>
                <a:effectLst/>
                <a:latin typeface="Times New Roman" panose="02020603050405020304" pitchFamily="18" charset="0"/>
                <a:cs typeface="Times New Roman" panose="02020603050405020304" pitchFamily="18" charset="0"/>
              </a:rPr>
              <a:t> </a:t>
            </a:r>
            <a:r>
              <a:rPr lang="en-US" sz="1860" b="0" i="0" dirty="0">
                <a:effectLst/>
                <a:latin typeface="Times New Roman" panose="02020603050405020304" pitchFamily="18" charset="0"/>
                <a:cs typeface="Times New Roman" panose="02020603050405020304" pitchFamily="18" charset="0"/>
              </a:rPr>
              <a:t>for GDP per capita</a:t>
            </a:r>
          </a:p>
          <a:p>
            <a:pPr marL="285750" marR="0" lvl="0" indent="-285750" defTabSz="914400" rtl="0" eaLnBrk="0" fontAlgn="base" latinLnBrk="0" hangingPunct="0">
              <a:lnSpc>
                <a:spcPct val="100000"/>
              </a:lnSpc>
              <a:spcBef>
                <a:spcPts val="600"/>
              </a:spcBef>
              <a:spcAft>
                <a:spcPct val="0"/>
              </a:spcAft>
              <a:buClrTx/>
              <a:buSzTx/>
              <a:buFont typeface="Wingdings" panose="05000000000000000000" pitchFamily="2" charset="2"/>
              <a:buChar char="Ø"/>
              <a:tabLst/>
            </a:pPr>
            <a:r>
              <a:rPr lang="en-US" sz="1860" b="0" i="0" dirty="0">
                <a:effectLst/>
                <a:latin typeface="Times New Roman" panose="02020603050405020304" pitchFamily="18" charset="0"/>
                <a:cs typeface="Times New Roman" panose="02020603050405020304" pitchFamily="18" charset="0"/>
              </a:rPr>
              <a:t>Significant Gaps: Latin America &amp; Caribbean and Middle East &amp; North Africa have significantly lower PISA scores compared to East Asia &amp; Pacific, even after adjusting for GDP</a:t>
            </a:r>
          </a:p>
          <a:p>
            <a:pPr marL="285750" marR="0" lvl="0" indent="-285750" defTabSz="914400" rtl="0" eaLnBrk="0" fontAlgn="base" latinLnBrk="0" hangingPunct="0">
              <a:lnSpc>
                <a:spcPct val="100000"/>
              </a:lnSpc>
              <a:spcBef>
                <a:spcPts val="600"/>
              </a:spcBef>
              <a:spcAft>
                <a:spcPct val="0"/>
              </a:spcAft>
              <a:buClrTx/>
              <a:buSzTx/>
              <a:buFont typeface="Wingdings" panose="05000000000000000000" pitchFamily="2" charset="2"/>
              <a:buChar char="Ø"/>
              <a:tabLst/>
            </a:pPr>
            <a:r>
              <a:rPr lang="en-US" sz="1860" b="0" i="0" dirty="0">
                <a:effectLst/>
                <a:latin typeface="Times New Roman" panose="02020603050405020304" pitchFamily="18" charset="0"/>
                <a:cs typeface="Times New Roman" panose="02020603050405020304" pitchFamily="18" charset="0"/>
              </a:rPr>
              <a:t>Non-Significant Differences: Europe &amp; Central Asia and North America have no significant difference in PISA scores when </a:t>
            </a:r>
            <a:r>
              <a:rPr lang="en-US" sz="1860" b="0" i="0" dirty="0">
                <a:solidFill>
                  <a:srgbClr val="191919"/>
                </a:solidFill>
                <a:effectLst/>
                <a:latin typeface="Times New Roman" panose="02020603050405020304" pitchFamily="18" charset="0"/>
                <a:cs typeface="Times New Roman" panose="02020603050405020304" pitchFamily="18" charset="0"/>
              </a:rPr>
              <a:t>compared </a:t>
            </a:r>
            <a:r>
              <a:rPr lang="en-US" sz="1860" b="0" i="0" dirty="0">
                <a:effectLst/>
                <a:latin typeface="Times New Roman" panose="02020603050405020304" pitchFamily="18" charset="0"/>
                <a:cs typeface="Times New Roman" panose="02020603050405020304" pitchFamily="18" charset="0"/>
              </a:rPr>
              <a:t>to East Asia &amp; Pacific, implying</a:t>
            </a:r>
            <a:r>
              <a:rPr lang="en-US" sz="1860" b="0" i="0" dirty="0">
                <a:solidFill>
                  <a:srgbClr val="191919"/>
                </a:solidFill>
                <a:effectLst/>
                <a:latin typeface="Times New Roman" panose="02020603050405020304" pitchFamily="18" charset="0"/>
                <a:cs typeface="Times New Roman" panose="02020603050405020304" pitchFamily="18" charset="0"/>
              </a:rPr>
              <a:t> that their </a:t>
            </a:r>
            <a:r>
              <a:rPr lang="en-US" sz="1860" b="0" i="0" dirty="0">
                <a:effectLst/>
                <a:latin typeface="Times New Roman" panose="02020603050405020304" pitchFamily="18" charset="0"/>
                <a:cs typeface="Times New Roman" panose="02020603050405020304" pitchFamily="18" charset="0"/>
              </a:rPr>
              <a:t>education</a:t>
            </a:r>
            <a:r>
              <a:rPr lang="en-US" sz="1860" b="0" i="0" dirty="0">
                <a:solidFill>
                  <a:srgbClr val="191919"/>
                </a:solidFill>
                <a:effectLst/>
                <a:latin typeface="Times New Roman" panose="02020603050405020304" pitchFamily="18" charset="0"/>
                <a:cs typeface="Times New Roman" panose="02020603050405020304" pitchFamily="18" charset="0"/>
              </a:rPr>
              <a:t> </a:t>
            </a:r>
            <a:r>
              <a:rPr lang="en-US" sz="1860" b="0" i="0" dirty="0">
                <a:effectLst/>
                <a:latin typeface="Times New Roman" panose="02020603050405020304" pitchFamily="18" charset="0"/>
                <a:cs typeface="Times New Roman" panose="02020603050405020304" pitchFamily="18" charset="0"/>
              </a:rPr>
              <a:t>results</a:t>
            </a:r>
            <a:r>
              <a:rPr lang="en-US" sz="1860" b="0" i="0" dirty="0">
                <a:solidFill>
                  <a:srgbClr val="191919"/>
                </a:solidFill>
                <a:effectLst/>
                <a:latin typeface="Times New Roman" panose="02020603050405020304" pitchFamily="18" charset="0"/>
                <a:cs typeface="Times New Roman" panose="02020603050405020304" pitchFamily="18" charset="0"/>
              </a:rPr>
              <a:t> are </a:t>
            </a:r>
            <a:r>
              <a:rPr lang="en-US" sz="1860" b="0" i="0" dirty="0">
                <a:effectLst/>
                <a:latin typeface="Times New Roman" panose="02020603050405020304" pitchFamily="18" charset="0"/>
                <a:cs typeface="Times New Roman" panose="02020603050405020304" pitchFamily="18" charset="0"/>
              </a:rPr>
              <a:t>not</a:t>
            </a:r>
            <a:r>
              <a:rPr lang="en-US" sz="1860" b="0" i="0" dirty="0">
                <a:solidFill>
                  <a:srgbClr val="191919"/>
                </a:solidFill>
                <a:effectLst/>
                <a:latin typeface="Times New Roman" panose="02020603050405020304" pitchFamily="18" charset="0"/>
                <a:cs typeface="Times New Roman" panose="02020603050405020304" pitchFamily="18" charset="0"/>
              </a:rPr>
              <a:t> </a:t>
            </a:r>
            <a:r>
              <a:rPr lang="en-US" sz="1860" b="0" i="0" dirty="0">
                <a:effectLst/>
                <a:latin typeface="Times New Roman" panose="02020603050405020304" pitchFamily="18" charset="0"/>
                <a:cs typeface="Times New Roman" panose="02020603050405020304" pitchFamily="18" charset="0"/>
              </a:rPr>
              <a:t>significantly</a:t>
            </a:r>
            <a:r>
              <a:rPr lang="en-US" sz="1860" b="0" i="0" dirty="0">
                <a:solidFill>
                  <a:srgbClr val="191919"/>
                </a:solidFill>
                <a:effectLst/>
                <a:latin typeface="Times New Roman" panose="02020603050405020304" pitchFamily="18" charset="0"/>
                <a:cs typeface="Times New Roman" panose="02020603050405020304" pitchFamily="18" charset="0"/>
              </a:rPr>
              <a:t> </a:t>
            </a:r>
            <a:r>
              <a:rPr lang="en-US" sz="1860" b="0" i="0" dirty="0">
                <a:effectLst/>
                <a:latin typeface="Times New Roman" panose="02020603050405020304" pitchFamily="18" charset="0"/>
                <a:cs typeface="Times New Roman" panose="02020603050405020304" pitchFamily="18" charset="0"/>
              </a:rPr>
              <a:t>different</a:t>
            </a:r>
            <a:r>
              <a:rPr lang="en-US" sz="1860" b="0" i="0" dirty="0">
                <a:solidFill>
                  <a:srgbClr val="191919"/>
                </a:solidFill>
                <a:effectLst/>
                <a:latin typeface="Times New Roman" panose="02020603050405020304" pitchFamily="18" charset="0"/>
                <a:cs typeface="Times New Roman" panose="02020603050405020304" pitchFamily="18" charset="0"/>
              </a:rPr>
              <a:t> </a:t>
            </a:r>
            <a:r>
              <a:rPr lang="en-US" sz="1860" b="0" i="0" dirty="0">
                <a:effectLst/>
                <a:latin typeface="Times New Roman" panose="02020603050405020304" pitchFamily="18" charset="0"/>
                <a:cs typeface="Times New Roman" panose="02020603050405020304" pitchFamily="18" charset="0"/>
              </a:rPr>
              <a:t>if</a:t>
            </a:r>
            <a:r>
              <a:rPr lang="en-US" sz="1860" b="0" i="0" dirty="0">
                <a:solidFill>
                  <a:srgbClr val="191919"/>
                </a:solidFill>
                <a:effectLst/>
                <a:latin typeface="Times New Roman" panose="02020603050405020304" pitchFamily="18" charset="0"/>
                <a:cs typeface="Times New Roman" panose="02020603050405020304" pitchFamily="18" charset="0"/>
              </a:rPr>
              <a:t> </a:t>
            </a:r>
            <a:r>
              <a:rPr lang="en-US" sz="1860" b="0" i="0" dirty="0">
                <a:effectLst/>
                <a:latin typeface="Times New Roman" panose="02020603050405020304" pitchFamily="18" charset="0"/>
                <a:cs typeface="Times New Roman" panose="02020603050405020304" pitchFamily="18" charset="0"/>
              </a:rPr>
              <a:t>one controls </a:t>
            </a:r>
            <a:r>
              <a:rPr lang="en-US" sz="1860" b="0" i="0" dirty="0">
                <a:solidFill>
                  <a:srgbClr val="191919"/>
                </a:solidFill>
                <a:effectLst/>
                <a:latin typeface="Times New Roman" panose="02020603050405020304" pitchFamily="18" charset="0"/>
                <a:cs typeface="Times New Roman" panose="02020603050405020304" pitchFamily="18" charset="0"/>
              </a:rPr>
              <a:t>for GDP</a:t>
            </a:r>
            <a:endParaRPr kumimoji="0" lang="en-US" altLang="en-US" sz="186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02BE252-7139-ECB7-D26F-59C1897020E0}"/>
              </a:ext>
            </a:extLst>
          </p:cNvPr>
          <p:cNvSpPr txBox="1"/>
          <p:nvPr/>
        </p:nvSpPr>
        <p:spPr>
          <a:xfrm>
            <a:off x="-193467" y="131576"/>
            <a:ext cx="12385467"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Relationship b/w PISA scores and GDP per capita (region-wise analysis)</a:t>
            </a:r>
          </a:p>
        </p:txBody>
      </p:sp>
      <p:pic>
        <p:nvPicPr>
          <p:cNvPr id="7" name="Picture 6">
            <a:extLst>
              <a:ext uri="{FF2B5EF4-FFF2-40B4-BE49-F238E27FC236}">
                <a16:creationId xmlns:a16="http://schemas.microsoft.com/office/drawing/2014/main" id="{CF696A8A-2E22-AFE6-B06F-0B39181EF4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95" y="976052"/>
            <a:ext cx="6703008" cy="2095928"/>
          </a:xfrm>
          <a:prstGeom prst="rect">
            <a:avLst/>
          </a:prstGeom>
          <a:ln w="9525">
            <a:solidFill>
              <a:schemeClr val="tx1"/>
            </a:solidFill>
          </a:ln>
        </p:spPr>
      </p:pic>
      <p:pic>
        <p:nvPicPr>
          <p:cNvPr id="9" name="Picture 8">
            <a:extLst>
              <a:ext uri="{FF2B5EF4-FFF2-40B4-BE49-F238E27FC236}">
                <a16:creationId xmlns:a16="http://schemas.microsoft.com/office/drawing/2014/main" id="{C98F1B32-780D-4679-2DBB-4994E18364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95" y="3087561"/>
            <a:ext cx="6703009" cy="2794387"/>
          </a:xfrm>
          <a:prstGeom prst="rect">
            <a:avLst/>
          </a:prstGeom>
          <a:ln w="9525">
            <a:solidFill>
              <a:schemeClr val="tx1"/>
            </a:solidFill>
          </a:ln>
        </p:spPr>
      </p:pic>
    </p:spTree>
    <p:extLst>
      <p:ext uri="{BB962C8B-B14F-4D97-AF65-F5344CB8AC3E}">
        <p14:creationId xmlns:p14="http://schemas.microsoft.com/office/powerpoint/2010/main" val="232570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52D4583-FC56-843F-C2D4-C23B1C1A6E67}"/>
              </a:ext>
            </a:extLst>
          </p:cNvPr>
          <p:cNvPicPr>
            <a:picLocks noChangeAspect="1"/>
          </p:cNvPicPr>
          <p:nvPr/>
        </p:nvPicPr>
        <p:blipFill>
          <a:blip r:embed="rId2">
            <a:extLst>
              <a:ext uri="{28A0092B-C50C-407E-A947-70E740481C1C}">
                <a14:useLocalDpi xmlns:a14="http://schemas.microsoft.com/office/drawing/2010/main" val="0"/>
              </a:ext>
            </a:extLst>
          </a:blip>
          <a:srcRect r="7387"/>
          <a:stretch/>
        </p:blipFill>
        <p:spPr>
          <a:xfrm>
            <a:off x="140677" y="1306335"/>
            <a:ext cx="6095230" cy="4839192"/>
          </a:xfrm>
          <a:prstGeom prst="rect">
            <a:avLst/>
          </a:prstGeom>
        </p:spPr>
      </p:pic>
      <p:sp>
        <p:nvSpPr>
          <p:cNvPr id="3" name="TextBox 2">
            <a:extLst>
              <a:ext uri="{FF2B5EF4-FFF2-40B4-BE49-F238E27FC236}">
                <a16:creationId xmlns:a16="http://schemas.microsoft.com/office/drawing/2014/main" id="{62EA5914-812F-F416-BBEB-2BAC11458B43}"/>
              </a:ext>
            </a:extLst>
          </p:cNvPr>
          <p:cNvSpPr txBox="1"/>
          <p:nvPr/>
        </p:nvSpPr>
        <p:spPr>
          <a:xfrm>
            <a:off x="6370821" y="1060326"/>
            <a:ext cx="5561350" cy="5647700"/>
          </a:xfrm>
          <a:prstGeom prst="rect">
            <a:avLst/>
          </a:prstGeom>
          <a:noFill/>
        </p:spPr>
        <p:txBody>
          <a:bodyPr wrap="square">
            <a:spAutoFit/>
          </a:bodyPr>
          <a:lstStyle/>
          <a:p>
            <a:r>
              <a:rPr lang="en-IN" sz="1900" b="1" dirty="0">
                <a:latin typeface="Times New Roman" panose="02020603050405020304" pitchFamily="18" charset="0"/>
                <a:cs typeface="Times New Roman" panose="02020603050405020304" pitchFamily="18" charset="0"/>
              </a:rPr>
              <a:t>PISA vs. Pupil-Teacher Ratio:</a:t>
            </a:r>
          </a:p>
          <a:p>
            <a:pPr marL="285750" indent="-285750">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As the pupil-teacher ratio increases, PISA scores seem to decline. Smaller student groups may mean better individual attention and hence, better learning outcomes</a:t>
            </a:r>
            <a:br>
              <a:rPr lang="en-IN" sz="1900" dirty="0">
                <a:latin typeface="Times New Roman" panose="02020603050405020304" pitchFamily="18" charset="0"/>
                <a:cs typeface="Times New Roman" panose="02020603050405020304" pitchFamily="18" charset="0"/>
              </a:rPr>
            </a:br>
            <a:endParaRPr lang="en-IN" sz="1900" dirty="0">
              <a:latin typeface="Times New Roman" panose="02020603050405020304" pitchFamily="18" charset="0"/>
              <a:cs typeface="Times New Roman" panose="02020603050405020304" pitchFamily="18" charset="0"/>
            </a:endParaRPr>
          </a:p>
          <a:p>
            <a:r>
              <a:rPr lang="en-IN" sz="1900" b="1" dirty="0">
                <a:latin typeface="Times New Roman" panose="02020603050405020304" pitchFamily="18" charset="0"/>
                <a:cs typeface="Times New Roman" panose="02020603050405020304" pitchFamily="18" charset="0"/>
              </a:rPr>
              <a:t>PISA vs. Internet Accessibility:</a:t>
            </a:r>
          </a:p>
          <a:p>
            <a:pPr marL="285750" indent="-285750">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More internet accessibility is associated with higher PISA scores. A positive relationship can be seen in the data points as internet accessibility increases</a:t>
            </a:r>
          </a:p>
          <a:p>
            <a:pPr marL="285750" indent="-285750">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Improved access to digital resources may boost learning opportunities, enhance access to information and support new teaching approaches</a:t>
            </a:r>
            <a:br>
              <a:rPr lang="en-IN" sz="1900" dirty="0">
                <a:latin typeface="Times New Roman" panose="02020603050405020304" pitchFamily="18" charset="0"/>
                <a:cs typeface="Times New Roman" panose="02020603050405020304" pitchFamily="18" charset="0"/>
              </a:rPr>
            </a:br>
            <a:endParaRPr lang="en-IN" sz="1900" dirty="0">
              <a:latin typeface="Times New Roman" panose="02020603050405020304" pitchFamily="18" charset="0"/>
              <a:cs typeface="Times New Roman" panose="02020603050405020304" pitchFamily="18" charset="0"/>
            </a:endParaRPr>
          </a:p>
          <a:p>
            <a:r>
              <a:rPr lang="en-IN" sz="1900" b="1" dirty="0">
                <a:latin typeface="Times New Roman" panose="02020603050405020304" pitchFamily="18" charset="0"/>
                <a:cs typeface="Times New Roman" panose="02020603050405020304" pitchFamily="18" charset="0"/>
              </a:rPr>
              <a:t>Pupil-Teacher Ratio vs. Internet Accessibility:</a:t>
            </a:r>
          </a:p>
          <a:p>
            <a:pPr marL="285750" indent="-285750">
              <a:buFont typeface="Wingdings" panose="05000000000000000000" pitchFamily="2" charset="2"/>
              <a:buChar char="Ø"/>
            </a:pPr>
            <a:r>
              <a:rPr lang="en-IN" sz="1900" dirty="0">
                <a:latin typeface="Times New Roman" panose="02020603050405020304" pitchFamily="18" charset="0"/>
                <a:cs typeface="Times New Roman" panose="02020603050405020304" pitchFamily="18" charset="0"/>
              </a:rPr>
              <a:t> The scatterplot exhibits a non-linear pattern- countries with high internet access are not necessarily those with uniformly low or high pupil-teacher ratios</a:t>
            </a:r>
          </a:p>
        </p:txBody>
      </p:sp>
      <p:sp>
        <p:nvSpPr>
          <p:cNvPr id="4" name="TextBox 3">
            <a:extLst>
              <a:ext uri="{FF2B5EF4-FFF2-40B4-BE49-F238E27FC236}">
                <a16:creationId xmlns:a16="http://schemas.microsoft.com/office/drawing/2014/main" id="{5452C5F7-3B57-DD45-78DE-75B8F282BF9A}"/>
              </a:ext>
            </a:extLst>
          </p:cNvPr>
          <p:cNvSpPr txBox="1"/>
          <p:nvPr/>
        </p:nvSpPr>
        <p:spPr>
          <a:xfrm>
            <a:off x="1105223" y="352440"/>
            <a:ext cx="1006278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Scatterplot matrix of the ‘supply-side’ variables affecting PISA scores</a:t>
            </a:r>
          </a:p>
        </p:txBody>
      </p:sp>
    </p:spTree>
    <p:extLst>
      <p:ext uri="{BB962C8B-B14F-4D97-AF65-F5344CB8AC3E}">
        <p14:creationId xmlns:p14="http://schemas.microsoft.com/office/powerpoint/2010/main" val="1811585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DA86F4A-D844-3E1E-2114-A9EA40AFFDB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618"/>
          <a:stretch/>
        </p:blipFill>
        <p:spPr>
          <a:xfrm>
            <a:off x="146233" y="914400"/>
            <a:ext cx="6629321" cy="4916880"/>
          </a:xfrm>
        </p:spPr>
      </p:pic>
      <p:sp>
        <p:nvSpPr>
          <p:cNvPr id="8" name="TextBox 7">
            <a:extLst>
              <a:ext uri="{FF2B5EF4-FFF2-40B4-BE49-F238E27FC236}">
                <a16:creationId xmlns:a16="http://schemas.microsoft.com/office/drawing/2014/main" id="{F263E7CC-FC57-55B8-FED3-53878D35B261}"/>
              </a:ext>
            </a:extLst>
          </p:cNvPr>
          <p:cNvSpPr txBox="1"/>
          <p:nvPr/>
        </p:nvSpPr>
        <p:spPr>
          <a:xfrm>
            <a:off x="1096092" y="195723"/>
            <a:ext cx="9999815"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Scatterplot showing the relation between Internet Access and PISA scores</a:t>
            </a:r>
          </a:p>
          <a:p>
            <a:endParaRPr lang="en-IN" sz="2400" b="1" dirty="0"/>
          </a:p>
        </p:txBody>
      </p:sp>
      <p:sp>
        <p:nvSpPr>
          <p:cNvPr id="2" name="TextBox 1">
            <a:extLst>
              <a:ext uri="{FF2B5EF4-FFF2-40B4-BE49-F238E27FC236}">
                <a16:creationId xmlns:a16="http://schemas.microsoft.com/office/drawing/2014/main" id="{99254553-A07A-9440-6233-CBEA4681844B}"/>
              </a:ext>
            </a:extLst>
          </p:cNvPr>
          <p:cNvSpPr txBox="1"/>
          <p:nvPr/>
        </p:nvSpPr>
        <p:spPr>
          <a:xfrm>
            <a:off x="6895475" y="751343"/>
            <a:ext cx="5150292" cy="5940088"/>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2000" dirty="0">
                <a:latin typeface="Times New Roman" panose="02020603050405020304" pitchFamily="18" charset="0"/>
                <a:cs typeface="Times New Roman" panose="02020603050405020304" pitchFamily="18" charset="0"/>
              </a:rPr>
              <a:t>This scatterplot shows the relationship between PISA scores (x-axis) and Internet Accessibility (y-axis), with a </a:t>
            </a:r>
            <a:r>
              <a:rPr lang="en-US" sz="2000" dirty="0" err="1">
                <a:latin typeface="Times New Roman" panose="02020603050405020304" pitchFamily="18" charset="0"/>
                <a:cs typeface="Times New Roman" panose="02020603050405020304" pitchFamily="18" charset="0"/>
              </a:rPr>
              <a:t>Lowess</a:t>
            </a:r>
            <a:r>
              <a:rPr lang="en-US" sz="2000" dirty="0">
                <a:latin typeface="Times New Roman" panose="02020603050405020304" pitchFamily="18" charset="0"/>
                <a:cs typeface="Times New Roman" panose="02020603050405020304" pitchFamily="18" charset="0"/>
              </a:rPr>
              <a:t> (Locally Weighted Scatterplot Smoothing) curve applied to capture the trend in the data: </a:t>
            </a:r>
            <a:r>
              <a:rPr lang="en-US" sz="2000" i="1" dirty="0">
                <a:latin typeface="Times New Roman" panose="02020603050405020304" pitchFamily="18" charset="0"/>
                <a:cs typeface="Times New Roman" panose="02020603050405020304" pitchFamily="18" charset="0"/>
              </a:rPr>
              <a:t>As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internet access increases, PISA scores tend to rise initially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However, beyond a certain level of internet access (around 0.8–1),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PISA scores plateau,</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indicating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diminishing returns,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where increasing internet access further does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significantly boost academic performance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2000" dirty="0">
                <a:latin typeface="Times New Roman" panose="02020603050405020304" pitchFamily="18" charset="0"/>
                <a:cs typeface="Times New Roman" panose="02020603050405020304" pitchFamily="18" charset="0"/>
              </a:rPr>
              <a:t>Increased access to the internet can positively impact PISA scores to a certain point, but excessive or poorly directed internet use can lead to lower scores; essentially, there appears to be a ‘sweet spot’ for optimal internet usage in relation to academic achievement as measured by PISA tests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1673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5DAC44F-F632-4BC4-9B2C-BDCB257C89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654" y="546504"/>
            <a:ext cx="5168134" cy="3106329"/>
          </a:xfrm>
          <a:prstGeom prst="rect">
            <a:avLst/>
          </a:prstGeom>
        </p:spPr>
      </p:pic>
      <p:sp>
        <p:nvSpPr>
          <p:cNvPr id="3" name="Rectangle 2">
            <a:extLst>
              <a:ext uri="{FF2B5EF4-FFF2-40B4-BE49-F238E27FC236}">
                <a16:creationId xmlns:a16="http://schemas.microsoft.com/office/drawing/2014/main" id="{D254D073-ABED-48EF-992B-140C3F479961}"/>
              </a:ext>
            </a:extLst>
          </p:cNvPr>
          <p:cNvSpPr/>
          <p:nvPr/>
        </p:nvSpPr>
        <p:spPr>
          <a:xfrm>
            <a:off x="1181603" y="0"/>
            <a:ext cx="9143850" cy="523220"/>
          </a:xfrm>
          <a:prstGeom prst="rect">
            <a:avLst/>
          </a:prstGeom>
        </p:spPr>
        <p:txBody>
          <a:bodyPr wrap="none">
            <a:spAutoFit/>
          </a:bodyPr>
          <a:lstStyle/>
          <a:p>
            <a:r>
              <a:rPr lang="en-US" sz="2800" b="1" i="1" dirty="0">
                <a:latin typeface="Times New Roman" panose="02020603050405020304" pitchFamily="18" charset="0"/>
                <a:cs typeface="Times New Roman" panose="02020603050405020304" pitchFamily="18" charset="0"/>
              </a:rPr>
              <a:t>Impact of </a:t>
            </a:r>
            <a:r>
              <a:rPr lang="en-US" sz="2800" b="1" i="1" dirty="0">
                <a:solidFill>
                  <a:schemeClr val="accent1">
                    <a:lumMod val="75000"/>
                  </a:schemeClr>
                </a:solidFill>
                <a:latin typeface="Times New Roman" panose="02020603050405020304" pitchFamily="18" charset="0"/>
                <a:cs typeface="Times New Roman" panose="02020603050405020304" pitchFamily="18" charset="0"/>
              </a:rPr>
              <a:t>education</a:t>
            </a:r>
            <a:r>
              <a:rPr lang="en-US" sz="2800" b="1" i="1" dirty="0">
                <a:latin typeface="Times New Roman" panose="02020603050405020304" pitchFamily="18" charset="0"/>
                <a:cs typeface="Times New Roman" panose="02020603050405020304" pitchFamily="18" charset="0"/>
              </a:rPr>
              <a:t> on the </a:t>
            </a:r>
            <a:r>
              <a:rPr lang="en-US" sz="2800" b="1" i="1" dirty="0">
                <a:solidFill>
                  <a:schemeClr val="accent1">
                    <a:lumMod val="75000"/>
                  </a:schemeClr>
                </a:solidFill>
                <a:latin typeface="Times New Roman" panose="02020603050405020304" pitchFamily="18" charset="0"/>
                <a:cs typeface="Times New Roman" panose="02020603050405020304" pitchFamily="18" charset="0"/>
              </a:rPr>
              <a:t>nature of economic development</a:t>
            </a:r>
            <a:endParaRPr lang="en-US" sz="2000" i="1" dirty="0"/>
          </a:p>
        </p:txBody>
      </p:sp>
      <p:pic>
        <p:nvPicPr>
          <p:cNvPr id="4" name="Picture 3">
            <a:extLst>
              <a:ext uri="{FF2B5EF4-FFF2-40B4-BE49-F238E27FC236}">
                <a16:creationId xmlns:a16="http://schemas.microsoft.com/office/drawing/2014/main" id="{6F61ED51-CB08-4308-89F3-D05ECD72862F}"/>
              </a:ext>
            </a:extLst>
          </p:cNvPr>
          <p:cNvPicPr>
            <a:picLocks noChangeAspect="1"/>
          </p:cNvPicPr>
          <p:nvPr/>
        </p:nvPicPr>
        <p:blipFill>
          <a:blip r:embed="rId3">
            <a:extLst>
              <a:ext uri="{28A0092B-C50C-407E-A947-70E740481C1C}">
                <a14:useLocalDpi xmlns:a14="http://schemas.microsoft.com/office/drawing/2010/main" val="0"/>
              </a:ext>
            </a:extLst>
          </a:blip>
          <a:srcRect t="1595" b="2094"/>
          <a:stretch/>
        </p:blipFill>
        <p:spPr>
          <a:xfrm>
            <a:off x="6096000" y="546505"/>
            <a:ext cx="5371042" cy="3102298"/>
          </a:xfrm>
          <a:prstGeom prst="rect">
            <a:avLst/>
          </a:prstGeom>
        </p:spPr>
      </p:pic>
      <p:pic>
        <p:nvPicPr>
          <p:cNvPr id="5" name="Picture 4">
            <a:extLst>
              <a:ext uri="{FF2B5EF4-FFF2-40B4-BE49-F238E27FC236}">
                <a16:creationId xmlns:a16="http://schemas.microsoft.com/office/drawing/2014/main" id="{525857F8-7796-4D2A-BFA0-E962D20FEC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736" y="3648803"/>
            <a:ext cx="5371042" cy="3149556"/>
          </a:xfrm>
          <a:prstGeom prst="rect">
            <a:avLst/>
          </a:prstGeom>
        </p:spPr>
      </p:pic>
      <p:sp>
        <p:nvSpPr>
          <p:cNvPr id="6" name="Rectangle 5">
            <a:extLst>
              <a:ext uri="{FF2B5EF4-FFF2-40B4-BE49-F238E27FC236}">
                <a16:creationId xmlns:a16="http://schemas.microsoft.com/office/drawing/2014/main" id="{9E5E58D2-67D2-4F4C-BC2C-72ABD57F7F5D}"/>
              </a:ext>
            </a:extLst>
          </p:cNvPr>
          <p:cNvSpPr/>
          <p:nvPr/>
        </p:nvSpPr>
        <p:spPr>
          <a:xfrm>
            <a:off x="6096000" y="4254085"/>
            <a:ext cx="5472702" cy="1938992"/>
          </a:xfrm>
          <a:prstGeom prst="rect">
            <a:avLst/>
          </a:prstGeom>
        </p:spPr>
        <p:txBody>
          <a:bodyPr wrap="square">
            <a:spAutoFit/>
          </a:bodyPr>
          <a:lstStyle/>
          <a:p>
            <a:r>
              <a:rPr lang="en-IN" sz="2000" dirty="0">
                <a:latin typeface="Times New Roman" panose="02020603050405020304" pitchFamily="18" charset="0"/>
                <a:cs typeface="Times New Roman" panose="02020603050405020304" pitchFamily="18" charset="0"/>
              </a:rPr>
              <a:t>We analysed the impact of PISA scores on sectoral employment and found: an increase in PISA scores is associated with a rise in employment in the service sector and a decline in employment in the agricultural sector, while impact on employment in the industrial sector remains inconclusive</a:t>
            </a:r>
          </a:p>
        </p:txBody>
      </p:sp>
    </p:spTree>
    <p:extLst>
      <p:ext uri="{BB962C8B-B14F-4D97-AF65-F5344CB8AC3E}">
        <p14:creationId xmlns:p14="http://schemas.microsoft.com/office/powerpoint/2010/main" val="2873699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56D3F9-8853-4FCA-8948-D04DBFBBF23D}"/>
              </a:ext>
            </a:extLst>
          </p:cNvPr>
          <p:cNvSpPr txBox="1"/>
          <p:nvPr/>
        </p:nvSpPr>
        <p:spPr>
          <a:xfrm>
            <a:off x="0" y="0"/>
            <a:ext cx="12192000" cy="764901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PISA includes assessment of students’ employability skills alongside vocational education and training</a:t>
            </a:r>
          </a:p>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Intangible services like health, education and finance, require specialized skills and knowledge- thus, the positive statistically-significant relationship</a:t>
            </a:r>
          </a:p>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Although education should increase agricultural productivity as well (ensuring higher returns from agriculture), we find the % employed in this sector declining with improved educational performance- may be due to wage differences across sectors (educated individuals do not find farm work equally remunerative)</a:t>
            </a:r>
          </a:p>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Impact on industrial employment is inconclusive- while some industries may be labour-intensive (not requiring very high educational qualification), others may be knowledge-based and capital-intensive that require educated individuals (</a:t>
            </a:r>
            <a:r>
              <a:rPr lang="en-US" sz="2200" dirty="0" err="1">
                <a:latin typeface="Times New Roman" panose="02020603050405020304" pitchFamily="18" charset="0"/>
                <a:cs typeface="Times New Roman" panose="02020603050405020304" pitchFamily="18" charset="0"/>
              </a:rPr>
              <a:t>eg.</a:t>
            </a:r>
            <a:r>
              <a:rPr lang="en-US" sz="2200" dirty="0">
                <a:latin typeface="Times New Roman" panose="02020603050405020304" pitchFamily="18" charset="0"/>
                <a:cs typeface="Times New Roman" panose="02020603050405020304" pitchFamily="18" charset="0"/>
              </a:rPr>
              <a:t> semi-conductor &amp; chip-making industries requiring substantial R &amp; D)</a:t>
            </a:r>
          </a:p>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With increasing number of high-skilled workers, middle and low-skilled workers are being pushed down the job ladder to occupy the less-attractive and less well-paid jobs</a:t>
            </a:r>
          </a:p>
          <a:p>
            <a:pPr marL="285750" indent="-285750" algn="just">
              <a:lnSpc>
                <a:spcPct val="150000"/>
              </a:lnSpc>
              <a:buFont typeface="Wingdings" panose="05000000000000000000" pitchFamily="2" charset="2"/>
              <a:buChar char="§"/>
            </a:pPr>
            <a:endParaRPr lang="en-US" sz="22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7422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58D336-4F8B-10BC-EA0B-A59A305A0A84}"/>
              </a:ext>
            </a:extLst>
          </p:cNvPr>
          <p:cNvPicPr>
            <a:picLocks noChangeAspect="1"/>
          </p:cNvPicPr>
          <p:nvPr/>
        </p:nvPicPr>
        <p:blipFill>
          <a:blip r:embed="rId2"/>
          <a:stretch>
            <a:fillRect/>
          </a:stretch>
        </p:blipFill>
        <p:spPr>
          <a:xfrm>
            <a:off x="312840" y="1466232"/>
            <a:ext cx="6903628" cy="3404154"/>
          </a:xfrm>
          <a:prstGeom prst="rect">
            <a:avLst/>
          </a:prstGeom>
          <a:ln w="19050">
            <a:solidFill>
              <a:schemeClr val="tx1"/>
            </a:solidFill>
          </a:ln>
        </p:spPr>
      </p:pic>
      <p:sp>
        <p:nvSpPr>
          <p:cNvPr id="3" name="TextBox 2">
            <a:extLst>
              <a:ext uri="{FF2B5EF4-FFF2-40B4-BE49-F238E27FC236}">
                <a16:creationId xmlns:a16="http://schemas.microsoft.com/office/drawing/2014/main" id="{C4AD2E68-8656-F91F-D411-4C69C20ADC7B}"/>
              </a:ext>
            </a:extLst>
          </p:cNvPr>
          <p:cNvSpPr txBox="1"/>
          <p:nvPr/>
        </p:nvSpPr>
        <p:spPr>
          <a:xfrm>
            <a:off x="729465" y="236305"/>
            <a:ext cx="11083996" cy="461665"/>
          </a:xfrm>
          <a:prstGeom prst="rect">
            <a:avLst/>
          </a:prstGeom>
          <a:noFill/>
        </p:spPr>
        <p:txBody>
          <a:bodyPr wrap="none" rtlCol="0">
            <a:spAutoFit/>
          </a:bodyPr>
          <a:lstStyle/>
          <a:p>
            <a:r>
              <a:rPr lang="en-IN" sz="2400" dirty="0">
                <a:latin typeface="Times New Roman" panose="02020603050405020304" pitchFamily="18" charset="0"/>
                <a:cs typeface="Times New Roman" panose="02020603050405020304" pitchFamily="18" charset="0"/>
              </a:rPr>
              <a:t>EXAMINING THE INFLUENCE OF HDI,GII AND GINI ON PISA PERFORMANCE</a:t>
            </a:r>
          </a:p>
        </p:txBody>
      </p:sp>
      <p:sp>
        <p:nvSpPr>
          <p:cNvPr id="7" name="TextBox 6">
            <a:extLst>
              <a:ext uri="{FF2B5EF4-FFF2-40B4-BE49-F238E27FC236}">
                <a16:creationId xmlns:a16="http://schemas.microsoft.com/office/drawing/2014/main" id="{7CB37FA1-E101-AE9A-4807-583548DADD61}"/>
              </a:ext>
            </a:extLst>
          </p:cNvPr>
          <p:cNvSpPr txBox="1"/>
          <p:nvPr/>
        </p:nvSpPr>
        <p:spPr>
          <a:xfrm>
            <a:off x="7333296" y="871223"/>
            <a:ext cx="4858703" cy="5601533"/>
          </a:xfrm>
          <a:prstGeom prst="rect">
            <a:avLst/>
          </a:prstGeom>
          <a:noFill/>
        </p:spPr>
        <p:txBody>
          <a:bodyPr wrap="square" rtlCol="0">
            <a:spAutoFit/>
          </a:bodyPr>
          <a:lstStyle/>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There is no clear relationship between the Programme for International Student Assessment (PISA) and the Gini index- students from lower socio-economic backgrounds are pushed out of education all together, their performance not reflected.</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Programme for International Student Assessment (PISA) shows a strong correlation with gender inequality, where countries with greater gender equality tend to have higher overall PISA scores, indicating that a more equitable society between genders often leads to better educational outcomes for both boys and girls across various subjects.</a:t>
            </a:r>
          </a:p>
          <a:p>
            <a:endParaRPr lang="en-IN" dirty="0"/>
          </a:p>
        </p:txBody>
      </p:sp>
    </p:spTree>
    <p:extLst>
      <p:ext uri="{BB962C8B-B14F-4D97-AF65-F5344CB8AC3E}">
        <p14:creationId xmlns:p14="http://schemas.microsoft.com/office/powerpoint/2010/main" val="866583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EAF9703-91B5-7640-7E41-D57C353A0AE4}"/>
              </a:ext>
            </a:extLst>
          </p:cNvPr>
          <p:cNvSpPr txBox="1"/>
          <p:nvPr/>
        </p:nvSpPr>
        <p:spPr>
          <a:xfrm>
            <a:off x="375384" y="308009"/>
            <a:ext cx="11377061" cy="5816977"/>
          </a:xfrm>
          <a:prstGeom prst="rect">
            <a:avLst/>
          </a:prstGeom>
          <a:noFill/>
        </p:spPr>
        <p:txBody>
          <a:bodyPr wrap="square" rtlCol="0">
            <a:spAutoFit/>
          </a:bodyPr>
          <a:lstStyle/>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relationship between PISA scores and the Human Development Index (HDI) is generally considered positive, meaning that countries with higher HDI values tend to also have higher PISA scores, indicating a correlation between a country's overall development level and the academic performance of its students as measured by PISA tests; essentially, higher levels of human development are associated with better educational outcomes as shown by PISA results.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Despite not focussing on gender gaps in education, the evidence that improving outcomes for women and girls also improves outcomes for boys and men indicates that this is not a zero-sum effort.</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Future research should explore the impact of improved societal gender equality on gender gaps in education, however, the evidence from this study—that everyone benefits—is encouraging.</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Policies and initiatives that target societal levels of gender equality, therefore, have the potential to impact positively on diverse social outcomes to everyone’s benefit.</a:t>
            </a:r>
          </a:p>
          <a:p>
            <a:endParaRPr lang="en-IN" dirty="0"/>
          </a:p>
          <a:p>
            <a:endParaRPr lang="en-IN" dirty="0"/>
          </a:p>
        </p:txBody>
      </p:sp>
    </p:spTree>
    <p:extLst>
      <p:ext uri="{BB962C8B-B14F-4D97-AF65-F5344CB8AC3E}">
        <p14:creationId xmlns:p14="http://schemas.microsoft.com/office/powerpoint/2010/main" val="3554789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203201" y="203201"/>
            <a:ext cx="11734351" cy="6451601"/>
          </a:xfrm>
          <a:prstGeom prst="rect">
            <a:avLst/>
          </a:prstGeom>
          <a:noFill/>
          <a:ln>
            <a:noFill/>
          </a:ln>
        </p:spPr>
      </p:pic>
    </p:spTree>
    <p:extLst>
      <p:ext uri="{BB962C8B-B14F-4D97-AF65-F5344CB8AC3E}">
        <p14:creationId xmlns:p14="http://schemas.microsoft.com/office/powerpoint/2010/main" val="367081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body" idx="1"/>
          </p:nvPr>
        </p:nvSpPr>
        <p:spPr>
          <a:xfrm>
            <a:off x="415600" y="1536633"/>
            <a:ext cx="11776400" cy="4555200"/>
          </a:xfrm>
          <a:prstGeom prst="rect">
            <a:avLst/>
          </a:prstGeom>
        </p:spPr>
        <p:txBody>
          <a:bodyPr spcFirstLastPara="1" vert="horz" wrap="square" lIns="121900" tIns="121900" rIns="121900" bIns="121900" rtlCol="0" anchor="t" anchorCtr="0">
            <a:noAutofit/>
          </a:bodyPr>
          <a:lstStyle/>
          <a:p>
            <a:pPr indent="-423323">
              <a:lnSpc>
                <a:spcPct val="115000"/>
              </a:lnSpc>
              <a:buClr>
                <a:schemeClr val="dk1"/>
              </a:buClr>
              <a:buSzPts val="1400"/>
              <a:buFont typeface="Roboto"/>
              <a:buAutoNum type="arabicPeriod"/>
            </a:pPr>
            <a:r>
              <a:rPr lang="en" sz="2200" b="1" dirty="0">
                <a:solidFill>
                  <a:schemeClr val="dk1"/>
                </a:solidFill>
                <a:latin typeface="Times New Roman" panose="02020603050405020304" pitchFamily="18" charset="0"/>
                <a:ea typeface="Roboto"/>
                <a:cs typeface="Times New Roman" panose="02020603050405020304" pitchFamily="18" charset="0"/>
                <a:sym typeface="Roboto"/>
              </a:rPr>
              <a:t>Initial Data</a:t>
            </a:r>
            <a:endParaRPr sz="2200" b="1" dirty="0">
              <a:solidFill>
                <a:schemeClr val="dk1"/>
              </a:solidFill>
              <a:latin typeface="Times New Roman" panose="02020603050405020304" pitchFamily="18" charset="0"/>
              <a:ea typeface="Roboto"/>
              <a:cs typeface="Times New Roman" panose="02020603050405020304" pitchFamily="18" charset="0"/>
              <a:sym typeface="Roboto"/>
            </a:endParaRPr>
          </a:p>
          <a:p>
            <a:pPr lvl="1">
              <a:lnSpc>
                <a:spcPct val="115000"/>
              </a:lnSpc>
              <a:buClr>
                <a:schemeClr val="dk1"/>
              </a:buClr>
              <a:buFont typeface="Roboto"/>
              <a:buChar char="○"/>
            </a:pPr>
            <a:r>
              <a:rPr lang="en" sz="2200" dirty="0">
                <a:solidFill>
                  <a:schemeClr val="dk1"/>
                </a:solidFill>
                <a:latin typeface="Times New Roman" panose="02020603050405020304" pitchFamily="18" charset="0"/>
                <a:ea typeface="Roboto"/>
                <a:cs typeface="Times New Roman" panose="02020603050405020304" pitchFamily="18" charset="0"/>
                <a:sym typeface="Roboto"/>
              </a:rPr>
              <a:t>Used mean and median scores for reading, math and science for each country and year</a:t>
            </a:r>
            <a:endParaRPr sz="2200" dirty="0">
              <a:solidFill>
                <a:schemeClr val="dk1"/>
              </a:solidFill>
              <a:latin typeface="Times New Roman" panose="02020603050405020304" pitchFamily="18" charset="0"/>
              <a:ea typeface="Roboto"/>
              <a:cs typeface="Times New Roman" panose="02020603050405020304" pitchFamily="18" charset="0"/>
              <a:sym typeface="Roboto"/>
            </a:endParaRPr>
          </a:p>
          <a:p>
            <a:pPr indent="-423323">
              <a:lnSpc>
                <a:spcPct val="115000"/>
              </a:lnSpc>
              <a:spcBef>
                <a:spcPts val="1333"/>
              </a:spcBef>
              <a:buClr>
                <a:schemeClr val="dk1"/>
              </a:buClr>
              <a:buSzPts val="1400"/>
              <a:buFont typeface="Roboto"/>
              <a:buAutoNum type="arabicPeriod"/>
            </a:pPr>
            <a:r>
              <a:rPr lang="en" sz="2200" b="1" dirty="0">
                <a:solidFill>
                  <a:schemeClr val="dk1"/>
                </a:solidFill>
                <a:latin typeface="Times New Roman" panose="02020603050405020304" pitchFamily="18" charset="0"/>
                <a:ea typeface="Roboto"/>
                <a:cs typeface="Times New Roman" panose="02020603050405020304" pitchFamily="18" charset="0"/>
                <a:sym typeface="Roboto"/>
              </a:rPr>
              <a:t>Ratio Construction</a:t>
            </a:r>
            <a:endParaRPr sz="2200" b="1" dirty="0">
              <a:solidFill>
                <a:schemeClr val="dk1"/>
              </a:solidFill>
              <a:latin typeface="Times New Roman" panose="02020603050405020304" pitchFamily="18" charset="0"/>
              <a:ea typeface="Roboto"/>
              <a:cs typeface="Times New Roman" panose="02020603050405020304" pitchFamily="18" charset="0"/>
              <a:sym typeface="Roboto"/>
            </a:endParaRPr>
          </a:p>
          <a:p>
            <a:pPr lvl="1">
              <a:lnSpc>
                <a:spcPct val="115000"/>
              </a:lnSpc>
              <a:buClr>
                <a:schemeClr val="dk1"/>
              </a:buClr>
              <a:buFont typeface="Times New Roman"/>
              <a:buChar char="○"/>
            </a:pPr>
            <a:r>
              <a:rPr lang="en" sz="2200" dirty="0">
                <a:solidFill>
                  <a:schemeClr val="dk1"/>
                </a:solidFill>
                <a:latin typeface="Times New Roman" panose="02020603050405020304" pitchFamily="18" charset="0"/>
                <a:ea typeface="Roboto"/>
                <a:cs typeface="Times New Roman" panose="02020603050405020304" pitchFamily="18" charset="0"/>
                <a:sym typeface="Roboto"/>
              </a:rPr>
              <a:t>Calculated the ratio: </a:t>
            </a:r>
            <a:r>
              <a:rPr lang="en" sz="2200" i="1" dirty="0">
                <a:solidFill>
                  <a:schemeClr val="dk1"/>
                </a:solidFill>
                <a:latin typeface="Times New Roman" panose="02020603050405020304" pitchFamily="18" charset="0"/>
                <a:ea typeface="Roboto"/>
                <a:cs typeface="Times New Roman" panose="02020603050405020304" pitchFamily="18" charset="0"/>
                <a:sym typeface="Roboto"/>
              </a:rPr>
              <a:t>[x]_ratio = [x]_mean / [x]_median</a:t>
            </a:r>
            <a:r>
              <a:rPr lang="en" sz="2200" dirty="0">
                <a:solidFill>
                  <a:schemeClr val="dk1"/>
                </a:solidFill>
                <a:latin typeface="Times New Roman" panose="02020603050405020304" pitchFamily="18" charset="0"/>
                <a:ea typeface="Roboto"/>
                <a:cs typeface="Times New Roman" panose="02020603050405020304" pitchFamily="18" charset="0"/>
                <a:sym typeface="Roboto"/>
              </a:rPr>
              <a:t> for each subject (reading, math, science)</a:t>
            </a:r>
            <a:endParaRPr sz="2200" dirty="0">
              <a:solidFill>
                <a:schemeClr val="dk1"/>
              </a:solidFill>
              <a:latin typeface="Times New Roman" panose="02020603050405020304" pitchFamily="18" charset="0"/>
              <a:ea typeface="Roboto"/>
              <a:cs typeface="Times New Roman" panose="02020603050405020304" pitchFamily="18" charset="0"/>
              <a:sym typeface="Roboto"/>
            </a:endParaRPr>
          </a:p>
          <a:p>
            <a:pPr lvl="1">
              <a:lnSpc>
                <a:spcPct val="115000"/>
              </a:lnSpc>
              <a:buClr>
                <a:schemeClr val="dk1"/>
              </a:buClr>
              <a:buFont typeface="Roboto"/>
              <a:buChar char="○"/>
            </a:pPr>
            <a:r>
              <a:rPr lang="en" sz="2200" dirty="0">
                <a:solidFill>
                  <a:schemeClr val="dk1"/>
                </a:solidFill>
                <a:latin typeface="Times New Roman" panose="02020603050405020304" pitchFamily="18" charset="0"/>
                <a:ea typeface="Roboto"/>
                <a:cs typeface="Times New Roman" panose="02020603050405020304" pitchFamily="18" charset="0"/>
                <a:sym typeface="Roboto"/>
              </a:rPr>
              <a:t>Combined the three subject ratios into a geometric mean to create a combined ratio, λ</a:t>
            </a:r>
            <a:endParaRPr sz="2200" dirty="0">
              <a:solidFill>
                <a:schemeClr val="dk1"/>
              </a:solidFill>
              <a:latin typeface="Times New Roman" panose="02020603050405020304" pitchFamily="18" charset="0"/>
              <a:ea typeface="Roboto"/>
              <a:cs typeface="Times New Roman" panose="02020603050405020304" pitchFamily="18" charset="0"/>
              <a:sym typeface="Roboto"/>
            </a:endParaRPr>
          </a:p>
          <a:p>
            <a:pPr lvl="1">
              <a:lnSpc>
                <a:spcPct val="115000"/>
              </a:lnSpc>
              <a:buClr>
                <a:schemeClr val="dk1"/>
              </a:buClr>
              <a:buFont typeface="Roboto"/>
              <a:buChar char="○"/>
            </a:pPr>
            <a:r>
              <a:rPr lang="en" sz="2200" dirty="0">
                <a:solidFill>
                  <a:schemeClr val="dk1"/>
                </a:solidFill>
                <a:latin typeface="Times New Roman" panose="02020603050405020304" pitchFamily="18" charset="0"/>
                <a:ea typeface="Roboto"/>
                <a:cs typeface="Times New Roman" panose="02020603050405020304" pitchFamily="18" charset="0"/>
                <a:sym typeface="Roboto"/>
              </a:rPr>
              <a:t>Why Geometric Mean?: To penalize large deviations from central tendency</a:t>
            </a:r>
            <a:endParaRPr sz="2200" dirty="0">
              <a:solidFill>
                <a:schemeClr val="dk1"/>
              </a:solidFill>
              <a:latin typeface="Times New Roman" panose="02020603050405020304" pitchFamily="18" charset="0"/>
              <a:ea typeface="Roboto"/>
              <a:cs typeface="Times New Roman" panose="02020603050405020304" pitchFamily="18" charset="0"/>
              <a:sym typeface="Roboto"/>
            </a:endParaRPr>
          </a:p>
          <a:p>
            <a:pPr indent="-423323">
              <a:lnSpc>
                <a:spcPct val="115000"/>
              </a:lnSpc>
              <a:spcBef>
                <a:spcPts val="1333"/>
              </a:spcBef>
              <a:buClr>
                <a:schemeClr val="dk1"/>
              </a:buClr>
              <a:buSzPts val="1400"/>
              <a:buFont typeface="Roboto"/>
              <a:buAutoNum type="arabicPeriod"/>
            </a:pPr>
            <a:r>
              <a:rPr lang="en" sz="2200" b="1" dirty="0">
                <a:solidFill>
                  <a:schemeClr val="dk1"/>
                </a:solidFill>
                <a:latin typeface="Times New Roman" panose="02020603050405020304" pitchFamily="18" charset="0"/>
                <a:ea typeface="Roboto"/>
                <a:cs typeface="Times New Roman" panose="02020603050405020304" pitchFamily="18" charset="0"/>
                <a:sym typeface="Roboto"/>
              </a:rPr>
              <a:t>Ideal Scenario</a:t>
            </a:r>
            <a:endParaRPr sz="2200" b="1" dirty="0">
              <a:solidFill>
                <a:schemeClr val="dk1"/>
              </a:solidFill>
              <a:latin typeface="Times New Roman" panose="02020603050405020304" pitchFamily="18" charset="0"/>
              <a:ea typeface="Roboto"/>
              <a:cs typeface="Times New Roman" panose="02020603050405020304" pitchFamily="18" charset="0"/>
              <a:sym typeface="Roboto"/>
            </a:endParaRPr>
          </a:p>
          <a:p>
            <a:pPr lvl="1">
              <a:lnSpc>
                <a:spcPct val="115000"/>
              </a:lnSpc>
              <a:buClr>
                <a:schemeClr val="dk1"/>
              </a:buClr>
              <a:buFont typeface="Roboto"/>
              <a:buChar char="○"/>
            </a:pPr>
            <a:r>
              <a:rPr lang="en" sz="2200" dirty="0">
                <a:solidFill>
                  <a:schemeClr val="dk1"/>
                </a:solidFill>
                <a:latin typeface="Times New Roman" panose="02020603050405020304" pitchFamily="18" charset="0"/>
                <a:ea typeface="Roboto"/>
                <a:cs typeface="Times New Roman" panose="02020603050405020304" pitchFamily="18" charset="0"/>
                <a:sym typeface="Roboto"/>
              </a:rPr>
              <a:t>In an ideal education system, the mean and median scores should be equal</a:t>
            </a:r>
            <a:endParaRPr sz="2200" dirty="0">
              <a:solidFill>
                <a:schemeClr val="dk1"/>
              </a:solidFill>
              <a:latin typeface="Times New Roman" panose="02020603050405020304" pitchFamily="18" charset="0"/>
              <a:ea typeface="Roboto"/>
              <a:cs typeface="Times New Roman" panose="02020603050405020304" pitchFamily="18" charset="0"/>
              <a:sym typeface="Roboto"/>
            </a:endParaRPr>
          </a:p>
          <a:p>
            <a:pPr lvl="1">
              <a:lnSpc>
                <a:spcPct val="115000"/>
              </a:lnSpc>
              <a:spcAft>
                <a:spcPts val="1333"/>
              </a:spcAft>
              <a:buClr>
                <a:schemeClr val="dk1"/>
              </a:buClr>
              <a:buFont typeface="Roboto"/>
              <a:buChar char="○"/>
            </a:pPr>
            <a:r>
              <a:rPr lang="en" sz="2200" dirty="0">
                <a:solidFill>
                  <a:schemeClr val="dk1"/>
                </a:solidFill>
                <a:latin typeface="Times New Roman" panose="02020603050405020304" pitchFamily="18" charset="0"/>
                <a:ea typeface="Roboto"/>
                <a:cs typeface="Times New Roman" panose="02020603050405020304" pitchFamily="18" charset="0"/>
                <a:sym typeface="Roboto"/>
              </a:rPr>
              <a:t>Therefore, the ideal ratio for each subject and the combined ratio should be 1</a:t>
            </a:r>
            <a:endParaRPr sz="2200" dirty="0">
              <a:solidFill>
                <a:schemeClr val="dk1"/>
              </a:solidFill>
              <a:latin typeface="Times New Roman" panose="02020603050405020304" pitchFamily="18" charset="0"/>
              <a:ea typeface="Roboto"/>
              <a:cs typeface="Times New Roman" panose="02020603050405020304" pitchFamily="18" charset="0"/>
              <a:sym typeface="Roboto"/>
            </a:endParaRPr>
          </a:p>
        </p:txBody>
      </p:sp>
      <p:sp>
        <p:nvSpPr>
          <p:cNvPr id="66" name="Google Shape;66;p15"/>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pPr algn="ctr"/>
            <a:r>
              <a:rPr lang="en" sz="2800" b="1" dirty="0">
                <a:latin typeface="Times New Roman" panose="02020603050405020304" pitchFamily="18" charset="0"/>
                <a:ea typeface="Oswald"/>
                <a:cs typeface="Times New Roman" panose="02020603050405020304" pitchFamily="18" charset="0"/>
                <a:sym typeface="Oswald"/>
              </a:rPr>
              <a:t>PISA Distribution Inequality Index (PDII) - Methodology Overview</a:t>
            </a:r>
            <a:endParaRPr sz="2800" b="1" dirty="0">
              <a:latin typeface="Times New Roman" panose="02020603050405020304" pitchFamily="18" charset="0"/>
              <a:ea typeface="Oswald"/>
              <a:cs typeface="Times New Roman" panose="02020603050405020304" pitchFamily="18" charset="0"/>
              <a:sym typeface="Oswald"/>
            </a:endParaRPr>
          </a:p>
        </p:txBody>
      </p:sp>
    </p:spTree>
    <p:extLst>
      <p:ext uri="{BB962C8B-B14F-4D97-AF65-F5344CB8AC3E}">
        <p14:creationId xmlns:p14="http://schemas.microsoft.com/office/powerpoint/2010/main" val="4127346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body" idx="1"/>
          </p:nvPr>
        </p:nvSpPr>
        <p:spPr>
          <a:xfrm>
            <a:off x="415600" y="1568532"/>
            <a:ext cx="11776400" cy="5089121"/>
          </a:xfrm>
          <a:prstGeom prst="rect">
            <a:avLst/>
          </a:prstGeom>
        </p:spPr>
        <p:txBody>
          <a:bodyPr spcFirstLastPara="1" vert="horz" wrap="square" lIns="121900" tIns="121900" rIns="121900" bIns="121900" rtlCol="0" anchor="t" anchorCtr="0">
            <a:normAutofit/>
          </a:bodyPr>
          <a:lstStyle/>
          <a:p>
            <a:pPr indent="-423323">
              <a:buClr>
                <a:schemeClr val="dk1"/>
              </a:buClr>
              <a:buSzPts val="1400"/>
              <a:buFont typeface="Roboto"/>
              <a:buAutoNum type="arabicPeriod"/>
            </a:pPr>
            <a:r>
              <a:rPr lang="en" sz="2400" b="1" dirty="0">
                <a:solidFill>
                  <a:schemeClr val="dk1"/>
                </a:solidFill>
                <a:latin typeface="Times New Roman" panose="02020603050405020304" pitchFamily="18" charset="0"/>
                <a:ea typeface="Roboto"/>
                <a:cs typeface="Times New Roman" panose="02020603050405020304" pitchFamily="18" charset="0"/>
                <a:sym typeface="Roboto"/>
              </a:rPr>
              <a:t>Index Calculation</a:t>
            </a:r>
            <a:endParaRPr sz="2400" b="1" dirty="0">
              <a:solidFill>
                <a:schemeClr val="dk1"/>
              </a:solidFill>
              <a:latin typeface="Times New Roman" panose="02020603050405020304" pitchFamily="18" charset="0"/>
              <a:ea typeface="Roboto"/>
              <a:cs typeface="Times New Roman" panose="02020603050405020304" pitchFamily="18" charset="0"/>
              <a:sym typeface="Roboto"/>
            </a:endParaRPr>
          </a:p>
          <a:p>
            <a:pPr lvl="1" indent="-423323">
              <a:buClr>
                <a:schemeClr val="dk1"/>
              </a:buClr>
              <a:buSzPts val="1400"/>
              <a:buFont typeface="Roboto"/>
              <a:buChar char="○"/>
            </a:pPr>
            <a:r>
              <a:rPr lang="en" sz="2400" dirty="0">
                <a:solidFill>
                  <a:schemeClr val="dk1"/>
                </a:solidFill>
                <a:latin typeface="Times New Roman" panose="02020603050405020304" pitchFamily="18" charset="0"/>
                <a:ea typeface="Roboto"/>
                <a:cs typeface="Times New Roman" panose="02020603050405020304" pitchFamily="18" charset="0"/>
                <a:sym typeface="Roboto"/>
              </a:rPr>
              <a:t>For each country (across all years), calculated the index as the squared deviation from the ideal ratio (1)</a:t>
            </a:r>
            <a:endParaRPr sz="2400" dirty="0">
              <a:solidFill>
                <a:schemeClr val="dk1"/>
              </a:solidFill>
              <a:latin typeface="Times New Roman" panose="02020603050405020304" pitchFamily="18" charset="0"/>
              <a:ea typeface="Roboto"/>
              <a:cs typeface="Times New Roman" panose="02020603050405020304" pitchFamily="18" charset="0"/>
              <a:sym typeface="Roboto"/>
            </a:endParaRPr>
          </a:p>
          <a:p>
            <a:pPr lvl="1" indent="-423323">
              <a:spcBef>
                <a:spcPts val="1333"/>
              </a:spcBef>
              <a:spcAft>
                <a:spcPts val="1333"/>
              </a:spcAft>
              <a:buClr>
                <a:schemeClr val="dk1"/>
              </a:buClr>
              <a:buSzPts val="1400"/>
              <a:buFont typeface="Roboto"/>
              <a:buChar char="○"/>
            </a:pPr>
            <a:endParaRPr sz="1867" dirty="0">
              <a:solidFill>
                <a:schemeClr val="dk1"/>
              </a:solidFill>
              <a:latin typeface="Roboto"/>
              <a:ea typeface="Roboto"/>
              <a:cs typeface="Roboto"/>
              <a:sym typeface="Roboto"/>
            </a:endParaRPr>
          </a:p>
        </p:txBody>
      </p:sp>
      <p:sp>
        <p:nvSpPr>
          <p:cNvPr id="72" name="Google Shape;72;p16"/>
          <p:cNvSpPr txBox="1">
            <a:spLocks noGrp="1"/>
          </p:cNvSpPr>
          <p:nvPr>
            <p:ph type="title"/>
          </p:nvPr>
        </p:nvSpPr>
        <p:spPr>
          <a:xfrm>
            <a:off x="415600" y="628933"/>
            <a:ext cx="11360800" cy="763600"/>
          </a:xfrm>
          <a:prstGeom prst="rect">
            <a:avLst/>
          </a:prstGeom>
        </p:spPr>
        <p:txBody>
          <a:bodyPr spcFirstLastPara="1" vert="horz" wrap="square" lIns="121900" tIns="121900" rIns="121900" bIns="121900" rtlCol="0" anchor="b" anchorCtr="0">
            <a:noAutofit/>
          </a:bodyPr>
          <a:lstStyle/>
          <a:p>
            <a:pPr algn="ctr"/>
            <a:r>
              <a:rPr lang="en" sz="3733" dirty="0">
                <a:latin typeface="Oswald"/>
                <a:ea typeface="Oswald"/>
                <a:cs typeface="Oswald"/>
                <a:sym typeface="Oswald"/>
              </a:rPr>
              <a:t>PISA Distribution Inequality Index (PDII) - Index Construction</a:t>
            </a:r>
            <a:endParaRPr sz="3733" dirty="0">
              <a:latin typeface="Oswald"/>
              <a:ea typeface="Oswald"/>
              <a:cs typeface="Oswald"/>
              <a:sym typeface="Oswald"/>
            </a:endParaRPr>
          </a:p>
        </p:txBody>
      </p:sp>
      <p:pic>
        <p:nvPicPr>
          <p:cNvPr id="73" name="Google Shape;73;p16"/>
          <p:cNvPicPr preferRelativeResize="0"/>
          <p:nvPr/>
        </p:nvPicPr>
        <p:blipFill>
          <a:blip r:embed="rId3">
            <a:alphaModFix/>
          </a:blip>
          <a:stretch>
            <a:fillRect/>
          </a:stretch>
        </p:blipFill>
        <p:spPr>
          <a:xfrm>
            <a:off x="5247021" y="2636567"/>
            <a:ext cx="4352468" cy="1305276"/>
          </a:xfrm>
          <a:prstGeom prst="rect">
            <a:avLst/>
          </a:prstGeom>
          <a:noFill/>
          <a:ln>
            <a:noFill/>
          </a:ln>
        </p:spPr>
      </p:pic>
      <p:sp>
        <p:nvSpPr>
          <p:cNvPr id="74" name="Google Shape;74;p16"/>
          <p:cNvSpPr txBox="1">
            <a:spLocks noGrp="1"/>
          </p:cNvSpPr>
          <p:nvPr>
            <p:ph type="body" idx="1"/>
          </p:nvPr>
        </p:nvSpPr>
        <p:spPr>
          <a:xfrm>
            <a:off x="415600" y="4221433"/>
            <a:ext cx="11360800" cy="1741200"/>
          </a:xfrm>
          <a:prstGeom prst="rect">
            <a:avLst/>
          </a:prstGeom>
        </p:spPr>
        <p:txBody>
          <a:bodyPr spcFirstLastPara="1" vert="horz" wrap="square" lIns="121900" tIns="121900" rIns="121900" bIns="121900" rtlCol="0" anchor="t" anchorCtr="0">
            <a:noAutofit/>
          </a:bodyPr>
          <a:lstStyle/>
          <a:p>
            <a:pPr lvl="1" indent="-423323">
              <a:buClr>
                <a:schemeClr val="dk1"/>
              </a:buClr>
              <a:buSzPts val="1400"/>
              <a:buFont typeface="Roboto"/>
              <a:buChar char="○"/>
            </a:pPr>
            <a:r>
              <a:rPr lang="en" sz="2400" dirty="0">
                <a:solidFill>
                  <a:schemeClr val="dk1"/>
                </a:solidFill>
                <a:latin typeface="Times New Roman" panose="02020603050405020304" pitchFamily="18" charset="0"/>
                <a:ea typeface="Roboto"/>
                <a:cs typeface="Times New Roman" panose="02020603050405020304" pitchFamily="18" charset="0"/>
                <a:sym typeface="Roboto"/>
              </a:rPr>
              <a:t>The index measures how far a country’s score distribution deviates from the ideal scenario</a:t>
            </a:r>
            <a:endParaRPr sz="2400" dirty="0">
              <a:solidFill>
                <a:schemeClr val="dk1"/>
              </a:solidFill>
              <a:latin typeface="Times New Roman" panose="02020603050405020304" pitchFamily="18" charset="0"/>
              <a:ea typeface="Roboto"/>
              <a:cs typeface="Times New Roman" panose="02020603050405020304" pitchFamily="18" charset="0"/>
              <a:sym typeface="Roboto"/>
            </a:endParaRPr>
          </a:p>
          <a:p>
            <a:pPr lvl="1" indent="-423323">
              <a:buClr>
                <a:schemeClr val="dk1"/>
              </a:buClr>
              <a:buSzPts val="1400"/>
              <a:buFont typeface="Roboto"/>
              <a:buChar char="○"/>
            </a:pPr>
            <a:r>
              <a:rPr lang="en" sz="2400" dirty="0">
                <a:solidFill>
                  <a:schemeClr val="dk1"/>
                </a:solidFill>
                <a:latin typeface="Times New Roman" panose="02020603050405020304" pitchFamily="18" charset="0"/>
                <a:ea typeface="Roboto"/>
                <a:cs typeface="Times New Roman" panose="02020603050405020304" pitchFamily="18" charset="0"/>
                <a:sym typeface="Roboto"/>
              </a:rPr>
              <a:t>A higher PDII indicates greater deviation from the ideal scenario (ratio = 1), reflecting less homogeneity in student performance</a:t>
            </a:r>
            <a:endParaRPr sz="2400" dirty="0">
              <a:solidFill>
                <a:schemeClr val="dk1"/>
              </a:solidFill>
              <a:latin typeface="Times New Roman" panose="02020603050405020304" pitchFamily="18" charset="0"/>
              <a:ea typeface="Roboto"/>
              <a:cs typeface="Times New Roman" panose="02020603050405020304" pitchFamily="18" charset="0"/>
              <a:sym typeface="Roboto"/>
            </a:endParaRPr>
          </a:p>
        </p:txBody>
      </p:sp>
    </p:spTree>
    <p:extLst>
      <p:ext uri="{BB962C8B-B14F-4D97-AF65-F5344CB8AC3E}">
        <p14:creationId xmlns:p14="http://schemas.microsoft.com/office/powerpoint/2010/main" val="2164662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7"/>
          <p:cNvPicPr preferRelativeResize="0"/>
          <p:nvPr/>
        </p:nvPicPr>
        <p:blipFill>
          <a:blip r:embed="rId3">
            <a:alphaModFix/>
          </a:blip>
          <a:stretch>
            <a:fillRect/>
          </a:stretch>
        </p:blipFill>
        <p:spPr>
          <a:xfrm>
            <a:off x="1256117" y="203200"/>
            <a:ext cx="9679763" cy="6451600"/>
          </a:xfrm>
          <a:prstGeom prst="rect">
            <a:avLst/>
          </a:prstGeom>
          <a:noFill/>
          <a:ln>
            <a:noFill/>
          </a:ln>
        </p:spPr>
      </p:pic>
    </p:spTree>
    <p:extLst>
      <p:ext uri="{BB962C8B-B14F-4D97-AF65-F5344CB8AC3E}">
        <p14:creationId xmlns:p14="http://schemas.microsoft.com/office/powerpoint/2010/main" val="22351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FE565F-4396-4837-BDC7-7FB3EE90E737}"/>
              </a:ext>
            </a:extLst>
          </p:cNvPr>
          <p:cNvSpPr>
            <a:spLocks noChangeArrowheads="1"/>
          </p:cNvSpPr>
          <p:nvPr/>
        </p:nvSpPr>
        <p:spPr bwMode="auto">
          <a:xfrm>
            <a:off x="0" y="572388"/>
            <a:ext cx="11900452" cy="4197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Hillman, A. L., &amp; </a:t>
            </a:r>
            <a:r>
              <a:rPr kumimoji="0" lang="en-US" altLang="en-US" sz="2000" b="0" i="0" u="none" strike="noStrike" cap="none" normalizeH="0" baseline="0" dirty="0" err="1">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Jenker</a:t>
            </a: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E. (2004). </a:t>
            </a:r>
            <a:r>
              <a:rPr kumimoji="0" lang="en-US" altLang="en-US" sz="2000" b="0" i="1"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Economic Issues No. 33 - Educating Children in Poor Countries</a:t>
            </a: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International Monetary Fund.</a:t>
            </a:r>
            <a:endParaRPr kumimoji="0" lang="en-US" altLang="en-US" sz="2000"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Meyer, H. D., &amp; Schiller, K. (2013). Gauging the Role of Non-educational Effects in Large-scale Assessments: Socio-economics, Culture and PISA Outcomes. </a:t>
            </a:r>
            <a:r>
              <a:rPr kumimoji="0" lang="en-US" altLang="en-US" sz="2000" b="0" i="1"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PISA, Power, and Policy: The Emergence of Global Educational Governance</a:t>
            </a: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Neuman, M. (2022). PISA data clusters reveal student and school inequality that affects results. </a:t>
            </a:r>
            <a:r>
              <a:rPr kumimoji="0" lang="en-US" altLang="en-US" sz="2000" b="0" i="1" u="none" strike="noStrike" cap="none" normalizeH="0" baseline="0" dirty="0" err="1">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PLoS</a:t>
            </a:r>
            <a:r>
              <a:rPr kumimoji="0" lang="en-US" altLang="en-US" sz="2000" b="0" i="1"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ONE</a:t>
            </a: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1"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a:t>
            </a: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 May). https://doi.org/10.1371/journal.pone.0267040</a:t>
            </a:r>
            <a:endParaRPr kumimoji="0" lang="en-US" altLang="en-US" sz="2000"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err="1">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Sjøberg</a:t>
            </a: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 &amp; Jenkins, E. (2022). PISA: a political project and a research agenda. In </a:t>
            </a:r>
            <a:r>
              <a:rPr kumimoji="0" lang="en-US" altLang="en-US" sz="2000" b="0" i="1"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Studies in Science Education</a:t>
            </a:r>
            <a:r>
              <a:rPr kumimoji="0" lang="en-US" altLang="en-US" sz="20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(Vol. 58, Issue 1). https://doi.org/10.1080/03057267.2020.1824473</a:t>
            </a:r>
            <a:endParaRPr kumimoji="0" lang="en-US" altLang="en-US" sz="2000" b="0" i="0" u="none" strike="noStrike" cap="none" normalizeH="0" baseline="0" dirty="0">
              <a:ln>
                <a:noFill/>
              </a:ln>
              <a:solidFill>
                <a:schemeClr val="tx1"/>
              </a:solidFill>
              <a:effectLst/>
            </a:endParaRPr>
          </a:p>
        </p:txBody>
      </p:sp>
      <p:sp>
        <p:nvSpPr>
          <p:cNvPr id="3" name="TextBox 2">
            <a:extLst>
              <a:ext uri="{FF2B5EF4-FFF2-40B4-BE49-F238E27FC236}">
                <a16:creationId xmlns:a16="http://schemas.microsoft.com/office/drawing/2014/main" id="{160344EF-E72E-4E2A-ABB1-ABE9039EB1F9}"/>
              </a:ext>
            </a:extLst>
          </p:cNvPr>
          <p:cNvSpPr txBox="1"/>
          <p:nvPr/>
        </p:nvSpPr>
        <p:spPr>
          <a:xfrm>
            <a:off x="119270" y="172278"/>
            <a:ext cx="7010400" cy="400110"/>
          </a:xfrm>
          <a:prstGeom prst="rect">
            <a:avLst/>
          </a:prstGeom>
          <a:noFill/>
        </p:spPr>
        <p:txBody>
          <a:bodyPr wrap="square" rtlCol="0">
            <a:spAutoFit/>
          </a:bodyPr>
          <a:lstStyle/>
          <a:p>
            <a:r>
              <a:rPr lang="en-US" sz="2000" b="1" i="1" dirty="0"/>
              <a:t>References…</a:t>
            </a:r>
            <a:endParaRPr lang="en-IN" b="1" i="1" dirty="0"/>
          </a:p>
        </p:txBody>
      </p:sp>
    </p:spTree>
    <p:extLst>
      <p:ext uri="{BB962C8B-B14F-4D97-AF65-F5344CB8AC3E}">
        <p14:creationId xmlns:p14="http://schemas.microsoft.com/office/powerpoint/2010/main" val="3228007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415611" y="992767"/>
            <a:ext cx="11360800" cy="2736800"/>
          </a:xfrm>
          <a:prstGeom prst="rect">
            <a:avLst/>
          </a:prstGeom>
        </p:spPr>
        <p:txBody>
          <a:bodyPr spcFirstLastPara="1" vert="horz" wrap="square" lIns="121900" tIns="121900" rIns="121900" bIns="121900" rtlCol="0" anchor="b" anchorCtr="0">
            <a:normAutofit/>
          </a:bodyPr>
          <a:lstStyle/>
          <a:p>
            <a:pPr>
              <a:spcBef>
                <a:spcPts val="0"/>
              </a:spcBef>
            </a:pPr>
            <a:r>
              <a:rPr lang="en" dirty="0"/>
              <a:t>🙏🙏</a:t>
            </a:r>
            <a:endParaRPr dirty="0"/>
          </a:p>
        </p:txBody>
      </p:sp>
      <p:sp>
        <p:nvSpPr>
          <p:cNvPr id="55" name="Google Shape;55;p13"/>
          <p:cNvSpPr txBox="1">
            <a:spLocks noGrp="1"/>
          </p:cNvSpPr>
          <p:nvPr>
            <p:ph type="subTitle" idx="1"/>
          </p:nvPr>
        </p:nvSpPr>
        <p:spPr>
          <a:xfrm>
            <a:off x="415600" y="3778833"/>
            <a:ext cx="11360800" cy="1056800"/>
          </a:xfrm>
          <a:prstGeom prst="rect">
            <a:avLst/>
          </a:prstGeom>
        </p:spPr>
        <p:txBody>
          <a:bodyPr spcFirstLastPara="1" vert="horz" wrap="square" lIns="121900" tIns="121900" rIns="121900" bIns="121900" rtlCol="0" anchor="t" anchorCtr="0">
            <a:normAutofit/>
          </a:bodyPr>
          <a:lstStyle/>
          <a:p>
            <a:pPr>
              <a:spcBef>
                <a:spcPts val="0"/>
              </a:spcBef>
            </a:pPr>
            <a:r>
              <a:rPr lang="en" dirty="0"/>
              <a:t>DHANYAWAAD</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414</TotalTime>
  <Words>2038</Words>
  <Application>Microsoft Office PowerPoint</Application>
  <PresentationFormat>Widescreen</PresentationFormat>
  <Paragraphs>117</Paragraphs>
  <Slides>21</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Oswald</vt:lpstr>
      <vt:lpstr>Roboto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PISA Distribution Inequality Index (PDII) - Methodology Overview</vt:lpstr>
      <vt:lpstr>PISA Distribution Inequality Index (PDII) - Index Construction</vt:lpstr>
      <vt:lpstr>PowerPoint Presentation</vt:lpstr>
      <vt:lpstr>PowerPoint Presentation</vt:lpstr>
      <vt:lpst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mrdebasisdas2@gmail.com</dc:creator>
  <cp:lastModifiedBy>mrdebasisdas2@gmail.com</cp:lastModifiedBy>
  <cp:revision>21</cp:revision>
  <dcterms:created xsi:type="dcterms:W3CDTF">2025-02-08T14:45:34Z</dcterms:created>
  <dcterms:modified xsi:type="dcterms:W3CDTF">2025-02-16T06:21:22Z</dcterms:modified>
</cp:coreProperties>
</file>