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3.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4.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0" r:id="rId2"/>
    <p:sldId id="261" r:id="rId3"/>
    <p:sldId id="262" r:id="rId4"/>
    <p:sldId id="278" r:id="rId5"/>
    <p:sldId id="263" r:id="rId6"/>
    <p:sldId id="265" r:id="rId7"/>
    <p:sldId id="266" r:id="rId8"/>
    <p:sldId id="267" r:id="rId9"/>
    <p:sldId id="280" r:id="rId10"/>
    <p:sldId id="281" r:id="rId11"/>
    <p:sldId id="257" r:id="rId12"/>
    <p:sldId id="258" r:id="rId13"/>
    <p:sldId id="256" r:id="rId14"/>
    <p:sldId id="268" r:id="rId15"/>
    <p:sldId id="269" r:id="rId16"/>
    <p:sldId id="25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7E6E90"/>
    <a:srgbClr val="C0B5D5"/>
    <a:srgbClr val="4B732F"/>
    <a:srgbClr val="958F8F"/>
    <a:srgbClr val="CC0000"/>
    <a:srgbClr val="333F50"/>
    <a:srgbClr val="4D2307"/>
    <a:srgbClr val="7E0000"/>
    <a:srgbClr val="5A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enovo\AppData\Local\Microsoft\Windows\INetCache\IE\W6BQJ7BK\Copy_of_poverty_gap(1)%5b1%5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nnwe\OneDrive\Desktop\FFFF\GIC.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IN"/>
              <a:t>POVERTY GAP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lotArea>
      <c:layout>
        <c:manualLayout>
          <c:layoutTarget val="inner"/>
          <c:xMode val="edge"/>
          <c:yMode val="edge"/>
          <c:x val="5.011110429672104E-2"/>
          <c:y val="0.1071567476824191"/>
          <c:w val="0.90203886121130306"/>
          <c:h val="0.70099834717654219"/>
        </c:manualLayout>
      </c:layout>
      <c:lineChart>
        <c:grouping val="standard"/>
        <c:varyColors val="0"/>
        <c:ser>
          <c:idx val="0"/>
          <c:order val="0"/>
          <c:tx>
            <c:strRef>
              <c:f>Sheet2!$B$1</c:f>
              <c:strCache>
                <c:ptCount val="1"/>
                <c:pt idx="0">
                  <c:v>East Asia &amp; pacific</c:v>
                </c:pt>
              </c:strCache>
            </c:strRef>
          </c:tx>
          <c:spPr>
            <a:ln w="28575" cap="rnd">
              <a:solidFill>
                <a:schemeClr val="accent1"/>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Sheet2!$B$2:$B$40</c:f>
              <c:numCache>
                <c:formatCode>0.0</c:formatCode>
                <c:ptCount val="39"/>
                <c:pt idx="0">
                  <c:v>5.799999999999998</c:v>
                </c:pt>
                <c:pt idx="1">
                  <c:v>7.9435399705277883</c:v>
                </c:pt>
                <c:pt idx="2">
                  <c:v>10.879280562650456</c:v>
                </c:pt>
                <c:pt idx="3">
                  <c:v>14.899999999999988</c:v>
                </c:pt>
                <c:pt idx="4">
                  <c:v>14.628413112380237</c:v>
                </c:pt>
                <c:pt idx="5">
                  <c:v>14.361776522581087</c:v>
                </c:pt>
                <c:pt idx="6">
                  <c:v>14.1</c:v>
                </c:pt>
                <c:pt idx="7">
                  <c:v>3.2</c:v>
                </c:pt>
                <c:pt idx="8">
                  <c:v>0</c:v>
                </c:pt>
                <c:pt idx="9">
                  <c:v>19.600000000000001</c:v>
                </c:pt>
                <c:pt idx="10">
                  <c:v>5.7723478758647264</c:v>
                </c:pt>
                <c:pt idx="11">
                  <c:v>1.7000000000000004</c:v>
                </c:pt>
                <c:pt idx="12">
                  <c:v>21.95</c:v>
                </c:pt>
                <c:pt idx="13">
                  <c:v>0.8</c:v>
                </c:pt>
                <c:pt idx="14">
                  <c:v>0.1</c:v>
                </c:pt>
                <c:pt idx="15">
                  <c:v>13.8</c:v>
                </c:pt>
                <c:pt idx="16">
                  <c:v>2.75</c:v>
                </c:pt>
                <c:pt idx="17">
                  <c:v>11.9</c:v>
                </c:pt>
                <c:pt idx="18">
                  <c:v>10.9</c:v>
                </c:pt>
                <c:pt idx="19">
                  <c:v>3.3</c:v>
                </c:pt>
                <c:pt idx="20">
                  <c:v>9.6999999999999993</c:v>
                </c:pt>
                <c:pt idx="21">
                  <c:v>5.8</c:v>
                </c:pt>
                <c:pt idx="22">
                  <c:v>3.3</c:v>
                </c:pt>
                <c:pt idx="23">
                  <c:v>4.9000000000000004</c:v>
                </c:pt>
                <c:pt idx="24">
                  <c:v>5.05</c:v>
                </c:pt>
                <c:pt idx="25">
                  <c:v>3.5</c:v>
                </c:pt>
                <c:pt idx="26">
                  <c:v>2.2500000000000004</c:v>
                </c:pt>
                <c:pt idx="27">
                  <c:v>2.5</c:v>
                </c:pt>
                <c:pt idx="28">
                  <c:v>2.5</c:v>
                </c:pt>
                <c:pt idx="29">
                  <c:v>1.7999999999999998</c:v>
                </c:pt>
                <c:pt idx="30">
                  <c:v>1.1499999999999999</c:v>
                </c:pt>
                <c:pt idx="31">
                  <c:v>1.7</c:v>
                </c:pt>
                <c:pt idx="32">
                  <c:v>0.15</c:v>
                </c:pt>
                <c:pt idx="33">
                  <c:v>0.25</c:v>
                </c:pt>
                <c:pt idx="34">
                  <c:v>0.65</c:v>
                </c:pt>
                <c:pt idx="35">
                  <c:v>0.1</c:v>
                </c:pt>
                <c:pt idx="36">
                  <c:v>0.15</c:v>
                </c:pt>
                <c:pt idx="37">
                  <c:v>0.1</c:v>
                </c:pt>
                <c:pt idx="38">
                  <c:v>0.1</c:v>
                </c:pt>
              </c:numCache>
            </c:numRef>
          </c:val>
          <c:smooth val="0"/>
          <c:extLst>
            <c:ext xmlns:c16="http://schemas.microsoft.com/office/drawing/2014/chart" uri="{C3380CC4-5D6E-409C-BE32-E72D297353CC}">
              <c16:uniqueId val="{00000000-B035-4890-98F9-9FC4D6571BB3}"/>
            </c:ext>
          </c:extLst>
        </c:ser>
        <c:ser>
          <c:idx val="1"/>
          <c:order val="1"/>
          <c:tx>
            <c:strRef>
              <c:f>Sheet2!$C$1</c:f>
              <c:strCache>
                <c:ptCount val="1"/>
                <c:pt idx="0">
                  <c:v>Other high income countries</c:v>
                </c:pt>
              </c:strCache>
            </c:strRef>
          </c:tx>
          <c:spPr>
            <a:ln w="28575" cap="rnd">
              <a:solidFill>
                <a:schemeClr val="accent2"/>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Sheet2!$C$2:$C$40</c:f>
              <c:numCache>
                <c:formatCode>0.00</c:formatCode>
                <c:ptCount val="39"/>
                <c:pt idx="0">
                  <c:v>0.3</c:v>
                </c:pt>
                <c:pt idx="1">
                  <c:v>0.4</c:v>
                </c:pt>
                <c:pt idx="2">
                  <c:v>0.1</c:v>
                </c:pt>
                <c:pt idx="3">
                  <c:v>0.2</c:v>
                </c:pt>
                <c:pt idx="4">
                  <c:v>0.30000000000000004</c:v>
                </c:pt>
                <c:pt idx="5">
                  <c:v>0.1</c:v>
                </c:pt>
                <c:pt idx="6">
                  <c:v>0.35</c:v>
                </c:pt>
                <c:pt idx="7">
                  <c:v>0.35</c:v>
                </c:pt>
                <c:pt idx="8">
                  <c:v>0.3</c:v>
                </c:pt>
                <c:pt idx="9">
                  <c:v>0.3</c:v>
                </c:pt>
                <c:pt idx="10">
                  <c:v>0.2</c:v>
                </c:pt>
                <c:pt idx="11">
                  <c:v>0.35</c:v>
                </c:pt>
                <c:pt idx="12">
                  <c:v>0.55000000000000004</c:v>
                </c:pt>
                <c:pt idx="13">
                  <c:v>0.30000000000000004</c:v>
                </c:pt>
                <c:pt idx="14">
                  <c:v>0.30000000000000004</c:v>
                </c:pt>
                <c:pt idx="15">
                  <c:v>0.1</c:v>
                </c:pt>
                <c:pt idx="16">
                  <c:v>0.2</c:v>
                </c:pt>
                <c:pt idx="17">
                  <c:v>0.15000000000000002</c:v>
                </c:pt>
                <c:pt idx="18">
                  <c:v>0.2</c:v>
                </c:pt>
                <c:pt idx="19">
                  <c:v>0.1</c:v>
                </c:pt>
                <c:pt idx="20">
                  <c:v>0.1</c:v>
                </c:pt>
                <c:pt idx="21">
                  <c:v>0.15000000000000002</c:v>
                </c:pt>
                <c:pt idx="22">
                  <c:v>0.2</c:v>
                </c:pt>
                <c:pt idx="23">
                  <c:v>0.2</c:v>
                </c:pt>
                <c:pt idx="24">
                  <c:v>0.1</c:v>
                </c:pt>
                <c:pt idx="25">
                  <c:v>0.1</c:v>
                </c:pt>
                <c:pt idx="26">
                  <c:v>0.1</c:v>
                </c:pt>
                <c:pt idx="27">
                  <c:v>0.2</c:v>
                </c:pt>
                <c:pt idx="28">
                  <c:v>0.1</c:v>
                </c:pt>
                <c:pt idx="29">
                  <c:v>0.1</c:v>
                </c:pt>
                <c:pt idx="30">
                  <c:v>0.1</c:v>
                </c:pt>
                <c:pt idx="31">
                  <c:v>0.1</c:v>
                </c:pt>
                <c:pt idx="32">
                  <c:v>0.2</c:v>
                </c:pt>
                <c:pt idx="33">
                  <c:v>0.1</c:v>
                </c:pt>
                <c:pt idx="34">
                  <c:v>0.1</c:v>
                </c:pt>
                <c:pt idx="35">
                  <c:v>0.15000000000000002</c:v>
                </c:pt>
                <c:pt idx="36">
                  <c:v>0.1</c:v>
                </c:pt>
                <c:pt idx="37">
                  <c:v>0.15000000000000002</c:v>
                </c:pt>
                <c:pt idx="38">
                  <c:v>0.1</c:v>
                </c:pt>
              </c:numCache>
            </c:numRef>
          </c:val>
          <c:smooth val="0"/>
          <c:extLst>
            <c:ext xmlns:c16="http://schemas.microsoft.com/office/drawing/2014/chart" uri="{C3380CC4-5D6E-409C-BE32-E72D297353CC}">
              <c16:uniqueId val="{00000001-B035-4890-98F9-9FC4D6571BB3}"/>
            </c:ext>
          </c:extLst>
        </c:ser>
        <c:ser>
          <c:idx val="2"/>
          <c:order val="2"/>
          <c:tx>
            <c:strRef>
              <c:f>Sheet2!$D$1</c:f>
              <c:strCache>
                <c:ptCount val="1"/>
                <c:pt idx="0">
                  <c:v>Middle East &amp; North Africa</c:v>
                </c:pt>
              </c:strCache>
            </c:strRef>
          </c:tx>
          <c:spPr>
            <a:ln w="28575" cap="rnd">
              <a:solidFill>
                <a:schemeClr val="accent3"/>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Sheet2!$D$2:$D$40</c:f>
              <c:numCache>
                <c:formatCode>0.00</c:formatCode>
                <c:ptCount val="39"/>
                <c:pt idx="0">
                  <c:v>3</c:v>
                </c:pt>
                <c:pt idx="1">
                  <c:v>3</c:v>
                </c:pt>
                <c:pt idx="2">
                  <c:v>3</c:v>
                </c:pt>
                <c:pt idx="3">
                  <c:v>3.0000000000000004</c:v>
                </c:pt>
                <c:pt idx="4">
                  <c:v>1.6881943016134133</c:v>
                </c:pt>
                <c:pt idx="5">
                  <c:v>0.95</c:v>
                </c:pt>
                <c:pt idx="6">
                  <c:v>0.8801713216409941</c:v>
                </c:pt>
                <c:pt idx="7">
                  <c:v>0.81547532151500446</c:v>
                </c:pt>
                <c:pt idx="8">
                  <c:v>0.75553472789839593</c:v>
                </c:pt>
                <c:pt idx="9">
                  <c:v>0.70000000000000007</c:v>
                </c:pt>
                <c:pt idx="10">
                  <c:v>0.60860922072298795</c:v>
                </c:pt>
                <c:pt idx="11">
                  <c:v>0.52915026221291805</c:v>
                </c:pt>
                <c:pt idx="12">
                  <c:v>0.46006532675824113</c:v>
                </c:pt>
                <c:pt idx="13">
                  <c:v>0.39999999999999991</c:v>
                </c:pt>
                <c:pt idx="14">
                  <c:v>9.9999999999999978E-2</c:v>
                </c:pt>
                <c:pt idx="15">
                  <c:v>0.22894284851066635</c:v>
                </c:pt>
                <c:pt idx="16">
                  <c:v>0.52414827884177928</c:v>
                </c:pt>
                <c:pt idx="17">
                  <c:v>1.1999999999999997</c:v>
                </c:pt>
                <c:pt idx="18">
                  <c:v>1.42828568570857</c:v>
                </c:pt>
                <c:pt idx="19">
                  <c:v>1.7</c:v>
                </c:pt>
                <c:pt idx="20">
                  <c:v>1.1839999631376703</c:v>
                </c:pt>
                <c:pt idx="21">
                  <c:v>0.82462112512353214</c:v>
                </c:pt>
                <c:pt idx="22">
                  <c:v>0.57432434220518014</c:v>
                </c:pt>
                <c:pt idx="23">
                  <c:v>0.40000000000000008</c:v>
                </c:pt>
                <c:pt idx="24">
                  <c:v>0.2</c:v>
                </c:pt>
                <c:pt idx="25">
                  <c:v>0.10000000000000005</c:v>
                </c:pt>
                <c:pt idx="26">
                  <c:v>0.14142135623730956</c:v>
                </c:pt>
                <c:pt idx="27">
                  <c:v>0.20000000000000007</c:v>
                </c:pt>
                <c:pt idx="28">
                  <c:v>0.4</c:v>
                </c:pt>
                <c:pt idx="29">
                  <c:v>0.05</c:v>
                </c:pt>
                <c:pt idx="30">
                  <c:v>5.0000000000000024E-2</c:v>
                </c:pt>
                <c:pt idx="31">
                  <c:v>0.10000000000000005</c:v>
                </c:pt>
                <c:pt idx="32">
                  <c:v>0.20000000000000009</c:v>
                </c:pt>
                <c:pt idx="33">
                  <c:v>0.1</c:v>
                </c:pt>
                <c:pt idx="34">
                  <c:v>0.1</c:v>
                </c:pt>
                <c:pt idx="35">
                  <c:v>0.1</c:v>
                </c:pt>
                <c:pt idx="36">
                  <c:v>0.25</c:v>
                </c:pt>
                <c:pt idx="37">
                  <c:v>0.1</c:v>
                </c:pt>
                <c:pt idx="38">
                  <c:v>0.2</c:v>
                </c:pt>
              </c:numCache>
            </c:numRef>
          </c:val>
          <c:smooth val="0"/>
          <c:extLst>
            <c:ext xmlns:c16="http://schemas.microsoft.com/office/drawing/2014/chart" uri="{C3380CC4-5D6E-409C-BE32-E72D297353CC}">
              <c16:uniqueId val="{00000002-B035-4890-98F9-9FC4D6571BB3}"/>
            </c:ext>
          </c:extLst>
        </c:ser>
        <c:ser>
          <c:idx val="3"/>
          <c:order val="3"/>
          <c:tx>
            <c:strRef>
              <c:f>Sheet2!$E$1</c:f>
              <c:strCache>
                <c:ptCount val="1"/>
                <c:pt idx="0">
                  <c:v>Europe and Central Asia</c:v>
                </c:pt>
              </c:strCache>
            </c:strRef>
          </c:tx>
          <c:spPr>
            <a:ln w="28575" cap="rnd">
              <a:solidFill>
                <a:schemeClr val="accent4"/>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Sheet2!$E$2:$E$40</c:f>
              <c:numCache>
                <c:formatCode>0.00</c:formatCode>
                <c:ptCount val="39"/>
                <c:pt idx="0">
                  <c:v>0.9</c:v>
                </c:pt>
                <c:pt idx="1">
                  <c:v>0.9</c:v>
                </c:pt>
                <c:pt idx="2">
                  <c:v>0.9</c:v>
                </c:pt>
                <c:pt idx="3">
                  <c:v>0.9</c:v>
                </c:pt>
                <c:pt idx="4">
                  <c:v>0.9</c:v>
                </c:pt>
                <c:pt idx="5">
                  <c:v>0.9</c:v>
                </c:pt>
                <c:pt idx="6">
                  <c:v>0.9</c:v>
                </c:pt>
                <c:pt idx="7">
                  <c:v>0.9</c:v>
                </c:pt>
                <c:pt idx="8">
                  <c:v>0.9</c:v>
                </c:pt>
                <c:pt idx="9">
                  <c:v>0.9</c:v>
                </c:pt>
                <c:pt idx="10">
                  <c:v>0.9</c:v>
                </c:pt>
                <c:pt idx="11">
                  <c:v>0.9</c:v>
                </c:pt>
                <c:pt idx="12">
                  <c:v>0.4</c:v>
                </c:pt>
                <c:pt idx="13">
                  <c:v>0.77459666924148352</c:v>
                </c:pt>
                <c:pt idx="14">
                  <c:v>1.5000000000000004</c:v>
                </c:pt>
                <c:pt idx="15">
                  <c:v>1.9</c:v>
                </c:pt>
                <c:pt idx="16">
                  <c:v>1.5209782424126308</c:v>
                </c:pt>
                <c:pt idx="17">
                  <c:v>1.2175656915224289</c:v>
                </c:pt>
                <c:pt idx="18">
                  <c:v>0.97467943448089656</c:v>
                </c:pt>
                <c:pt idx="19">
                  <c:v>0.78024537535394245</c:v>
                </c:pt>
                <c:pt idx="20">
                  <c:v>0.6245980208718015</c:v>
                </c:pt>
                <c:pt idx="21">
                  <c:v>0.50000000000000011</c:v>
                </c:pt>
                <c:pt idx="22">
                  <c:v>0.2</c:v>
                </c:pt>
                <c:pt idx="23">
                  <c:v>0.1</c:v>
                </c:pt>
                <c:pt idx="24">
                  <c:v>0.4</c:v>
                </c:pt>
                <c:pt idx="25">
                  <c:v>0.2</c:v>
                </c:pt>
                <c:pt idx="26">
                  <c:v>0.15</c:v>
                </c:pt>
                <c:pt idx="27">
                  <c:v>0.05</c:v>
                </c:pt>
                <c:pt idx="28">
                  <c:v>0.1</c:v>
                </c:pt>
                <c:pt idx="29">
                  <c:v>0.1</c:v>
                </c:pt>
                <c:pt idx="30">
                  <c:v>0.1</c:v>
                </c:pt>
                <c:pt idx="31">
                  <c:v>0.35</c:v>
                </c:pt>
                <c:pt idx="32">
                  <c:v>0.30000000000000004</c:v>
                </c:pt>
                <c:pt idx="33">
                  <c:v>0.4</c:v>
                </c:pt>
                <c:pt idx="34">
                  <c:v>0.3</c:v>
                </c:pt>
                <c:pt idx="35">
                  <c:v>0.3</c:v>
                </c:pt>
                <c:pt idx="36">
                  <c:v>0.25</c:v>
                </c:pt>
                <c:pt idx="37">
                  <c:v>0.1</c:v>
                </c:pt>
                <c:pt idx="38">
                  <c:v>0.1</c:v>
                </c:pt>
              </c:numCache>
            </c:numRef>
          </c:val>
          <c:smooth val="0"/>
          <c:extLst>
            <c:ext xmlns:c16="http://schemas.microsoft.com/office/drawing/2014/chart" uri="{C3380CC4-5D6E-409C-BE32-E72D297353CC}">
              <c16:uniqueId val="{00000003-B035-4890-98F9-9FC4D6571BB3}"/>
            </c:ext>
          </c:extLst>
        </c:ser>
        <c:ser>
          <c:idx val="4"/>
          <c:order val="4"/>
          <c:tx>
            <c:strRef>
              <c:f>Sheet2!$F$1</c:f>
              <c:strCache>
                <c:ptCount val="1"/>
                <c:pt idx="0">
                  <c:v>South Asia</c:v>
                </c:pt>
              </c:strCache>
            </c:strRef>
          </c:tx>
          <c:spPr>
            <a:ln w="28575" cap="rnd">
              <a:solidFill>
                <a:schemeClr val="accent5"/>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Sheet2!$F$2:$F$40</c:f>
              <c:numCache>
                <c:formatCode>0.00</c:formatCode>
                <c:ptCount val="39"/>
                <c:pt idx="0">
                  <c:v>13.65</c:v>
                </c:pt>
                <c:pt idx="1">
                  <c:v>13.65</c:v>
                </c:pt>
                <c:pt idx="2">
                  <c:v>13.650000000000007</c:v>
                </c:pt>
                <c:pt idx="3">
                  <c:v>8.2613558209291558</c:v>
                </c:pt>
                <c:pt idx="4">
                  <c:v>4.9999999999999991</c:v>
                </c:pt>
                <c:pt idx="5">
                  <c:v>9.810708435174293</c:v>
                </c:pt>
                <c:pt idx="6">
                  <c:v>19.250000000000007</c:v>
                </c:pt>
                <c:pt idx="7">
                  <c:v>10.399999999999997</c:v>
                </c:pt>
                <c:pt idx="8">
                  <c:v>11.469960767151729</c:v>
                </c:pt>
                <c:pt idx="9">
                  <c:v>12.649999999999993</c:v>
                </c:pt>
                <c:pt idx="10">
                  <c:v>10.499999999999998</c:v>
                </c:pt>
                <c:pt idx="11">
                  <c:v>11.638298844762495</c:v>
                </c:pt>
                <c:pt idx="12">
                  <c:v>12.900000000000002</c:v>
                </c:pt>
                <c:pt idx="13">
                  <c:v>9.8361577864530005</c:v>
                </c:pt>
                <c:pt idx="14">
                  <c:v>7.5</c:v>
                </c:pt>
                <c:pt idx="15">
                  <c:v>3.8999999999999995</c:v>
                </c:pt>
                <c:pt idx="16">
                  <c:v>4.9959983987187195</c:v>
                </c:pt>
                <c:pt idx="17">
                  <c:v>6.4000000000000021</c:v>
                </c:pt>
                <c:pt idx="18">
                  <c:v>6.8352029962540239</c:v>
                </c:pt>
                <c:pt idx="19">
                  <c:v>7.299999999999998</c:v>
                </c:pt>
                <c:pt idx="20">
                  <c:v>6.8</c:v>
                </c:pt>
                <c:pt idx="21">
                  <c:v>1.75</c:v>
                </c:pt>
                <c:pt idx="22">
                  <c:v>6.8999999999999995</c:v>
                </c:pt>
                <c:pt idx="23">
                  <c:v>6.9499999999999993</c:v>
                </c:pt>
                <c:pt idx="24">
                  <c:v>4.05</c:v>
                </c:pt>
                <c:pt idx="25">
                  <c:v>0.9</c:v>
                </c:pt>
                <c:pt idx="26">
                  <c:v>1.7000000000000002</c:v>
                </c:pt>
                <c:pt idx="27">
                  <c:v>1.16619037896906</c:v>
                </c:pt>
                <c:pt idx="28">
                  <c:v>0.79999999999999971</c:v>
                </c:pt>
                <c:pt idx="29">
                  <c:v>1.6</c:v>
                </c:pt>
                <c:pt idx="30">
                  <c:v>3</c:v>
                </c:pt>
                <c:pt idx="31">
                  <c:v>0.35</c:v>
                </c:pt>
                <c:pt idx="32">
                  <c:v>1.1000000000000001</c:v>
                </c:pt>
                <c:pt idx="33">
                  <c:v>1.5732132722552274</c:v>
                </c:pt>
                <c:pt idx="34">
                  <c:v>2.25</c:v>
                </c:pt>
                <c:pt idx="35">
                  <c:v>1.2999999999999998</c:v>
                </c:pt>
                <c:pt idx="36">
                  <c:v>1.3499999999999999</c:v>
                </c:pt>
                <c:pt idx="37">
                  <c:v>1.4</c:v>
                </c:pt>
                <c:pt idx="38">
                  <c:v>0.1</c:v>
                </c:pt>
              </c:numCache>
            </c:numRef>
          </c:val>
          <c:smooth val="0"/>
          <c:extLst>
            <c:ext xmlns:c16="http://schemas.microsoft.com/office/drawing/2014/chart" uri="{C3380CC4-5D6E-409C-BE32-E72D297353CC}">
              <c16:uniqueId val="{00000004-B035-4890-98F9-9FC4D6571BB3}"/>
            </c:ext>
          </c:extLst>
        </c:ser>
        <c:ser>
          <c:idx val="5"/>
          <c:order val="5"/>
          <c:tx>
            <c:strRef>
              <c:f>Sheet2!$G$1</c:f>
              <c:strCache>
                <c:ptCount val="1"/>
                <c:pt idx="0">
                  <c:v>Latin America &amp; caribbean</c:v>
                </c:pt>
              </c:strCache>
            </c:strRef>
          </c:tx>
          <c:spPr>
            <a:ln w="28575" cap="rnd">
              <a:solidFill>
                <a:schemeClr val="accent6"/>
              </a:solidFill>
              <a:round/>
            </a:ln>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Sheet2!$G$2:$G$40</c:f>
              <c:numCache>
                <c:formatCode>0.00</c:formatCode>
                <c:ptCount val="39"/>
                <c:pt idx="0">
                  <c:v>1.2</c:v>
                </c:pt>
                <c:pt idx="1">
                  <c:v>9.6999999999999993</c:v>
                </c:pt>
                <c:pt idx="2">
                  <c:v>12.5</c:v>
                </c:pt>
                <c:pt idx="3">
                  <c:v>11.9</c:v>
                </c:pt>
                <c:pt idx="4">
                  <c:v>10.199999999999999</c:v>
                </c:pt>
                <c:pt idx="5">
                  <c:v>2.75</c:v>
                </c:pt>
                <c:pt idx="6">
                  <c:v>5.0999999999999996</c:v>
                </c:pt>
                <c:pt idx="7">
                  <c:v>4.5999999999999996</c:v>
                </c:pt>
                <c:pt idx="8">
                  <c:v>3.45</c:v>
                </c:pt>
                <c:pt idx="9">
                  <c:v>0.6</c:v>
                </c:pt>
                <c:pt idx="10">
                  <c:v>3.7</c:v>
                </c:pt>
                <c:pt idx="11">
                  <c:v>2.2000000000000002</c:v>
                </c:pt>
                <c:pt idx="12">
                  <c:v>1.5</c:v>
                </c:pt>
                <c:pt idx="13">
                  <c:v>2.2999999999999998</c:v>
                </c:pt>
                <c:pt idx="14">
                  <c:v>5.2</c:v>
                </c:pt>
                <c:pt idx="15">
                  <c:v>3.55</c:v>
                </c:pt>
                <c:pt idx="16">
                  <c:v>5.5</c:v>
                </c:pt>
                <c:pt idx="17">
                  <c:v>5.2</c:v>
                </c:pt>
                <c:pt idx="18">
                  <c:v>7</c:v>
                </c:pt>
                <c:pt idx="19">
                  <c:v>5.4</c:v>
                </c:pt>
                <c:pt idx="20">
                  <c:v>5.2</c:v>
                </c:pt>
                <c:pt idx="21">
                  <c:v>5</c:v>
                </c:pt>
                <c:pt idx="22">
                  <c:v>4.8499999999999996</c:v>
                </c:pt>
                <c:pt idx="23">
                  <c:v>4</c:v>
                </c:pt>
                <c:pt idx="24">
                  <c:v>3.7</c:v>
                </c:pt>
                <c:pt idx="25">
                  <c:v>2.4</c:v>
                </c:pt>
                <c:pt idx="26">
                  <c:v>2.75</c:v>
                </c:pt>
                <c:pt idx="27">
                  <c:v>2.25</c:v>
                </c:pt>
                <c:pt idx="28">
                  <c:v>2.2000000000000002</c:v>
                </c:pt>
                <c:pt idx="29">
                  <c:v>1.65</c:v>
                </c:pt>
                <c:pt idx="30">
                  <c:v>1.65</c:v>
                </c:pt>
                <c:pt idx="31">
                  <c:v>1.35</c:v>
                </c:pt>
                <c:pt idx="32">
                  <c:v>0.95</c:v>
                </c:pt>
                <c:pt idx="33">
                  <c:v>0.95000000000000007</c:v>
                </c:pt>
                <c:pt idx="34">
                  <c:v>1.2</c:v>
                </c:pt>
                <c:pt idx="35">
                  <c:v>0.89999999999999991</c:v>
                </c:pt>
                <c:pt idx="36">
                  <c:v>0.75</c:v>
                </c:pt>
                <c:pt idx="37">
                  <c:v>0.5</c:v>
                </c:pt>
                <c:pt idx="38">
                  <c:v>0.6</c:v>
                </c:pt>
              </c:numCache>
            </c:numRef>
          </c:val>
          <c:smooth val="0"/>
          <c:extLst>
            <c:ext xmlns:c16="http://schemas.microsoft.com/office/drawing/2014/chart" uri="{C3380CC4-5D6E-409C-BE32-E72D297353CC}">
              <c16:uniqueId val="{00000005-B035-4890-98F9-9FC4D6571BB3}"/>
            </c:ext>
          </c:extLst>
        </c:ser>
        <c:ser>
          <c:idx val="6"/>
          <c:order val="6"/>
          <c:tx>
            <c:strRef>
              <c:f>Sheet2!$H$1</c:f>
              <c:strCache>
                <c:ptCount val="1"/>
                <c:pt idx="0">
                  <c:v>Sub-Saharan Africa</c:v>
                </c:pt>
              </c:strCache>
            </c:strRef>
          </c:tx>
          <c:spPr>
            <a:ln w="28575" cap="rnd">
              <a:solidFill>
                <a:schemeClr val="accent1">
                  <a:lumMod val="60000"/>
                </a:schemeClr>
              </a:solidFill>
              <a:round/>
            </a:ln>
            <a:effectLst>
              <a:outerShdw blurRad="50800" dist="50800" dir="21540000" sx="200000" sy="200000" algn="ctr" rotWithShape="0">
                <a:srgbClr val="000000">
                  <a:alpha val="0"/>
                </a:srgbClr>
              </a:outerShdw>
            </a:effectLst>
          </c:spPr>
          <c:marker>
            <c:symbol val="none"/>
          </c:marker>
          <c:cat>
            <c:strRef>
              <c:f>Sheet2!$A$2:$A$40</c:f>
              <c:strCache>
                <c:ptCount val="39"/>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pt idx="35">
                  <c:v>2016</c:v>
                </c:pt>
                <c:pt idx="36">
                  <c:v>2017</c:v>
                </c:pt>
                <c:pt idx="37">
                  <c:v>2018</c:v>
                </c:pt>
                <c:pt idx="38">
                  <c:v>2019</c:v>
                </c:pt>
              </c:strCache>
            </c:strRef>
          </c:cat>
          <c:val>
            <c:numRef>
              <c:f>Sheet2!$H$2:$H$40</c:f>
              <c:numCache>
                <c:formatCode>0.00</c:formatCode>
                <c:ptCount val="39"/>
                <c:pt idx="0">
                  <c:v>17.899999999999999</c:v>
                </c:pt>
                <c:pt idx="1">
                  <c:v>17.899999999999999</c:v>
                </c:pt>
                <c:pt idx="2">
                  <c:v>17.899999999999999</c:v>
                </c:pt>
                <c:pt idx="3">
                  <c:v>17.899999999999999</c:v>
                </c:pt>
                <c:pt idx="4">
                  <c:v>17.899999999999999</c:v>
                </c:pt>
                <c:pt idx="5">
                  <c:v>19.844394674567429</c:v>
                </c:pt>
                <c:pt idx="6">
                  <c:v>22.000000000000011</c:v>
                </c:pt>
                <c:pt idx="7">
                  <c:v>21.5</c:v>
                </c:pt>
                <c:pt idx="8">
                  <c:v>26.199999999999996</c:v>
                </c:pt>
                <c:pt idx="9">
                  <c:v>27.085051227568311</c:v>
                </c:pt>
                <c:pt idx="10">
                  <c:v>27.999999999999993</c:v>
                </c:pt>
                <c:pt idx="11">
                  <c:v>25.450000000000003</c:v>
                </c:pt>
                <c:pt idx="12">
                  <c:v>30.8</c:v>
                </c:pt>
                <c:pt idx="13">
                  <c:v>8.9</c:v>
                </c:pt>
                <c:pt idx="14">
                  <c:v>27.9</c:v>
                </c:pt>
                <c:pt idx="15">
                  <c:v>25.3</c:v>
                </c:pt>
                <c:pt idx="16">
                  <c:v>18.95</c:v>
                </c:pt>
                <c:pt idx="17">
                  <c:v>20.85</c:v>
                </c:pt>
                <c:pt idx="18">
                  <c:v>29.1</c:v>
                </c:pt>
                <c:pt idx="19">
                  <c:v>43.6</c:v>
                </c:pt>
                <c:pt idx="20">
                  <c:v>36.1</c:v>
                </c:pt>
                <c:pt idx="21">
                  <c:v>21.3</c:v>
                </c:pt>
                <c:pt idx="22">
                  <c:v>18.8</c:v>
                </c:pt>
                <c:pt idx="23">
                  <c:v>30.7</c:v>
                </c:pt>
                <c:pt idx="24">
                  <c:v>19</c:v>
                </c:pt>
                <c:pt idx="25">
                  <c:v>16.850000000000001</c:v>
                </c:pt>
                <c:pt idx="26">
                  <c:v>21</c:v>
                </c:pt>
                <c:pt idx="27">
                  <c:v>29.7</c:v>
                </c:pt>
                <c:pt idx="28">
                  <c:v>8.1999999999999993</c:v>
                </c:pt>
                <c:pt idx="29">
                  <c:v>20.85</c:v>
                </c:pt>
                <c:pt idx="30">
                  <c:v>11.95</c:v>
                </c:pt>
                <c:pt idx="31">
                  <c:v>10.599999999999996</c:v>
                </c:pt>
                <c:pt idx="32">
                  <c:v>9.6909328243437862</c:v>
                </c:pt>
                <c:pt idx="33">
                  <c:v>8.8598282081079134</c:v>
                </c:pt>
                <c:pt idx="34">
                  <c:v>8.1</c:v>
                </c:pt>
                <c:pt idx="35">
                  <c:v>11.550000000000004</c:v>
                </c:pt>
                <c:pt idx="36">
                  <c:v>10.195587280779861</c:v>
                </c:pt>
                <c:pt idx="37">
                  <c:v>9.0000000000000036</c:v>
                </c:pt>
                <c:pt idx="38">
                  <c:v>13.6</c:v>
                </c:pt>
              </c:numCache>
            </c:numRef>
          </c:val>
          <c:smooth val="0"/>
          <c:extLst>
            <c:ext xmlns:c16="http://schemas.microsoft.com/office/drawing/2014/chart" uri="{C3380CC4-5D6E-409C-BE32-E72D297353CC}">
              <c16:uniqueId val="{00000006-B035-4890-98F9-9FC4D6571BB3}"/>
            </c:ext>
          </c:extLst>
        </c:ser>
        <c:dLbls>
          <c:showLegendKey val="0"/>
          <c:showVal val="0"/>
          <c:showCatName val="0"/>
          <c:showSerName val="0"/>
          <c:showPercent val="0"/>
          <c:showBubbleSize val="0"/>
        </c:dLbls>
        <c:smooth val="0"/>
        <c:axId val="1389115600"/>
        <c:axId val="1389114640"/>
      </c:lineChart>
      <c:catAx>
        <c:axId val="138911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389114640"/>
        <c:crosses val="autoZero"/>
        <c:auto val="1"/>
        <c:lblAlgn val="ctr"/>
        <c:lblOffset val="100"/>
        <c:noMultiLvlLbl val="0"/>
      </c:catAx>
      <c:valAx>
        <c:axId val="138911464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Times New Roman" panose="02020603050405020304" pitchFamily="18" charset="0"/>
                <a:ea typeface="+mn-ea"/>
                <a:cs typeface="Times New Roman" panose="02020603050405020304" pitchFamily="18" charset="0"/>
              </a:defRPr>
            </a:pPr>
            <a:endParaRPr lang="en-US"/>
          </a:p>
        </c:txPr>
        <c:crossAx val="1389115600"/>
        <c:crosses val="autoZero"/>
        <c:crossBetween val="between"/>
      </c:valAx>
      <c:spPr>
        <a:solidFill>
          <a:srgbClr val="D2D0D0"/>
        </a:solidFill>
        <a:ln>
          <a:noFill/>
        </a:ln>
        <a:effectLst/>
      </c:spPr>
    </c:plotArea>
    <c:legend>
      <c:legendPos val="b"/>
      <c:layout>
        <c:manualLayout>
          <c:xMode val="edge"/>
          <c:yMode val="edge"/>
          <c:x val="8.2435885808427714E-2"/>
          <c:y val="0.89590247316498506"/>
          <c:w val="0.84030315437096648"/>
          <c:h val="9.133402329952444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BEBABA"/>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1980-1990</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Sheet2!$G$1</c:f>
              <c:strCache>
                <c:ptCount val="1"/>
                <c:pt idx="0">
                  <c:v>decade1</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Sheet2!$G$2:$G$63</c:f>
              <c:numCache>
                <c:formatCode>General</c:formatCode>
                <c:ptCount val="62"/>
                <c:pt idx="0">
                  <c:v>0.53079188577060687</c:v>
                </c:pt>
                <c:pt idx="1">
                  <c:v>3.1797678804077911E-2</c:v>
                </c:pt>
                <c:pt idx="2">
                  <c:v>0.18573367445272915</c:v>
                </c:pt>
                <c:pt idx="3">
                  <c:v>-5.2054619310991868E-2</c:v>
                </c:pt>
                <c:pt idx="4">
                  <c:v>0.19023950050355953</c:v>
                </c:pt>
                <c:pt idx="5">
                  <c:v>0.12446706718394562</c:v>
                </c:pt>
                <c:pt idx="6">
                  <c:v>1.1998816011884017E-2</c:v>
                </c:pt>
                <c:pt idx="7">
                  <c:v>9.7924303409491209E-2</c:v>
                </c:pt>
                <c:pt idx="8">
                  <c:v>0.16578853201279564</c:v>
                </c:pt>
                <c:pt idx="9">
                  <c:v>0.12013630843924261</c:v>
                </c:pt>
                <c:pt idx="10">
                  <c:v>0.11226658672361722</c:v>
                </c:pt>
                <c:pt idx="11">
                  <c:v>0.12078378894276387</c:v>
                </c:pt>
                <c:pt idx="12">
                  <c:v>0.11467203654278979</c:v>
                </c:pt>
                <c:pt idx="13">
                  <c:v>1.747306952474581E-2</c:v>
                </c:pt>
                <c:pt idx="14">
                  <c:v>-4.8915493012853695E-2</c:v>
                </c:pt>
                <c:pt idx="15">
                  <c:v>-4.6579953056574475E-2</c:v>
                </c:pt>
                <c:pt idx="16">
                  <c:v>3.4763868097527961E-2</c:v>
                </c:pt>
                <c:pt idx="17">
                  <c:v>-0.12056666265784877</c:v>
                </c:pt>
                <c:pt idx="18">
                  <c:v>-6.8564728912716255E-2</c:v>
                </c:pt>
                <c:pt idx="19">
                  <c:v>-0.15265317739476458</c:v>
                </c:pt>
                <c:pt idx="20">
                  <c:v>-3.0759764803535816E-2</c:v>
                </c:pt>
                <c:pt idx="21">
                  <c:v>-1.2999967714417693E-2</c:v>
                </c:pt>
                <c:pt idx="22">
                  <c:v>1.787891865886504E-2</c:v>
                </c:pt>
                <c:pt idx="23">
                  <c:v>3.4542435611614408E-2</c:v>
                </c:pt>
                <c:pt idx="24">
                  <c:v>1.9724375153007401E-2</c:v>
                </c:pt>
                <c:pt idx="25">
                  <c:v>-0.13825176420576923</c:v>
                </c:pt>
                <c:pt idx="26">
                  <c:v>5.5270920788395905E-2</c:v>
                </c:pt>
                <c:pt idx="27">
                  <c:v>6.6098957515698942E-3</c:v>
                </c:pt>
                <c:pt idx="28">
                  <c:v>-2.8483862535153115E-2</c:v>
                </c:pt>
                <c:pt idx="29">
                  <c:v>0.11523225695408446</c:v>
                </c:pt>
                <c:pt idx="30">
                  <c:v>9.3915439323195571E-3</c:v>
                </c:pt>
                <c:pt idx="31">
                  <c:v>-6.1743453080588928E-2</c:v>
                </c:pt>
                <c:pt idx="32">
                  <c:v>-0.14053415588151896</c:v>
                </c:pt>
                <c:pt idx="33">
                  <c:v>-0.18158315957580218</c:v>
                </c:pt>
                <c:pt idx="34">
                  <c:v>-0.21719699915830493</c:v>
                </c:pt>
                <c:pt idx="35">
                  <c:v>-0.135268917137223</c:v>
                </c:pt>
                <c:pt idx="36">
                  <c:v>-9.4016324655332717E-2</c:v>
                </c:pt>
                <c:pt idx="37">
                  <c:v>-1.0083799603522792E-2</c:v>
                </c:pt>
                <c:pt idx="38">
                  <c:v>-3.4521873892355615E-2</c:v>
                </c:pt>
                <c:pt idx="39">
                  <c:v>-2.0359022709371288E-2</c:v>
                </c:pt>
                <c:pt idx="40">
                  <c:v>-2.8257189146255968E-2</c:v>
                </c:pt>
                <c:pt idx="41">
                  <c:v>-0.20096478766070192</c:v>
                </c:pt>
                <c:pt idx="42">
                  <c:v>-0.31405168122903504</c:v>
                </c:pt>
                <c:pt idx="43">
                  <c:v>-0.41600437091154596</c:v>
                </c:pt>
                <c:pt idx="44">
                  <c:v>-0.41972295649426439</c:v>
                </c:pt>
                <c:pt idx="45">
                  <c:v>-0.80590484482941971</c:v>
                </c:pt>
                <c:pt idx="46">
                  <c:v>-0.83473338763265126</c:v>
                </c:pt>
                <c:pt idx="47">
                  <c:v>-1.0419735666979637</c:v>
                </c:pt>
                <c:pt idx="48">
                  <c:v>-1.106710783449234</c:v>
                </c:pt>
                <c:pt idx="49">
                  <c:v>-1.1080231371134506</c:v>
                </c:pt>
                <c:pt idx="50">
                  <c:v>-1.0721702879665482</c:v>
                </c:pt>
                <c:pt idx="51">
                  <c:v>-0.92017386160565806</c:v>
                </c:pt>
                <c:pt idx="52">
                  <c:v>-0.7359837830617959</c:v>
                </c:pt>
                <c:pt idx="53">
                  <c:v>-0.12368930549936152</c:v>
                </c:pt>
                <c:pt idx="54">
                  <c:v>-0.17235561518178955</c:v>
                </c:pt>
                <c:pt idx="55">
                  <c:v>5.0948470560305381E-2</c:v>
                </c:pt>
                <c:pt idx="56">
                  <c:v>8.0391442129883472E-2</c:v>
                </c:pt>
                <c:pt idx="57">
                  <c:v>0.34967412309588575</c:v>
                </c:pt>
                <c:pt idx="58">
                  <c:v>0.31872200754093605</c:v>
                </c:pt>
                <c:pt idx="59">
                  <c:v>0.26705780278609126</c:v>
                </c:pt>
                <c:pt idx="60">
                  <c:v>7.1234264463459596E-2</c:v>
                </c:pt>
                <c:pt idx="61">
                  <c:v>-0.69183258798414293</c:v>
                </c:pt>
              </c:numCache>
            </c:numRef>
          </c:val>
          <c:smooth val="0"/>
          <c:extLst>
            <c:ext xmlns:c16="http://schemas.microsoft.com/office/drawing/2014/chart" uri="{C3380CC4-5D6E-409C-BE32-E72D297353CC}">
              <c16:uniqueId val="{00000000-1373-468E-8C55-910A659350BE}"/>
            </c:ext>
          </c:extLst>
        </c:ser>
        <c:dLbls>
          <c:showLegendKey val="0"/>
          <c:showVal val="0"/>
          <c:showCatName val="0"/>
          <c:showSerName val="0"/>
          <c:showPercent val="0"/>
          <c:showBubbleSize val="0"/>
        </c:dLbls>
        <c:smooth val="0"/>
        <c:axId val="516488880"/>
        <c:axId val="516489536"/>
      </c:lineChart>
      <c:catAx>
        <c:axId val="516488880"/>
        <c:scaling>
          <c:orientation val="minMax"/>
        </c:scaling>
        <c:delete val="1"/>
        <c:axPos val="b"/>
        <c:numFmt formatCode="General" sourceLinked="1"/>
        <c:majorTickMark val="none"/>
        <c:minorTickMark val="none"/>
        <c:tickLblPos val="nextTo"/>
        <c:crossAx val="516489536"/>
        <c:crosses val="autoZero"/>
        <c:auto val="1"/>
        <c:lblAlgn val="ctr"/>
        <c:lblOffset val="100"/>
        <c:noMultiLvlLbl val="0"/>
      </c:catAx>
      <c:valAx>
        <c:axId val="516489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4888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1990-2000</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4537510899696162E-2"/>
          <c:y val="9.4108170034273589E-2"/>
          <c:w val="0.94546248910030384"/>
          <c:h val="0.89441492289140734"/>
        </c:manualLayout>
      </c:layout>
      <c:lineChart>
        <c:grouping val="standard"/>
        <c:varyColors val="0"/>
        <c:ser>
          <c:idx val="0"/>
          <c:order val="0"/>
          <c:tx>
            <c:strRef>
              <c:f>Sheet2!$H$1</c:f>
              <c:strCache>
                <c:ptCount val="1"/>
                <c:pt idx="0">
                  <c:v>decade2</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Sheet2!$H$2:$H$63</c:f>
              <c:numCache>
                <c:formatCode>General</c:formatCode>
                <c:ptCount val="62"/>
                <c:pt idx="0">
                  <c:v>0.84633620104888063</c:v>
                </c:pt>
                <c:pt idx="1">
                  <c:v>0.36060091373944037</c:v>
                </c:pt>
                <c:pt idx="2">
                  <c:v>0.26389836942400358</c:v>
                </c:pt>
                <c:pt idx="3">
                  <c:v>0.19041601408896724</c:v>
                </c:pt>
                <c:pt idx="4">
                  <c:v>4.7539600842254615E-3</c:v>
                </c:pt>
                <c:pt idx="5">
                  <c:v>3.4637575401773368E-2</c:v>
                </c:pt>
                <c:pt idx="6">
                  <c:v>-1.0841457245838626E-2</c:v>
                </c:pt>
                <c:pt idx="7">
                  <c:v>-3.2527536622628084E-2</c:v>
                </c:pt>
                <c:pt idx="8">
                  <c:v>0.1355370393892299</c:v>
                </c:pt>
                <c:pt idx="9">
                  <c:v>0.17121282339799038</c:v>
                </c:pt>
                <c:pt idx="10">
                  <c:v>0.12946082049558783</c:v>
                </c:pt>
                <c:pt idx="11">
                  <c:v>7.9658466964017904E-2</c:v>
                </c:pt>
                <c:pt idx="12">
                  <c:v>0.10681602177340999</c:v>
                </c:pt>
                <c:pt idx="13">
                  <c:v>8.0244207513224808E-2</c:v>
                </c:pt>
                <c:pt idx="14">
                  <c:v>3.3654369840801834E-2</c:v>
                </c:pt>
                <c:pt idx="15">
                  <c:v>0.18725317614068437</c:v>
                </c:pt>
                <c:pt idx="16">
                  <c:v>0.22842322664131043</c:v>
                </c:pt>
                <c:pt idx="17">
                  <c:v>0.24497979428048122</c:v>
                </c:pt>
                <c:pt idx="18">
                  <c:v>0.30624142253694053</c:v>
                </c:pt>
                <c:pt idx="19">
                  <c:v>0.29756110950249681</c:v>
                </c:pt>
                <c:pt idx="20">
                  <c:v>0.23741570271890033</c:v>
                </c:pt>
                <c:pt idx="21">
                  <c:v>0.19703457729055263</c:v>
                </c:pt>
                <c:pt idx="22">
                  <c:v>0.19442329472339814</c:v>
                </c:pt>
                <c:pt idx="23">
                  <c:v>0.17492548172127353</c:v>
                </c:pt>
                <c:pt idx="24">
                  <c:v>0.17874344172172218</c:v>
                </c:pt>
                <c:pt idx="25">
                  <c:v>0.37372131939123143</c:v>
                </c:pt>
                <c:pt idx="26">
                  <c:v>0.15788936314507751</c:v>
                </c:pt>
                <c:pt idx="27">
                  <c:v>0.222035049348146</c:v>
                </c:pt>
                <c:pt idx="28">
                  <c:v>0.28482594887047519</c:v>
                </c:pt>
                <c:pt idx="29">
                  <c:v>0.1550744246798601</c:v>
                </c:pt>
                <c:pt idx="30">
                  <c:v>0.1375430207089261</c:v>
                </c:pt>
                <c:pt idx="31">
                  <c:v>0.16356924379834936</c:v>
                </c:pt>
                <c:pt idx="32">
                  <c:v>0.14497635619949456</c:v>
                </c:pt>
                <c:pt idx="33">
                  <c:v>0.14162144264724841</c:v>
                </c:pt>
                <c:pt idx="34">
                  <c:v>0.1145469549974063</c:v>
                </c:pt>
                <c:pt idx="35">
                  <c:v>2.2623483890795271E-2</c:v>
                </c:pt>
                <c:pt idx="36">
                  <c:v>-2.9919353760047507E-2</c:v>
                </c:pt>
                <c:pt idx="37">
                  <c:v>-0.10996044010088291</c:v>
                </c:pt>
                <c:pt idx="38">
                  <c:v>-9.3128161822914279E-2</c:v>
                </c:pt>
                <c:pt idx="39">
                  <c:v>-9.5542282922793653E-2</c:v>
                </c:pt>
                <c:pt idx="40">
                  <c:v>3.4273622737569731E-2</c:v>
                </c:pt>
                <c:pt idx="41">
                  <c:v>0.28217547748296923</c:v>
                </c:pt>
                <c:pt idx="42">
                  <c:v>0.28789332795545342</c:v>
                </c:pt>
                <c:pt idx="43">
                  <c:v>0.30545652913240673</c:v>
                </c:pt>
                <c:pt idx="44">
                  <c:v>0.37774800567793232</c:v>
                </c:pt>
                <c:pt idx="45">
                  <c:v>0.36175300257368281</c:v>
                </c:pt>
                <c:pt idx="46">
                  <c:v>0.34624392991159247</c:v>
                </c:pt>
                <c:pt idx="47">
                  <c:v>0.31493749632993051</c:v>
                </c:pt>
                <c:pt idx="48">
                  <c:v>0.29135924698781679</c:v>
                </c:pt>
                <c:pt idx="49">
                  <c:v>0.30664318801919421</c:v>
                </c:pt>
                <c:pt idx="50">
                  <c:v>0.280255732453222</c:v>
                </c:pt>
                <c:pt idx="51">
                  <c:v>0.1019149588168542</c:v>
                </c:pt>
                <c:pt idx="52">
                  <c:v>-8.0808076444768062E-2</c:v>
                </c:pt>
                <c:pt idx="53">
                  <c:v>-0.66453699415587053</c:v>
                </c:pt>
                <c:pt idx="54">
                  <c:v>-0.38779345091801076</c:v>
                </c:pt>
                <c:pt idx="55">
                  <c:v>-0.55688594804970393</c:v>
                </c:pt>
                <c:pt idx="56">
                  <c:v>-0.58815940595024507</c:v>
                </c:pt>
                <c:pt idx="57">
                  <c:v>-0.58159152517692192</c:v>
                </c:pt>
                <c:pt idx="58">
                  <c:v>-0.25822908593436722</c:v>
                </c:pt>
                <c:pt idx="59">
                  <c:v>-2.2721014618117152E-2</c:v>
                </c:pt>
                <c:pt idx="60">
                  <c:v>3.7923957777930895E-2</c:v>
                </c:pt>
                <c:pt idx="61">
                  <c:v>1.5879798529736533E-2</c:v>
                </c:pt>
              </c:numCache>
            </c:numRef>
          </c:val>
          <c:smooth val="0"/>
          <c:extLst>
            <c:ext xmlns:c16="http://schemas.microsoft.com/office/drawing/2014/chart" uri="{C3380CC4-5D6E-409C-BE32-E72D297353CC}">
              <c16:uniqueId val="{00000000-FA51-474C-8F7D-BC3F34C54988}"/>
            </c:ext>
          </c:extLst>
        </c:ser>
        <c:dLbls>
          <c:showLegendKey val="0"/>
          <c:showVal val="0"/>
          <c:showCatName val="0"/>
          <c:showSerName val="0"/>
          <c:showPercent val="0"/>
          <c:showBubbleSize val="0"/>
        </c:dLbls>
        <c:smooth val="0"/>
        <c:axId val="590765120"/>
        <c:axId val="590767416"/>
      </c:lineChart>
      <c:catAx>
        <c:axId val="590765120"/>
        <c:scaling>
          <c:orientation val="minMax"/>
        </c:scaling>
        <c:delete val="1"/>
        <c:axPos val="b"/>
        <c:numFmt formatCode="General" sourceLinked="1"/>
        <c:majorTickMark val="none"/>
        <c:minorTickMark val="none"/>
        <c:tickLblPos val="nextTo"/>
        <c:crossAx val="590767416"/>
        <c:crosses val="autoZero"/>
        <c:auto val="1"/>
        <c:lblAlgn val="ctr"/>
        <c:lblOffset val="100"/>
        <c:noMultiLvlLbl val="0"/>
      </c:catAx>
      <c:valAx>
        <c:axId val="590767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07651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2000-2010</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8962456297868873E-2"/>
          <c:y val="7.3322389783109412E-2"/>
          <c:w val="0.94921936110305516"/>
          <c:h val="0.89951343047393184"/>
        </c:manualLayout>
      </c:layout>
      <c:lineChart>
        <c:grouping val="standard"/>
        <c:varyColors val="0"/>
        <c:ser>
          <c:idx val="0"/>
          <c:order val="0"/>
          <c:tx>
            <c:strRef>
              <c:f>Sheet2!$I$1</c:f>
              <c:strCache>
                <c:ptCount val="1"/>
                <c:pt idx="0">
                  <c:v>decade3</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Sheet2!$I$2:$I$63</c:f>
              <c:numCache>
                <c:formatCode>General</c:formatCode>
                <c:ptCount val="62"/>
                <c:pt idx="0">
                  <c:v>0.97142237140758958</c:v>
                </c:pt>
                <c:pt idx="1">
                  <c:v>0.88302477841380078</c:v>
                </c:pt>
                <c:pt idx="2">
                  <c:v>0.71699430063072001</c:v>
                </c:pt>
                <c:pt idx="3">
                  <c:v>0.71950873122440484</c:v>
                </c:pt>
                <c:pt idx="4">
                  <c:v>0.63407517143102599</c:v>
                </c:pt>
                <c:pt idx="5">
                  <c:v>0.84381552319665776</c:v>
                </c:pt>
                <c:pt idx="6">
                  <c:v>1.0418167468638568</c:v>
                </c:pt>
                <c:pt idx="7">
                  <c:v>1.001104374863802</c:v>
                </c:pt>
                <c:pt idx="8">
                  <c:v>0.81783966837487121</c:v>
                </c:pt>
                <c:pt idx="9">
                  <c:v>0.93792578745372346</c:v>
                </c:pt>
                <c:pt idx="10">
                  <c:v>0.94145587012198906</c:v>
                </c:pt>
                <c:pt idx="11">
                  <c:v>1.0074897949209634</c:v>
                </c:pt>
                <c:pt idx="12">
                  <c:v>1.1174549519652439</c:v>
                </c:pt>
                <c:pt idx="13">
                  <c:v>1.1846395961448986</c:v>
                </c:pt>
                <c:pt idx="14">
                  <c:v>1.2011933856985353</c:v>
                </c:pt>
                <c:pt idx="15">
                  <c:v>1.0955709260532753</c:v>
                </c:pt>
                <c:pt idx="16">
                  <c:v>1.0927437174399532</c:v>
                </c:pt>
                <c:pt idx="17">
                  <c:v>1.20729145325733</c:v>
                </c:pt>
                <c:pt idx="18">
                  <c:v>1.0844658147001365</c:v>
                </c:pt>
                <c:pt idx="19">
                  <c:v>1.1062795053520862</c:v>
                </c:pt>
                <c:pt idx="20">
                  <c:v>1.0597373799336607</c:v>
                </c:pt>
                <c:pt idx="21">
                  <c:v>1.1318034566845325</c:v>
                </c:pt>
                <c:pt idx="22">
                  <c:v>1.1458532764085989</c:v>
                </c:pt>
                <c:pt idx="23">
                  <c:v>1.1439090905406522</c:v>
                </c:pt>
                <c:pt idx="24">
                  <c:v>1.053709908574465</c:v>
                </c:pt>
                <c:pt idx="25">
                  <c:v>0.80095338296481433</c:v>
                </c:pt>
                <c:pt idx="26">
                  <c:v>1.0290815143925638</c:v>
                </c:pt>
                <c:pt idx="27">
                  <c:v>1.0881255953460425</c:v>
                </c:pt>
                <c:pt idx="28">
                  <c:v>1.0311701078892455</c:v>
                </c:pt>
                <c:pt idx="29">
                  <c:v>1.0011971942793449</c:v>
                </c:pt>
                <c:pt idx="30">
                  <c:v>1.0381888113714206</c:v>
                </c:pt>
                <c:pt idx="31">
                  <c:v>1.0288828917573323</c:v>
                </c:pt>
                <c:pt idx="32">
                  <c:v>1.0291749756311672</c:v>
                </c:pt>
                <c:pt idx="33">
                  <c:v>1.0318874553646449</c:v>
                </c:pt>
                <c:pt idx="34">
                  <c:v>0.95546729642664907</c:v>
                </c:pt>
                <c:pt idx="35">
                  <c:v>1.019932820858938</c:v>
                </c:pt>
                <c:pt idx="36">
                  <c:v>1.0646558296848232</c:v>
                </c:pt>
                <c:pt idx="37">
                  <c:v>1.1034921298754661</c:v>
                </c:pt>
                <c:pt idx="38">
                  <c:v>1.0868692812835263</c:v>
                </c:pt>
                <c:pt idx="39">
                  <c:v>1.07242135325028</c:v>
                </c:pt>
                <c:pt idx="40">
                  <c:v>0.99138447157669507</c:v>
                </c:pt>
                <c:pt idx="41">
                  <c:v>0.77637035205627392</c:v>
                </c:pt>
                <c:pt idx="42">
                  <c:v>0.83113601892490863</c:v>
                </c:pt>
                <c:pt idx="43">
                  <c:v>0.84189614829969805</c:v>
                </c:pt>
                <c:pt idx="44">
                  <c:v>0.86826488857984963</c:v>
                </c:pt>
                <c:pt idx="45">
                  <c:v>0.90296323262305123</c:v>
                </c:pt>
                <c:pt idx="46">
                  <c:v>0.95544649966236683</c:v>
                </c:pt>
                <c:pt idx="47">
                  <c:v>0.95504456370549384</c:v>
                </c:pt>
                <c:pt idx="48">
                  <c:v>0.91435653182779753</c:v>
                </c:pt>
                <c:pt idx="49">
                  <c:v>0.91589896062058429</c:v>
                </c:pt>
                <c:pt idx="50">
                  <c:v>0.95254410047908777</c:v>
                </c:pt>
                <c:pt idx="51">
                  <c:v>0.95836252476940409</c:v>
                </c:pt>
                <c:pt idx="52">
                  <c:v>0.92688162906025973</c:v>
                </c:pt>
                <c:pt idx="53">
                  <c:v>0.91685269499641286</c:v>
                </c:pt>
                <c:pt idx="54">
                  <c:v>0.64532471241251876</c:v>
                </c:pt>
                <c:pt idx="55">
                  <c:v>0.59112188500545315</c:v>
                </c:pt>
                <c:pt idx="56">
                  <c:v>0.58034733037589525</c:v>
                </c:pt>
                <c:pt idx="57">
                  <c:v>0.83586612102612712</c:v>
                </c:pt>
                <c:pt idx="58">
                  <c:v>0.72756916063912946</c:v>
                </c:pt>
                <c:pt idx="59">
                  <c:v>0.43996232677547731</c:v>
                </c:pt>
                <c:pt idx="60">
                  <c:v>0.49237737658932978</c:v>
                </c:pt>
                <c:pt idx="61">
                  <c:v>0.49937373285633235</c:v>
                </c:pt>
              </c:numCache>
            </c:numRef>
          </c:val>
          <c:smooth val="0"/>
          <c:extLst>
            <c:ext xmlns:c16="http://schemas.microsoft.com/office/drawing/2014/chart" uri="{C3380CC4-5D6E-409C-BE32-E72D297353CC}">
              <c16:uniqueId val="{00000000-6EAD-4403-BB0C-E8C205924310}"/>
            </c:ext>
          </c:extLst>
        </c:ser>
        <c:dLbls>
          <c:showLegendKey val="0"/>
          <c:showVal val="0"/>
          <c:showCatName val="0"/>
          <c:showSerName val="0"/>
          <c:showPercent val="0"/>
          <c:showBubbleSize val="0"/>
        </c:dLbls>
        <c:smooth val="0"/>
        <c:axId val="592084008"/>
        <c:axId val="592081384"/>
      </c:lineChart>
      <c:catAx>
        <c:axId val="592084008"/>
        <c:scaling>
          <c:orientation val="minMax"/>
        </c:scaling>
        <c:delete val="1"/>
        <c:axPos val="b"/>
        <c:numFmt formatCode="General" sourceLinked="1"/>
        <c:majorTickMark val="none"/>
        <c:minorTickMark val="none"/>
        <c:tickLblPos val="nextTo"/>
        <c:crossAx val="592081384"/>
        <c:crosses val="autoZero"/>
        <c:auto val="1"/>
        <c:lblAlgn val="ctr"/>
        <c:lblOffset val="100"/>
        <c:noMultiLvlLbl val="0"/>
      </c:catAx>
      <c:valAx>
        <c:axId val="592081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2084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2010-2019</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Sheet2!$J$1</c:f>
              <c:strCache>
                <c:ptCount val="1"/>
                <c:pt idx="0">
                  <c:v>decade4</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Sheet2!$J$2:$J$63</c:f>
              <c:numCache>
                <c:formatCode>General</c:formatCode>
                <c:ptCount val="62"/>
                <c:pt idx="0">
                  <c:v>0.27210343231523026</c:v>
                </c:pt>
                <c:pt idx="1">
                  <c:v>0.41229676787103831</c:v>
                </c:pt>
                <c:pt idx="2">
                  <c:v>0.24605520435457873</c:v>
                </c:pt>
                <c:pt idx="3">
                  <c:v>0.2260363772913907</c:v>
                </c:pt>
                <c:pt idx="4">
                  <c:v>0.58224470253804039</c:v>
                </c:pt>
                <c:pt idx="5">
                  <c:v>0.35522996980773769</c:v>
                </c:pt>
                <c:pt idx="6">
                  <c:v>0.36331677196761714</c:v>
                </c:pt>
                <c:pt idx="7">
                  <c:v>0.42284475359924834</c:v>
                </c:pt>
                <c:pt idx="8">
                  <c:v>0.53999539476241232</c:v>
                </c:pt>
                <c:pt idx="9">
                  <c:v>0.35964413929692274</c:v>
                </c:pt>
                <c:pt idx="10">
                  <c:v>0.66654373851882553</c:v>
                </c:pt>
                <c:pt idx="11">
                  <c:v>0.62840845440076087</c:v>
                </c:pt>
                <c:pt idx="12">
                  <c:v>0.52208746689298025</c:v>
                </c:pt>
                <c:pt idx="13">
                  <c:v>0.47319615614468535</c:v>
                </c:pt>
                <c:pt idx="14">
                  <c:v>0.46276574450697616</c:v>
                </c:pt>
                <c:pt idx="15">
                  <c:v>0.58316967701982492</c:v>
                </c:pt>
                <c:pt idx="16">
                  <c:v>0.53345629014373142</c:v>
                </c:pt>
                <c:pt idx="17">
                  <c:v>0.43857572318584825</c:v>
                </c:pt>
                <c:pt idx="18">
                  <c:v>0.42061622447679969</c:v>
                </c:pt>
                <c:pt idx="19">
                  <c:v>0.38863624706336264</c:v>
                </c:pt>
                <c:pt idx="20">
                  <c:v>0.3508595749872967</c:v>
                </c:pt>
                <c:pt idx="21">
                  <c:v>0.25512333456463754</c:v>
                </c:pt>
                <c:pt idx="22">
                  <c:v>0.30239223402446846</c:v>
                </c:pt>
                <c:pt idx="23">
                  <c:v>0.30242650732828302</c:v>
                </c:pt>
                <c:pt idx="24">
                  <c:v>0.30101705102335607</c:v>
                </c:pt>
                <c:pt idx="25">
                  <c:v>0.32441244377499956</c:v>
                </c:pt>
                <c:pt idx="26">
                  <c:v>0.14600538684782194</c:v>
                </c:pt>
                <c:pt idx="27">
                  <c:v>0.14586419341612178</c:v>
                </c:pt>
                <c:pt idx="28">
                  <c:v>0.21216687535730117</c:v>
                </c:pt>
                <c:pt idx="29">
                  <c:v>0.21219761709854801</c:v>
                </c:pt>
                <c:pt idx="30">
                  <c:v>0.20618724919917675</c:v>
                </c:pt>
                <c:pt idx="31">
                  <c:v>0.24910551649253954</c:v>
                </c:pt>
                <c:pt idx="32">
                  <c:v>0.26093159826548096</c:v>
                </c:pt>
                <c:pt idx="33">
                  <c:v>0.29207531004438181</c:v>
                </c:pt>
                <c:pt idx="34">
                  <c:v>0.32084130914339326</c:v>
                </c:pt>
                <c:pt idx="35">
                  <c:v>0.30902761845183946</c:v>
                </c:pt>
                <c:pt idx="36">
                  <c:v>0.28523972000987818</c:v>
                </c:pt>
                <c:pt idx="37">
                  <c:v>0.38119824040620287</c:v>
                </c:pt>
                <c:pt idx="38">
                  <c:v>0.33373780261841723</c:v>
                </c:pt>
                <c:pt idx="39">
                  <c:v>0.35547188953657916</c:v>
                </c:pt>
                <c:pt idx="40">
                  <c:v>0.36369724416823601</c:v>
                </c:pt>
                <c:pt idx="41">
                  <c:v>0.33070670365049004</c:v>
                </c:pt>
                <c:pt idx="42">
                  <c:v>0.27626595857228509</c:v>
                </c:pt>
                <c:pt idx="43">
                  <c:v>0.26563550950880277</c:v>
                </c:pt>
                <c:pt idx="44">
                  <c:v>0.22601509683474141</c:v>
                </c:pt>
                <c:pt idx="45">
                  <c:v>0.14446206686226226</c:v>
                </c:pt>
                <c:pt idx="46">
                  <c:v>9.344332609792616E-2</c:v>
                </c:pt>
                <c:pt idx="47">
                  <c:v>7.4795525623160941E-2</c:v>
                </c:pt>
                <c:pt idx="48">
                  <c:v>0.31422735443381811</c:v>
                </c:pt>
                <c:pt idx="49">
                  <c:v>0.30220830499703766</c:v>
                </c:pt>
                <c:pt idx="50">
                  <c:v>0.26979643539042719</c:v>
                </c:pt>
                <c:pt idx="51">
                  <c:v>0.29448933148180956</c:v>
                </c:pt>
                <c:pt idx="52">
                  <c:v>0.37188289712561406</c:v>
                </c:pt>
                <c:pt idx="53">
                  <c:v>0.42964740008583746</c:v>
                </c:pt>
                <c:pt idx="54">
                  <c:v>0.6781857018765578</c:v>
                </c:pt>
                <c:pt idx="55">
                  <c:v>0.77027124972012295</c:v>
                </c:pt>
                <c:pt idx="56">
                  <c:v>0.84547192743913335</c:v>
                </c:pt>
                <c:pt idx="57">
                  <c:v>0.35833699980896583</c:v>
                </c:pt>
                <c:pt idx="58">
                  <c:v>0.28043362475015954</c:v>
                </c:pt>
                <c:pt idx="59">
                  <c:v>0.25862539290596942</c:v>
                </c:pt>
                <c:pt idx="60">
                  <c:v>0.18682796392219991</c:v>
                </c:pt>
                <c:pt idx="61">
                  <c:v>0.20990659972829029</c:v>
                </c:pt>
              </c:numCache>
            </c:numRef>
          </c:val>
          <c:smooth val="0"/>
          <c:extLst>
            <c:ext xmlns:c16="http://schemas.microsoft.com/office/drawing/2014/chart" uri="{C3380CC4-5D6E-409C-BE32-E72D297353CC}">
              <c16:uniqueId val="{00000000-7EAF-4108-AC79-1080DBC67EDD}"/>
            </c:ext>
          </c:extLst>
        </c:ser>
        <c:dLbls>
          <c:showLegendKey val="0"/>
          <c:showVal val="0"/>
          <c:showCatName val="0"/>
          <c:showSerName val="0"/>
          <c:showPercent val="0"/>
          <c:showBubbleSize val="0"/>
        </c:dLbls>
        <c:smooth val="0"/>
        <c:axId val="526558368"/>
        <c:axId val="526559024"/>
      </c:lineChart>
      <c:catAx>
        <c:axId val="526558368"/>
        <c:scaling>
          <c:orientation val="minMax"/>
        </c:scaling>
        <c:delete val="1"/>
        <c:axPos val="b"/>
        <c:numFmt formatCode="General" sourceLinked="1"/>
        <c:majorTickMark val="none"/>
        <c:minorTickMark val="none"/>
        <c:tickLblPos val="nextTo"/>
        <c:crossAx val="526559024"/>
        <c:crosses val="autoZero"/>
        <c:auto val="1"/>
        <c:lblAlgn val="ctr"/>
        <c:lblOffset val="100"/>
        <c:noMultiLvlLbl val="0"/>
      </c:catAx>
      <c:valAx>
        <c:axId val="526559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6558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Sheet2!$K$1</c:f>
              <c:strCache>
                <c:ptCount val="1"/>
                <c:pt idx="0">
                  <c:v>1980-2000</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Sheet2!$K$2:$K$63</c:f>
              <c:numCache>
                <c:formatCode>General</c:formatCode>
                <c:ptCount val="62"/>
                <c:pt idx="0">
                  <c:v>1.3771280868194875</c:v>
                </c:pt>
                <c:pt idx="1">
                  <c:v>0.39239859254351828</c:v>
                </c:pt>
                <c:pt idx="2">
                  <c:v>0.44963204387673272</c:v>
                </c:pt>
                <c:pt idx="3">
                  <c:v>0.13836139477797538</c:v>
                </c:pt>
                <c:pt idx="4">
                  <c:v>0.19499346058778499</c:v>
                </c:pt>
                <c:pt idx="5">
                  <c:v>0.15910464258571899</c:v>
                </c:pt>
                <c:pt idx="6">
                  <c:v>1.157358766045391E-3</c:v>
                </c:pt>
                <c:pt idx="7">
                  <c:v>6.5396766786863125E-2</c:v>
                </c:pt>
                <c:pt idx="8">
                  <c:v>0.30132557140202554</c:v>
                </c:pt>
                <c:pt idx="9">
                  <c:v>0.29134913183723299</c:v>
                </c:pt>
                <c:pt idx="10">
                  <c:v>0.24172740721920505</c:v>
                </c:pt>
                <c:pt idx="11">
                  <c:v>0.20044225590678177</c:v>
                </c:pt>
                <c:pt idx="12">
                  <c:v>0.22148805831619978</c:v>
                </c:pt>
                <c:pt idx="13">
                  <c:v>9.7717277037970618E-2</c:v>
                </c:pt>
                <c:pt idx="14">
                  <c:v>-1.526112317205186E-2</c:v>
                </c:pt>
                <c:pt idx="15">
                  <c:v>0.1406732230841099</c:v>
                </c:pt>
                <c:pt idx="16">
                  <c:v>0.26318709473883839</c:v>
                </c:pt>
                <c:pt idx="17">
                  <c:v>0.12441313162263246</c:v>
                </c:pt>
                <c:pt idx="18">
                  <c:v>0.23767669362422428</c:v>
                </c:pt>
                <c:pt idx="19">
                  <c:v>0.14490793210773223</c:v>
                </c:pt>
                <c:pt idx="20">
                  <c:v>0.20665593791536452</c:v>
                </c:pt>
                <c:pt idx="21">
                  <c:v>0.18403460957613493</c:v>
                </c:pt>
                <c:pt idx="22">
                  <c:v>0.21230221338226318</c:v>
                </c:pt>
                <c:pt idx="23">
                  <c:v>0.20946791733288794</c:v>
                </c:pt>
                <c:pt idx="24">
                  <c:v>0.19846781687472959</c:v>
                </c:pt>
                <c:pt idx="25">
                  <c:v>0.2354695551854622</c:v>
                </c:pt>
                <c:pt idx="26">
                  <c:v>0.21316028393347342</c:v>
                </c:pt>
                <c:pt idx="27">
                  <c:v>0.22864494509971589</c:v>
                </c:pt>
                <c:pt idx="28">
                  <c:v>0.25634208633532207</c:v>
                </c:pt>
                <c:pt idx="29">
                  <c:v>0.27030668163394456</c:v>
                </c:pt>
                <c:pt idx="30">
                  <c:v>0.14693456464124566</c:v>
                </c:pt>
                <c:pt idx="31">
                  <c:v>0.10182579071776043</c:v>
                </c:pt>
                <c:pt idx="32">
                  <c:v>4.4422003179755976E-3</c:v>
                </c:pt>
                <c:pt idx="33">
                  <c:v>-3.996171692855377E-2</c:v>
                </c:pt>
                <c:pt idx="34">
                  <c:v>-0.10265004416089862</c:v>
                </c:pt>
                <c:pt idx="35">
                  <c:v>-0.11264543324642773</c:v>
                </c:pt>
                <c:pt idx="36">
                  <c:v>-0.12393567841538022</c:v>
                </c:pt>
                <c:pt idx="37">
                  <c:v>-0.1200442397044057</c:v>
                </c:pt>
                <c:pt idx="38">
                  <c:v>-0.12765003571526989</c:v>
                </c:pt>
                <c:pt idx="39">
                  <c:v>-0.11590130563216494</c:v>
                </c:pt>
                <c:pt idx="40">
                  <c:v>6.0164335913137634E-3</c:v>
                </c:pt>
                <c:pt idx="41">
                  <c:v>8.1210689822267312E-2</c:v>
                </c:pt>
                <c:pt idx="42">
                  <c:v>-2.6158353273581625E-2</c:v>
                </c:pt>
                <c:pt idx="43">
                  <c:v>-0.11054784177913923</c:v>
                </c:pt>
                <c:pt idx="44">
                  <c:v>-4.1974950816332068E-2</c:v>
                </c:pt>
                <c:pt idx="45">
                  <c:v>-0.4441518422557369</c:v>
                </c:pt>
                <c:pt idx="46">
                  <c:v>-0.48848945772105878</c:v>
                </c:pt>
                <c:pt idx="47">
                  <c:v>-0.72703607036803319</c:v>
                </c:pt>
                <c:pt idx="48">
                  <c:v>-0.81535153646141723</c:v>
                </c:pt>
                <c:pt idx="49">
                  <c:v>-0.80137994909425636</c:v>
                </c:pt>
                <c:pt idx="50">
                  <c:v>-0.79191455551332623</c:v>
                </c:pt>
                <c:pt idx="51">
                  <c:v>-0.81825890278880387</c:v>
                </c:pt>
                <c:pt idx="52">
                  <c:v>-0.81679185950656397</c:v>
                </c:pt>
                <c:pt idx="53">
                  <c:v>-0.78822629965523205</c:v>
                </c:pt>
                <c:pt idx="54">
                  <c:v>-0.56014906609980031</c:v>
                </c:pt>
                <c:pt idx="55">
                  <c:v>-0.50593747748939855</c:v>
                </c:pt>
                <c:pt idx="56">
                  <c:v>-0.5077679638203616</c:v>
                </c:pt>
                <c:pt idx="57">
                  <c:v>-0.23191740208103617</c:v>
                </c:pt>
                <c:pt idx="58">
                  <c:v>6.0492921606568828E-2</c:v>
                </c:pt>
                <c:pt idx="59">
                  <c:v>0.24433678816797411</c:v>
                </c:pt>
                <c:pt idx="60">
                  <c:v>0.10915822224139049</c:v>
                </c:pt>
                <c:pt idx="61">
                  <c:v>-0.6759527894544064</c:v>
                </c:pt>
              </c:numCache>
            </c:numRef>
          </c:val>
          <c:smooth val="0"/>
          <c:extLst>
            <c:ext xmlns:c16="http://schemas.microsoft.com/office/drawing/2014/chart" uri="{C3380CC4-5D6E-409C-BE32-E72D297353CC}">
              <c16:uniqueId val="{00000000-D317-404E-9ADA-5724AA6F3C1C}"/>
            </c:ext>
          </c:extLst>
        </c:ser>
        <c:dLbls>
          <c:showLegendKey val="0"/>
          <c:showVal val="0"/>
          <c:showCatName val="0"/>
          <c:showSerName val="0"/>
          <c:showPercent val="0"/>
          <c:showBubbleSize val="0"/>
        </c:dLbls>
        <c:smooth val="0"/>
        <c:axId val="590767416"/>
        <c:axId val="590767088"/>
      </c:lineChart>
      <c:catAx>
        <c:axId val="590767416"/>
        <c:scaling>
          <c:orientation val="minMax"/>
        </c:scaling>
        <c:delete val="1"/>
        <c:axPos val="b"/>
        <c:numFmt formatCode="General" sourceLinked="1"/>
        <c:majorTickMark val="none"/>
        <c:minorTickMark val="none"/>
        <c:tickLblPos val="nextTo"/>
        <c:crossAx val="590767088"/>
        <c:crosses val="autoZero"/>
        <c:auto val="1"/>
        <c:lblAlgn val="ctr"/>
        <c:lblOffset val="100"/>
        <c:noMultiLvlLbl val="0"/>
      </c:catAx>
      <c:valAx>
        <c:axId val="590767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0767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2000-2019</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Sheet2!$L$1</c:f>
              <c:strCache>
                <c:ptCount val="1"/>
                <c:pt idx="0">
                  <c:v>2000-2020</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Sheet2!$L$2:$L$63</c:f>
              <c:numCache>
                <c:formatCode>General</c:formatCode>
                <c:ptCount val="62"/>
                <c:pt idx="0">
                  <c:v>1.2435258037228198</c:v>
                </c:pt>
                <c:pt idx="1">
                  <c:v>1.2953215462848391</c:v>
                </c:pt>
                <c:pt idx="2">
                  <c:v>0.96304950498529873</c:v>
                </c:pt>
                <c:pt idx="3">
                  <c:v>0.94554510851579554</c:v>
                </c:pt>
                <c:pt idx="4">
                  <c:v>1.2163198739690664</c:v>
                </c:pt>
                <c:pt idx="5">
                  <c:v>1.1990454930043954</c:v>
                </c:pt>
                <c:pt idx="6">
                  <c:v>1.405133518831474</c:v>
                </c:pt>
                <c:pt idx="7">
                  <c:v>1.4239491284630503</c:v>
                </c:pt>
                <c:pt idx="8">
                  <c:v>1.3578350631372835</c:v>
                </c:pt>
                <c:pt idx="9">
                  <c:v>1.2975699267506462</c:v>
                </c:pt>
                <c:pt idx="10">
                  <c:v>1.6079996086408146</c:v>
                </c:pt>
                <c:pt idx="11">
                  <c:v>1.6358982493217242</c:v>
                </c:pt>
                <c:pt idx="12">
                  <c:v>1.6395424188582242</c:v>
                </c:pt>
                <c:pt idx="13">
                  <c:v>1.6578357522895839</c:v>
                </c:pt>
                <c:pt idx="14">
                  <c:v>1.6639591302055114</c:v>
                </c:pt>
                <c:pt idx="15">
                  <c:v>1.6787406030731002</c:v>
                </c:pt>
                <c:pt idx="16">
                  <c:v>1.6262000075836847</c:v>
                </c:pt>
                <c:pt idx="17">
                  <c:v>1.6458671764431783</c:v>
                </c:pt>
                <c:pt idx="18">
                  <c:v>1.5050820391769362</c:v>
                </c:pt>
                <c:pt idx="19">
                  <c:v>1.4949157524154488</c:v>
                </c:pt>
                <c:pt idx="20">
                  <c:v>1.4105969549209574</c:v>
                </c:pt>
                <c:pt idx="21">
                  <c:v>1.3869267912491701</c:v>
                </c:pt>
                <c:pt idx="22">
                  <c:v>1.4482455104330674</c:v>
                </c:pt>
                <c:pt idx="23">
                  <c:v>1.4463355978689352</c:v>
                </c:pt>
                <c:pt idx="24">
                  <c:v>1.3547269595978211</c:v>
                </c:pt>
                <c:pt idx="25">
                  <c:v>1.1253658267398139</c:v>
                </c:pt>
                <c:pt idx="26">
                  <c:v>1.1750869012403857</c:v>
                </c:pt>
                <c:pt idx="27">
                  <c:v>1.2339897887621643</c:v>
                </c:pt>
                <c:pt idx="28">
                  <c:v>1.2433369832465466</c:v>
                </c:pt>
                <c:pt idx="29">
                  <c:v>1.213394811377893</c:v>
                </c:pt>
                <c:pt idx="30">
                  <c:v>1.2443760605705974</c:v>
                </c:pt>
                <c:pt idx="31">
                  <c:v>1.2779884082498718</c:v>
                </c:pt>
                <c:pt idx="32">
                  <c:v>1.2901065738966482</c:v>
                </c:pt>
                <c:pt idx="33">
                  <c:v>1.3239627654090267</c:v>
                </c:pt>
                <c:pt idx="34">
                  <c:v>1.2763086055700423</c:v>
                </c:pt>
                <c:pt idx="35">
                  <c:v>1.3289604393107775</c:v>
                </c:pt>
                <c:pt idx="36">
                  <c:v>1.3498955496947014</c:v>
                </c:pt>
                <c:pt idx="37">
                  <c:v>1.4846903702816689</c:v>
                </c:pt>
                <c:pt idx="38">
                  <c:v>1.4206070839019436</c:v>
                </c:pt>
                <c:pt idx="39">
                  <c:v>1.4278932427868591</c:v>
                </c:pt>
                <c:pt idx="40">
                  <c:v>1.3550817157449311</c:v>
                </c:pt>
                <c:pt idx="41">
                  <c:v>1.107077055706764</c:v>
                </c:pt>
                <c:pt idx="42">
                  <c:v>1.1074019774971937</c:v>
                </c:pt>
                <c:pt idx="43">
                  <c:v>1.1075316578085008</c:v>
                </c:pt>
                <c:pt idx="44">
                  <c:v>1.094279985414591</c:v>
                </c:pt>
                <c:pt idx="45">
                  <c:v>1.0474252994853135</c:v>
                </c:pt>
                <c:pt idx="46">
                  <c:v>1.048889825760293</c:v>
                </c:pt>
                <c:pt idx="47">
                  <c:v>1.0298400893286548</c:v>
                </c:pt>
                <c:pt idx="48">
                  <c:v>1.2285838862616156</c:v>
                </c:pt>
                <c:pt idx="49">
                  <c:v>1.2181072656176219</c:v>
                </c:pt>
                <c:pt idx="50">
                  <c:v>1.222340535869515</c:v>
                </c:pt>
                <c:pt idx="51">
                  <c:v>1.2528518562512136</c:v>
                </c:pt>
                <c:pt idx="52">
                  <c:v>1.2987645261858738</c:v>
                </c:pt>
                <c:pt idx="53">
                  <c:v>1.3465000950822503</c:v>
                </c:pt>
                <c:pt idx="54">
                  <c:v>1.3235104142890766</c:v>
                </c:pt>
                <c:pt idx="55">
                  <c:v>1.3613931347255761</c:v>
                </c:pt>
                <c:pt idx="56">
                  <c:v>1.4258192578150286</c:v>
                </c:pt>
                <c:pt idx="57">
                  <c:v>1.1942031208350929</c:v>
                </c:pt>
                <c:pt idx="58">
                  <c:v>1.008002785389289</c:v>
                </c:pt>
                <c:pt idx="59">
                  <c:v>0.69858771968144673</c:v>
                </c:pt>
                <c:pt idx="60">
                  <c:v>0.6792053405115297</c:v>
                </c:pt>
                <c:pt idx="61">
                  <c:v>0.70928033258462264</c:v>
                </c:pt>
              </c:numCache>
            </c:numRef>
          </c:val>
          <c:smooth val="0"/>
          <c:extLst>
            <c:ext xmlns:c16="http://schemas.microsoft.com/office/drawing/2014/chart" uri="{C3380CC4-5D6E-409C-BE32-E72D297353CC}">
              <c16:uniqueId val="{00000000-1D11-406B-8B84-9ED1AED5CEAA}"/>
            </c:ext>
          </c:extLst>
        </c:ser>
        <c:dLbls>
          <c:showLegendKey val="0"/>
          <c:showVal val="0"/>
          <c:showCatName val="0"/>
          <c:showSerName val="0"/>
          <c:showPercent val="0"/>
          <c:showBubbleSize val="0"/>
        </c:dLbls>
        <c:smooth val="0"/>
        <c:axId val="591743400"/>
        <c:axId val="591746024"/>
      </c:lineChart>
      <c:catAx>
        <c:axId val="591743400"/>
        <c:scaling>
          <c:orientation val="minMax"/>
        </c:scaling>
        <c:delete val="1"/>
        <c:axPos val="b"/>
        <c:numFmt formatCode="General" sourceLinked="1"/>
        <c:majorTickMark val="none"/>
        <c:minorTickMark val="none"/>
        <c:tickLblPos val="nextTo"/>
        <c:crossAx val="591746024"/>
        <c:crosses val="autoZero"/>
        <c:auto val="1"/>
        <c:lblAlgn val="ctr"/>
        <c:lblOffset val="100"/>
        <c:noMultiLvlLbl val="0"/>
      </c:catAx>
      <c:valAx>
        <c:axId val="591746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17434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1980-2019</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8209585120382937E-2"/>
          <c:y val="9.1203441989581524E-2"/>
          <c:w val="0.94961276567091923"/>
          <c:h val="0.88039164485508559"/>
        </c:manualLayout>
      </c:layout>
      <c:lineChart>
        <c:grouping val="standard"/>
        <c:varyColors val="0"/>
        <c:ser>
          <c:idx val="0"/>
          <c:order val="0"/>
          <c:tx>
            <c:strRef>
              <c:f>[GIC.xlsx]Sheet2!$M$1</c:f>
              <c:strCache>
                <c:ptCount val="1"/>
                <c:pt idx="0">
                  <c:v>1980-2020</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numRef>
              <c:f>[GIC.xlsx]Sheet2!$A$2:$A$63</c:f>
              <c:numCache>
                <c:formatCode>General</c:formatCode>
                <c:ptCount val="6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numCache>
            </c:numRef>
          </c:cat>
          <c:val>
            <c:numRef>
              <c:f>[GIC.xlsx]Sheet2!$M$2:$M$63</c:f>
              <c:numCache>
                <c:formatCode>General</c:formatCode>
                <c:ptCount val="62"/>
                <c:pt idx="0">
                  <c:v>2.6206538905423074</c:v>
                </c:pt>
                <c:pt idx="1">
                  <c:v>1.6877201388283574</c:v>
                </c:pt>
                <c:pt idx="2">
                  <c:v>1.4126815488620315</c:v>
                </c:pt>
                <c:pt idx="3">
                  <c:v>1.0839065032937709</c:v>
                </c:pt>
                <c:pt idx="4">
                  <c:v>1.4113133345568514</c:v>
                </c:pt>
                <c:pt idx="5">
                  <c:v>1.3581501355901144</c:v>
                </c:pt>
                <c:pt idx="6">
                  <c:v>1.4062908775975194</c:v>
                </c:pt>
                <c:pt idx="7">
                  <c:v>1.4893458952499135</c:v>
                </c:pt>
                <c:pt idx="8">
                  <c:v>1.6591606345393091</c:v>
                </c:pt>
                <c:pt idx="9">
                  <c:v>1.5889190585878792</c:v>
                </c:pt>
                <c:pt idx="10">
                  <c:v>1.8497270158600196</c:v>
                </c:pt>
                <c:pt idx="11">
                  <c:v>1.836340505228506</c:v>
                </c:pt>
                <c:pt idx="12">
                  <c:v>1.8610304771744239</c:v>
                </c:pt>
                <c:pt idx="13">
                  <c:v>1.7555530293275545</c:v>
                </c:pt>
                <c:pt idx="14">
                  <c:v>1.6486980070334596</c:v>
                </c:pt>
                <c:pt idx="15">
                  <c:v>1.8194138261572101</c:v>
                </c:pt>
                <c:pt idx="16">
                  <c:v>1.889387102322523</c:v>
                </c:pt>
                <c:pt idx="17">
                  <c:v>1.7702803080658107</c:v>
                </c:pt>
                <c:pt idx="18">
                  <c:v>1.7427587328011604</c:v>
                </c:pt>
                <c:pt idx="19">
                  <c:v>1.6398236845231811</c:v>
                </c:pt>
                <c:pt idx="20">
                  <c:v>1.6172528928363219</c:v>
                </c:pt>
                <c:pt idx="21">
                  <c:v>1.570961400825305</c:v>
                </c:pt>
                <c:pt idx="22">
                  <c:v>1.6605477238153306</c:v>
                </c:pt>
                <c:pt idx="23">
                  <c:v>1.6558035152018231</c:v>
                </c:pt>
                <c:pt idx="24">
                  <c:v>1.5531947764725507</c:v>
                </c:pt>
                <c:pt idx="25">
                  <c:v>1.3608353819252761</c:v>
                </c:pt>
                <c:pt idx="26">
                  <c:v>1.3882471851738591</c:v>
                </c:pt>
                <c:pt idx="27">
                  <c:v>1.4626347338618801</c:v>
                </c:pt>
                <c:pt idx="28">
                  <c:v>1.4996790695818687</c:v>
                </c:pt>
                <c:pt idx="29">
                  <c:v>1.4837014930118375</c:v>
                </c:pt>
                <c:pt idx="30">
                  <c:v>1.391310625211843</c:v>
                </c:pt>
                <c:pt idx="31">
                  <c:v>1.3798141989676322</c:v>
                </c:pt>
                <c:pt idx="32">
                  <c:v>1.2945487742146238</c:v>
                </c:pt>
                <c:pt idx="33">
                  <c:v>1.2840010484804729</c:v>
                </c:pt>
                <c:pt idx="34">
                  <c:v>1.1736585614091437</c:v>
                </c:pt>
                <c:pt idx="35">
                  <c:v>1.2163150060643497</c:v>
                </c:pt>
                <c:pt idx="36">
                  <c:v>1.2259598712793212</c:v>
                </c:pt>
                <c:pt idx="37">
                  <c:v>1.3646461305772632</c:v>
                </c:pt>
                <c:pt idx="38">
                  <c:v>1.2929570481866737</c:v>
                </c:pt>
                <c:pt idx="39">
                  <c:v>1.3119919371546942</c:v>
                </c:pt>
                <c:pt idx="40">
                  <c:v>1.3610981493362448</c:v>
                </c:pt>
                <c:pt idx="41">
                  <c:v>1.1882877455290313</c:v>
                </c:pt>
                <c:pt idx="42">
                  <c:v>1.0812436242236121</c:v>
                </c:pt>
                <c:pt idx="43">
                  <c:v>0.99698381602936159</c:v>
                </c:pt>
                <c:pt idx="44">
                  <c:v>1.052305034598259</c:v>
                </c:pt>
                <c:pt idx="45">
                  <c:v>0.60327345722957659</c:v>
                </c:pt>
                <c:pt idx="46">
                  <c:v>0.56040036803923421</c:v>
                </c:pt>
                <c:pt idx="47">
                  <c:v>0.30280401896062159</c:v>
                </c:pt>
                <c:pt idx="48">
                  <c:v>0.41323234980019841</c:v>
                </c:pt>
                <c:pt idx="49">
                  <c:v>0.41672731652336559</c:v>
                </c:pt>
                <c:pt idx="50">
                  <c:v>0.43042598035618873</c:v>
                </c:pt>
                <c:pt idx="51">
                  <c:v>0.43459295346240978</c:v>
                </c:pt>
                <c:pt idx="52">
                  <c:v>0.48197266667930982</c:v>
                </c:pt>
                <c:pt idx="53">
                  <c:v>0.55827379542701827</c:v>
                </c:pt>
                <c:pt idx="54">
                  <c:v>0.76336134818927626</c:v>
                </c:pt>
                <c:pt idx="55">
                  <c:v>0.85545565723617756</c:v>
                </c:pt>
                <c:pt idx="56">
                  <c:v>0.91805129399466701</c:v>
                </c:pt>
                <c:pt idx="57">
                  <c:v>0.96228571875405677</c:v>
                </c:pt>
                <c:pt idx="58">
                  <c:v>1.0684957069958578</c:v>
                </c:pt>
                <c:pt idx="59">
                  <c:v>0.94292450784942083</c:v>
                </c:pt>
                <c:pt idx="60">
                  <c:v>0.78836356275292019</c:v>
                </c:pt>
                <c:pt idx="61">
                  <c:v>3.3327543130216242E-2</c:v>
                </c:pt>
              </c:numCache>
            </c:numRef>
          </c:val>
          <c:smooth val="0"/>
          <c:extLst>
            <c:ext xmlns:c16="http://schemas.microsoft.com/office/drawing/2014/chart" uri="{C3380CC4-5D6E-409C-BE32-E72D297353CC}">
              <c16:uniqueId val="{00000000-1BDF-4079-BBFF-7CEA65EA5D8D}"/>
            </c:ext>
          </c:extLst>
        </c:ser>
        <c:dLbls>
          <c:showLegendKey val="0"/>
          <c:showVal val="0"/>
          <c:showCatName val="0"/>
          <c:showSerName val="0"/>
          <c:showPercent val="0"/>
          <c:showBubbleSize val="0"/>
        </c:dLbls>
        <c:smooth val="0"/>
        <c:axId val="590772664"/>
        <c:axId val="590767088"/>
      </c:lineChart>
      <c:catAx>
        <c:axId val="590772664"/>
        <c:scaling>
          <c:orientation val="minMax"/>
        </c:scaling>
        <c:delete val="1"/>
        <c:axPos val="b"/>
        <c:numFmt formatCode="General" sourceLinked="1"/>
        <c:majorTickMark val="none"/>
        <c:minorTickMark val="none"/>
        <c:tickLblPos val="nextTo"/>
        <c:crossAx val="590767088"/>
        <c:crosses val="autoZero"/>
        <c:auto val="1"/>
        <c:lblAlgn val="ctr"/>
        <c:lblOffset val="100"/>
        <c:noMultiLvlLbl val="0"/>
      </c:catAx>
      <c:valAx>
        <c:axId val="590767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07726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4" Type="http://schemas.openxmlformats.org/officeDocument/2006/relationships/image" Target="../media/image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4"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C5649C-20C1-472B-B0A3-FAE4083E94F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0DE81610-9E2F-40DB-AE2A-482A2A4DDB58}">
      <dgm:prSet/>
      <dgm:spPr>
        <a:solidFill>
          <a:srgbClr val="5A5A5A"/>
        </a:solidFill>
        <a:effectLst>
          <a:outerShdw blurRad="50800" dist="50800" dir="5400000" algn="ctr" rotWithShape="0">
            <a:srgbClr val="000000">
              <a:alpha val="54000"/>
            </a:srgbClr>
          </a:outerShdw>
        </a:effectLst>
      </dgm:spPr>
      <dgm:t>
        <a:bodyPr/>
        <a:lstStyle/>
        <a:p>
          <a:r>
            <a:rPr lang="en-IN" b="1" dirty="0">
              <a:solidFill>
                <a:schemeClr val="accent2">
                  <a:lumMod val="40000"/>
                  <a:lumOff val="60000"/>
                </a:schemeClr>
              </a:solidFill>
              <a:latin typeface="Times New Roman" panose="02020603050405020304" pitchFamily="18" charset="0"/>
              <a:cs typeface="Times New Roman" panose="02020603050405020304" pitchFamily="18" charset="0"/>
            </a:rPr>
            <a:t>East Asia &amp; Pacific and South Asia </a:t>
          </a:r>
          <a:r>
            <a:rPr lang="en-IN" dirty="0">
              <a:latin typeface="Times New Roman" panose="02020603050405020304" pitchFamily="18" charset="0"/>
              <a:cs typeface="Times New Roman" panose="02020603050405020304" pitchFamily="18" charset="0"/>
            </a:rPr>
            <a:t>have steadily decreased their poverty gaps since the 1990s due to economic growth and reforms</a:t>
          </a:r>
          <a:r>
            <a:rPr lang="en-IN" dirty="0"/>
            <a:t>. </a:t>
          </a:r>
        </a:p>
      </dgm:t>
    </dgm:pt>
    <dgm:pt modelId="{137A73A0-D562-4BFB-810A-28EDD8294C2A}" type="parTrans" cxnId="{D15376EC-869D-4F4F-9AB1-384C3863580D}">
      <dgm:prSet/>
      <dgm:spPr/>
      <dgm:t>
        <a:bodyPr/>
        <a:lstStyle/>
        <a:p>
          <a:endParaRPr lang="en-IN"/>
        </a:p>
      </dgm:t>
    </dgm:pt>
    <dgm:pt modelId="{A4623552-B15F-405E-AFC7-9F7140BDD0D2}" type="sibTrans" cxnId="{D15376EC-869D-4F4F-9AB1-384C3863580D}">
      <dgm:prSet/>
      <dgm:spPr/>
      <dgm:t>
        <a:bodyPr/>
        <a:lstStyle/>
        <a:p>
          <a:endParaRPr lang="en-IN"/>
        </a:p>
      </dgm:t>
    </dgm:pt>
    <dgm:pt modelId="{43048CCA-128D-4058-9BFD-BF9FDA7A35B1}">
      <dgm:prSet/>
      <dgm:spPr>
        <a:solidFill>
          <a:srgbClr val="8B8585"/>
        </a:solidFill>
        <a:effectLst>
          <a:outerShdw blurRad="50800" dist="50800" dir="5400000" algn="ctr" rotWithShape="0">
            <a:srgbClr val="000000">
              <a:alpha val="72000"/>
            </a:srgbClr>
          </a:outerShdw>
        </a:effectLst>
      </dgm:spPr>
      <dgm:t>
        <a:bodyPr/>
        <a:lstStyle/>
        <a:p>
          <a:r>
            <a:rPr lang="en-IN" b="1" dirty="0">
              <a:solidFill>
                <a:schemeClr val="accent2">
                  <a:lumMod val="40000"/>
                  <a:lumOff val="60000"/>
                </a:schemeClr>
              </a:solidFill>
              <a:latin typeface="Times New Roman" panose="02020603050405020304" pitchFamily="18" charset="0"/>
              <a:cs typeface="Times New Roman" panose="02020603050405020304" pitchFamily="18" charset="0"/>
            </a:rPr>
            <a:t>Sub-Saharan Africa</a:t>
          </a:r>
          <a:r>
            <a:rPr lang="en-IN" dirty="0">
              <a:latin typeface="Times New Roman" panose="02020603050405020304" pitchFamily="18" charset="0"/>
              <a:cs typeface="Times New Roman" panose="02020603050405020304" pitchFamily="18" charset="0"/>
            </a:rPr>
            <a:t> has the highest, most fluctuating gap, with peaks in the early 1990s due to structural and political challenges.</a:t>
          </a:r>
        </a:p>
      </dgm:t>
    </dgm:pt>
    <dgm:pt modelId="{7D6F154F-0CBC-495C-9282-B759819C23D4}" type="parTrans" cxnId="{C8B865ED-14AB-4273-92D6-894128A98883}">
      <dgm:prSet/>
      <dgm:spPr/>
      <dgm:t>
        <a:bodyPr/>
        <a:lstStyle/>
        <a:p>
          <a:endParaRPr lang="en-IN"/>
        </a:p>
      </dgm:t>
    </dgm:pt>
    <dgm:pt modelId="{9199720E-406D-428F-952B-F02B8FFFBEE2}" type="sibTrans" cxnId="{C8B865ED-14AB-4273-92D6-894128A98883}">
      <dgm:prSet/>
      <dgm:spPr/>
      <dgm:t>
        <a:bodyPr/>
        <a:lstStyle/>
        <a:p>
          <a:endParaRPr lang="en-IN"/>
        </a:p>
      </dgm:t>
    </dgm:pt>
    <dgm:pt modelId="{1136CE2F-042E-4528-9D2D-77527A2D10AF}">
      <dgm:prSet/>
      <dgm:spPr>
        <a:solidFill>
          <a:srgbClr val="777777"/>
        </a:solidFill>
        <a:effectLst>
          <a:outerShdw blurRad="50800" dist="50800" dir="5400000" algn="ctr" rotWithShape="0">
            <a:srgbClr val="000000">
              <a:alpha val="77000"/>
            </a:srgbClr>
          </a:outerShdw>
        </a:effectLst>
      </dgm:spPr>
      <dgm:t>
        <a:bodyPr/>
        <a:lstStyle/>
        <a:p>
          <a:r>
            <a:rPr lang="en-IN" b="1" dirty="0">
              <a:solidFill>
                <a:schemeClr val="accent2">
                  <a:lumMod val="40000"/>
                  <a:lumOff val="60000"/>
                </a:schemeClr>
              </a:solidFill>
              <a:latin typeface="Times New Roman" panose="02020603050405020304" pitchFamily="18" charset="0"/>
              <a:cs typeface="Times New Roman" panose="02020603050405020304" pitchFamily="18" charset="0"/>
            </a:rPr>
            <a:t>Latin America &amp; Caribbean and Middle East &amp; North Africa </a:t>
          </a:r>
          <a:r>
            <a:rPr lang="en-IN" dirty="0">
              <a:latin typeface="Times New Roman" panose="02020603050405020304" pitchFamily="18" charset="0"/>
              <a:cs typeface="Times New Roman" panose="02020603050405020304" pitchFamily="18" charset="0"/>
            </a:rPr>
            <a:t>maintain low gaps with minor fluctuations.</a:t>
          </a:r>
        </a:p>
      </dgm:t>
    </dgm:pt>
    <dgm:pt modelId="{8D79F653-D670-4AF7-88CB-C711547B67E2}" type="parTrans" cxnId="{89D5200C-A29D-41F6-AF54-4AECDC240F47}">
      <dgm:prSet/>
      <dgm:spPr/>
      <dgm:t>
        <a:bodyPr/>
        <a:lstStyle/>
        <a:p>
          <a:endParaRPr lang="en-IN"/>
        </a:p>
      </dgm:t>
    </dgm:pt>
    <dgm:pt modelId="{55617650-6012-4C09-BDCC-2E7928234DA1}" type="sibTrans" cxnId="{89D5200C-A29D-41F6-AF54-4AECDC240F47}">
      <dgm:prSet/>
      <dgm:spPr/>
      <dgm:t>
        <a:bodyPr/>
        <a:lstStyle/>
        <a:p>
          <a:endParaRPr lang="en-IN"/>
        </a:p>
      </dgm:t>
    </dgm:pt>
    <dgm:pt modelId="{07FCE5E5-9A49-484C-9215-20EEE9FA5AE7}">
      <dgm:prSet/>
      <dgm:spPr>
        <a:solidFill>
          <a:srgbClr val="929292"/>
        </a:solidFill>
        <a:effectLst>
          <a:outerShdw blurRad="50800" dist="50800" dir="5400000" algn="ctr" rotWithShape="0">
            <a:srgbClr val="000000">
              <a:alpha val="69000"/>
            </a:srgbClr>
          </a:outerShdw>
        </a:effectLst>
      </dgm:spPr>
      <dgm:t>
        <a:bodyPr/>
        <a:lstStyle/>
        <a:p>
          <a:r>
            <a:rPr lang="en-IN" b="1" dirty="0">
              <a:solidFill>
                <a:schemeClr val="accent2">
                  <a:lumMod val="40000"/>
                  <a:lumOff val="60000"/>
                </a:schemeClr>
              </a:solidFill>
              <a:latin typeface="Times New Roman" panose="02020603050405020304" pitchFamily="18" charset="0"/>
              <a:cs typeface="Times New Roman" panose="02020603050405020304" pitchFamily="18" charset="0"/>
            </a:rPr>
            <a:t>Middle East </a:t>
          </a:r>
          <a:r>
            <a:rPr lang="en-IN" dirty="0">
              <a:latin typeface="Times New Roman" panose="02020603050405020304" pitchFamily="18" charset="0"/>
              <a:cs typeface="Times New Roman" panose="02020603050405020304" pitchFamily="18" charset="0"/>
            </a:rPr>
            <a:t>experiences occasional conflict-related spikes. High-income countries remain stable with consistently low poverty gaps</a:t>
          </a:r>
        </a:p>
      </dgm:t>
    </dgm:pt>
    <dgm:pt modelId="{1E86D25C-876E-49ED-9FED-FC54FAF23048}" type="parTrans" cxnId="{3B1580EA-5CFE-41EA-9FEA-8501D06A323A}">
      <dgm:prSet/>
      <dgm:spPr/>
      <dgm:t>
        <a:bodyPr/>
        <a:lstStyle/>
        <a:p>
          <a:endParaRPr lang="en-IN"/>
        </a:p>
      </dgm:t>
    </dgm:pt>
    <dgm:pt modelId="{9CE5A6E3-C133-43B5-8F64-892CE1F8DCE0}" type="sibTrans" cxnId="{3B1580EA-5CFE-41EA-9FEA-8501D06A323A}">
      <dgm:prSet/>
      <dgm:spPr/>
      <dgm:t>
        <a:bodyPr/>
        <a:lstStyle/>
        <a:p>
          <a:endParaRPr lang="en-IN"/>
        </a:p>
      </dgm:t>
    </dgm:pt>
    <dgm:pt modelId="{D3AFBD82-763C-4731-B077-ECE25F0013AE}" type="pres">
      <dgm:prSet presAssocID="{97C5649C-20C1-472B-B0A3-FAE4083E94FF}" presName="linearFlow" presStyleCnt="0">
        <dgm:presLayoutVars>
          <dgm:dir/>
          <dgm:resizeHandles val="exact"/>
        </dgm:presLayoutVars>
      </dgm:prSet>
      <dgm:spPr/>
    </dgm:pt>
    <dgm:pt modelId="{E5E9BD3C-D3F7-4B15-9890-0D5AD8B4C539}" type="pres">
      <dgm:prSet presAssocID="{0DE81610-9E2F-40DB-AE2A-482A2A4DDB58}" presName="composite" presStyleCnt="0"/>
      <dgm:spPr/>
    </dgm:pt>
    <dgm:pt modelId="{010B6096-C9FC-4B6E-9ACD-23603C8B40BA}" type="pres">
      <dgm:prSet presAssocID="{0DE81610-9E2F-40DB-AE2A-482A2A4DDB58}" presName="imgShp" presStyleLbl="fgImgPlace1" presStyleIdx="0" presStyleCnt="4" custScaleX="233034" custScaleY="240098" custLinFactX="-55646" custLinFactNeighborX="-100000" custLinFactNeighborY="37667"/>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effectLst>
          <a:outerShdw blurRad="50800" dist="50800" dir="5400000" algn="ctr" rotWithShape="0">
            <a:srgbClr val="000000">
              <a:alpha val="0"/>
            </a:srgbClr>
          </a:outerShdw>
          <a:reflection stA="0" endPos="65000" dist="50800" dir="5400000" sy="-100000" algn="bl" rotWithShape="0"/>
        </a:effectLst>
      </dgm:spPr>
    </dgm:pt>
    <dgm:pt modelId="{F88F7971-F694-40AC-81B8-962CF3C98690}" type="pres">
      <dgm:prSet presAssocID="{0DE81610-9E2F-40DB-AE2A-482A2A4DDB58}" presName="txShp" presStyleLbl="node1" presStyleIdx="0" presStyleCnt="4" custScaleX="104809" custScaleY="181861" custLinFactNeighborX="-5722" custLinFactNeighborY="39352">
        <dgm:presLayoutVars>
          <dgm:bulletEnabled val="1"/>
        </dgm:presLayoutVars>
      </dgm:prSet>
      <dgm:spPr/>
    </dgm:pt>
    <dgm:pt modelId="{03B766BF-6D89-4221-8C20-94813B35FB5F}" type="pres">
      <dgm:prSet presAssocID="{A4623552-B15F-405E-AFC7-9F7140BDD0D2}" presName="spacing" presStyleCnt="0"/>
      <dgm:spPr/>
    </dgm:pt>
    <dgm:pt modelId="{D5A589F2-9ABE-4BB7-AF3C-16DD9E2B2D2B}" type="pres">
      <dgm:prSet presAssocID="{43048CCA-128D-4058-9BFD-BF9FDA7A35B1}" presName="composite" presStyleCnt="0"/>
      <dgm:spPr/>
    </dgm:pt>
    <dgm:pt modelId="{95ED44B0-207D-45E3-B878-0F9AE59D1176}" type="pres">
      <dgm:prSet presAssocID="{43048CCA-128D-4058-9BFD-BF9FDA7A35B1}" presName="imgShp" presStyleLbl="fgImgPlace1" presStyleIdx="1" presStyleCnt="4" custScaleX="230135" custScaleY="215802" custLinFactX="585299" custLinFactNeighborX="600000" custLinFactNeighborY="-2686"/>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159D6EE1-3B3F-43B1-91E7-766BBCEDE768}" type="pres">
      <dgm:prSet presAssocID="{43048CCA-128D-4058-9BFD-BF9FDA7A35B1}" presName="txShp" presStyleLbl="node1" presStyleIdx="1" presStyleCnt="4" custFlipVert="1" custFlipHor="1" custScaleX="117055" custScaleY="153458" custLinFactNeighborX="-12783" custLinFactNeighborY="-8339">
        <dgm:presLayoutVars>
          <dgm:bulletEnabled val="1"/>
        </dgm:presLayoutVars>
      </dgm:prSet>
      <dgm:spPr/>
    </dgm:pt>
    <dgm:pt modelId="{B798BAC4-E6F5-4F11-B9A0-2815B4CEF3BA}" type="pres">
      <dgm:prSet presAssocID="{9199720E-406D-428F-952B-F02B8FFFBEE2}" presName="spacing" presStyleCnt="0"/>
      <dgm:spPr/>
    </dgm:pt>
    <dgm:pt modelId="{E63C02B4-02CD-4341-A9F6-9C38546FE1FC}" type="pres">
      <dgm:prSet presAssocID="{1136CE2F-042E-4528-9D2D-77527A2D10AF}" presName="composite" presStyleCnt="0"/>
      <dgm:spPr/>
    </dgm:pt>
    <dgm:pt modelId="{7A0417F4-5E21-42F0-AE52-B0F67B701059}" type="pres">
      <dgm:prSet presAssocID="{1136CE2F-042E-4528-9D2D-77527A2D10AF}" presName="imgShp" presStyleLbl="fgImgPlace1" presStyleIdx="2" presStyleCnt="4" custScaleX="245606" custScaleY="229349" custLinFactX="-55027" custLinFactNeighborX="-100000" custLinFactNeighborY="-7464"/>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C283397B-198B-4970-A4EB-11183086874A}" type="pres">
      <dgm:prSet presAssocID="{1136CE2F-042E-4528-9D2D-77527A2D10AF}" presName="txShp" presStyleLbl="node1" presStyleIdx="2" presStyleCnt="4" custScaleX="113071" custScaleY="159031" custLinFactNeighborX="433" custLinFactNeighborY="-15347">
        <dgm:presLayoutVars>
          <dgm:bulletEnabled val="1"/>
        </dgm:presLayoutVars>
      </dgm:prSet>
      <dgm:spPr/>
    </dgm:pt>
    <dgm:pt modelId="{B13239A9-A75A-4143-9377-94C246B20267}" type="pres">
      <dgm:prSet presAssocID="{55617650-6012-4C09-BDCC-2E7928234DA1}" presName="spacing" presStyleCnt="0"/>
      <dgm:spPr/>
    </dgm:pt>
    <dgm:pt modelId="{5353A2DB-7528-41F4-BD48-D7B786C40373}" type="pres">
      <dgm:prSet presAssocID="{07FCE5E5-9A49-484C-9215-20EEE9FA5AE7}" presName="composite" presStyleCnt="0"/>
      <dgm:spPr/>
    </dgm:pt>
    <dgm:pt modelId="{BCF7C4D2-F297-4893-9D39-513E7AB4B0D9}" type="pres">
      <dgm:prSet presAssocID="{07FCE5E5-9A49-484C-9215-20EEE9FA5AE7}" presName="imgShp" presStyleLbl="fgImgPlace1" presStyleIdx="3" presStyleCnt="4" custScaleX="216037" custScaleY="224638" custLinFactX="600000" custLinFactNeighborX="636885" custLinFactNeighborY="-14157"/>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68E75A62-3756-49E9-B74B-41AE439897C9}" type="pres">
      <dgm:prSet presAssocID="{07FCE5E5-9A49-484C-9215-20EEE9FA5AE7}" presName="txShp" presStyleLbl="node1" presStyleIdx="3" presStyleCnt="4" custFlipHor="1" custScaleX="124810" custScaleY="164333" custLinFactNeighborX="-9479" custLinFactNeighborY="-13532">
        <dgm:presLayoutVars>
          <dgm:bulletEnabled val="1"/>
        </dgm:presLayoutVars>
      </dgm:prSet>
      <dgm:spPr/>
    </dgm:pt>
  </dgm:ptLst>
  <dgm:cxnLst>
    <dgm:cxn modelId="{89D5200C-A29D-41F6-AF54-4AECDC240F47}" srcId="{97C5649C-20C1-472B-B0A3-FAE4083E94FF}" destId="{1136CE2F-042E-4528-9D2D-77527A2D10AF}" srcOrd="2" destOrd="0" parTransId="{8D79F653-D670-4AF7-88CB-C711547B67E2}" sibTransId="{55617650-6012-4C09-BDCC-2E7928234DA1}"/>
    <dgm:cxn modelId="{C5BE5725-D795-4290-809D-3E5E73E0BA5D}" type="presOf" srcId="{0DE81610-9E2F-40DB-AE2A-482A2A4DDB58}" destId="{F88F7971-F694-40AC-81B8-962CF3C98690}" srcOrd="0" destOrd="0" presId="urn:microsoft.com/office/officeart/2005/8/layout/vList3"/>
    <dgm:cxn modelId="{AEDD6546-B1A7-4459-A9BD-729821B3763C}" type="presOf" srcId="{97C5649C-20C1-472B-B0A3-FAE4083E94FF}" destId="{D3AFBD82-763C-4731-B077-ECE25F0013AE}" srcOrd="0" destOrd="0" presId="urn:microsoft.com/office/officeart/2005/8/layout/vList3"/>
    <dgm:cxn modelId="{DD80AC82-4621-4079-9E47-1722603B295F}" type="presOf" srcId="{1136CE2F-042E-4528-9D2D-77527A2D10AF}" destId="{C283397B-198B-4970-A4EB-11183086874A}" srcOrd="0" destOrd="0" presId="urn:microsoft.com/office/officeart/2005/8/layout/vList3"/>
    <dgm:cxn modelId="{5453EA86-67DB-461E-B6DA-EB34D31EFEEB}" type="presOf" srcId="{43048CCA-128D-4058-9BFD-BF9FDA7A35B1}" destId="{159D6EE1-3B3F-43B1-91E7-766BBCEDE768}" srcOrd="0" destOrd="0" presId="urn:microsoft.com/office/officeart/2005/8/layout/vList3"/>
    <dgm:cxn modelId="{5EF0D9D6-EF6B-46A9-AAAC-DFDBAFE8068D}" type="presOf" srcId="{07FCE5E5-9A49-484C-9215-20EEE9FA5AE7}" destId="{68E75A62-3756-49E9-B74B-41AE439897C9}" srcOrd="0" destOrd="0" presId="urn:microsoft.com/office/officeart/2005/8/layout/vList3"/>
    <dgm:cxn modelId="{3B1580EA-5CFE-41EA-9FEA-8501D06A323A}" srcId="{97C5649C-20C1-472B-B0A3-FAE4083E94FF}" destId="{07FCE5E5-9A49-484C-9215-20EEE9FA5AE7}" srcOrd="3" destOrd="0" parTransId="{1E86D25C-876E-49ED-9FED-FC54FAF23048}" sibTransId="{9CE5A6E3-C133-43B5-8F64-892CE1F8DCE0}"/>
    <dgm:cxn modelId="{D15376EC-869D-4F4F-9AB1-384C3863580D}" srcId="{97C5649C-20C1-472B-B0A3-FAE4083E94FF}" destId="{0DE81610-9E2F-40DB-AE2A-482A2A4DDB58}" srcOrd="0" destOrd="0" parTransId="{137A73A0-D562-4BFB-810A-28EDD8294C2A}" sibTransId="{A4623552-B15F-405E-AFC7-9F7140BDD0D2}"/>
    <dgm:cxn modelId="{C8B865ED-14AB-4273-92D6-894128A98883}" srcId="{97C5649C-20C1-472B-B0A3-FAE4083E94FF}" destId="{43048CCA-128D-4058-9BFD-BF9FDA7A35B1}" srcOrd="1" destOrd="0" parTransId="{7D6F154F-0CBC-495C-9282-B759819C23D4}" sibTransId="{9199720E-406D-428F-952B-F02B8FFFBEE2}"/>
    <dgm:cxn modelId="{BDDB3BDA-245E-4F82-9E10-55B297301427}" type="presParOf" srcId="{D3AFBD82-763C-4731-B077-ECE25F0013AE}" destId="{E5E9BD3C-D3F7-4B15-9890-0D5AD8B4C539}" srcOrd="0" destOrd="0" presId="urn:microsoft.com/office/officeart/2005/8/layout/vList3"/>
    <dgm:cxn modelId="{634ECF24-4C50-44C6-AC42-FEC82904D228}" type="presParOf" srcId="{E5E9BD3C-D3F7-4B15-9890-0D5AD8B4C539}" destId="{010B6096-C9FC-4B6E-9ACD-23603C8B40BA}" srcOrd="0" destOrd="0" presId="urn:microsoft.com/office/officeart/2005/8/layout/vList3"/>
    <dgm:cxn modelId="{607B69BA-B4B4-46F9-9235-7E8D07E4B8EA}" type="presParOf" srcId="{E5E9BD3C-D3F7-4B15-9890-0D5AD8B4C539}" destId="{F88F7971-F694-40AC-81B8-962CF3C98690}" srcOrd="1" destOrd="0" presId="urn:microsoft.com/office/officeart/2005/8/layout/vList3"/>
    <dgm:cxn modelId="{70FEBF4E-C4A4-4EF1-8E01-851149936C0F}" type="presParOf" srcId="{D3AFBD82-763C-4731-B077-ECE25F0013AE}" destId="{03B766BF-6D89-4221-8C20-94813B35FB5F}" srcOrd="1" destOrd="0" presId="urn:microsoft.com/office/officeart/2005/8/layout/vList3"/>
    <dgm:cxn modelId="{84C30E10-5F30-493C-9DB4-1F5F867E59A7}" type="presParOf" srcId="{D3AFBD82-763C-4731-B077-ECE25F0013AE}" destId="{D5A589F2-9ABE-4BB7-AF3C-16DD9E2B2D2B}" srcOrd="2" destOrd="0" presId="urn:microsoft.com/office/officeart/2005/8/layout/vList3"/>
    <dgm:cxn modelId="{8F626BE0-021A-4DEB-94A9-CE7D7DEC0B53}" type="presParOf" srcId="{D5A589F2-9ABE-4BB7-AF3C-16DD9E2B2D2B}" destId="{95ED44B0-207D-45E3-B878-0F9AE59D1176}" srcOrd="0" destOrd="0" presId="urn:microsoft.com/office/officeart/2005/8/layout/vList3"/>
    <dgm:cxn modelId="{4360BACD-BE8E-4834-88CA-54F089D2B9D8}" type="presParOf" srcId="{D5A589F2-9ABE-4BB7-AF3C-16DD9E2B2D2B}" destId="{159D6EE1-3B3F-43B1-91E7-766BBCEDE768}" srcOrd="1" destOrd="0" presId="urn:microsoft.com/office/officeart/2005/8/layout/vList3"/>
    <dgm:cxn modelId="{9B0A683F-179F-452C-93B8-F4ADA78DC1EF}" type="presParOf" srcId="{D3AFBD82-763C-4731-B077-ECE25F0013AE}" destId="{B798BAC4-E6F5-4F11-B9A0-2815B4CEF3BA}" srcOrd="3" destOrd="0" presId="urn:microsoft.com/office/officeart/2005/8/layout/vList3"/>
    <dgm:cxn modelId="{1DE04A00-F713-4C43-B0DD-8D9CF40FC06B}" type="presParOf" srcId="{D3AFBD82-763C-4731-B077-ECE25F0013AE}" destId="{E63C02B4-02CD-4341-A9F6-9C38546FE1FC}" srcOrd="4" destOrd="0" presId="urn:microsoft.com/office/officeart/2005/8/layout/vList3"/>
    <dgm:cxn modelId="{4EA5D214-CB3C-4973-9BB3-B7F0F96CB5F7}" type="presParOf" srcId="{E63C02B4-02CD-4341-A9F6-9C38546FE1FC}" destId="{7A0417F4-5E21-42F0-AE52-B0F67B701059}" srcOrd="0" destOrd="0" presId="urn:microsoft.com/office/officeart/2005/8/layout/vList3"/>
    <dgm:cxn modelId="{A95E0341-2B97-4BFE-B8EC-1553E2E559A0}" type="presParOf" srcId="{E63C02B4-02CD-4341-A9F6-9C38546FE1FC}" destId="{C283397B-198B-4970-A4EB-11183086874A}" srcOrd="1" destOrd="0" presId="urn:microsoft.com/office/officeart/2005/8/layout/vList3"/>
    <dgm:cxn modelId="{E2E073D1-B9ED-4B84-AA7E-B9741D1274A1}" type="presParOf" srcId="{D3AFBD82-763C-4731-B077-ECE25F0013AE}" destId="{B13239A9-A75A-4143-9377-94C246B20267}" srcOrd="5" destOrd="0" presId="urn:microsoft.com/office/officeart/2005/8/layout/vList3"/>
    <dgm:cxn modelId="{8256342E-E3EF-47FC-A26F-8EC3F7EDCF71}" type="presParOf" srcId="{D3AFBD82-763C-4731-B077-ECE25F0013AE}" destId="{5353A2DB-7528-41F4-BD48-D7B786C40373}" srcOrd="6" destOrd="0" presId="urn:microsoft.com/office/officeart/2005/8/layout/vList3"/>
    <dgm:cxn modelId="{4DE07C74-5586-4A6B-AE1D-C6310F9C1C4B}" type="presParOf" srcId="{5353A2DB-7528-41F4-BD48-D7B786C40373}" destId="{BCF7C4D2-F297-4893-9D39-513E7AB4B0D9}" srcOrd="0" destOrd="0" presId="urn:microsoft.com/office/officeart/2005/8/layout/vList3"/>
    <dgm:cxn modelId="{34987C94-4A04-472B-9283-311C2678CAF6}" type="presParOf" srcId="{5353A2DB-7528-41F4-BD48-D7B786C40373}" destId="{68E75A62-3756-49E9-B74B-41AE439897C9}" srcOrd="1" destOrd="0" presId="urn:microsoft.com/office/officeart/2005/8/layout/vList3"/>
  </dgm:cxnLst>
  <dgm:bg>
    <a:solidFill>
      <a:srgbClr val="3F3F3F"/>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577913-F7E6-4919-B5CC-DD573D1D16B9}"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12FDAC65-9908-4134-9E8C-09538447E35D}">
      <dgm:prSet custT="1"/>
      <dgm:spPr>
        <a:solidFill>
          <a:srgbClr val="757575"/>
        </a:solidFill>
      </dgm:spPr>
      <dgm:t>
        <a:bodyPr/>
        <a:lstStyle/>
        <a:p>
          <a:r>
            <a:rPr lang="en-US" sz="1600" b="1" dirty="0">
              <a:solidFill>
                <a:schemeClr val="bg1">
                  <a:lumMod val="95000"/>
                </a:schemeClr>
              </a:solidFill>
              <a:latin typeface="Times New Roman" panose="02020603050405020304" pitchFamily="18" charset="0"/>
              <a:cs typeface="Times New Roman" panose="02020603050405020304" pitchFamily="18" charset="0"/>
            </a:rPr>
            <a:t>A slow but steady journey toward equality: How industrialization, globalization, and pro-poor policies shaped income distribution</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dgm:t>
    </dgm:pt>
    <dgm:pt modelId="{61B6CF71-8510-41EA-ABB1-E2314CE3C243}" type="parTrans" cxnId="{005371CA-AEF6-42A7-8D50-5584C8F77005}">
      <dgm:prSet/>
      <dgm:spPr/>
      <dgm:t>
        <a:bodyPr/>
        <a:lstStyle/>
        <a:p>
          <a:endParaRPr lang="en-IN"/>
        </a:p>
      </dgm:t>
    </dgm:pt>
    <dgm:pt modelId="{665B84A5-3FE9-423D-A087-FAC122432513}" type="sibTrans" cxnId="{005371CA-AEF6-42A7-8D50-5584C8F77005}">
      <dgm:prSet/>
      <dgm:spPr/>
      <dgm:t>
        <a:bodyPr/>
        <a:lstStyle/>
        <a:p>
          <a:endParaRPr lang="en-IN"/>
        </a:p>
      </dgm:t>
    </dgm:pt>
    <dgm:pt modelId="{65EB439A-8A9A-4880-92C0-4209088E202F}" type="pres">
      <dgm:prSet presAssocID="{5F577913-F7E6-4919-B5CC-DD573D1D16B9}" presName="CompostProcess" presStyleCnt="0">
        <dgm:presLayoutVars>
          <dgm:dir/>
          <dgm:resizeHandles val="exact"/>
        </dgm:presLayoutVars>
      </dgm:prSet>
      <dgm:spPr/>
    </dgm:pt>
    <dgm:pt modelId="{DC323836-B9AB-435F-863F-C7095D8054AB}" type="pres">
      <dgm:prSet presAssocID="{5F577913-F7E6-4919-B5CC-DD573D1D16B9}" presName="arrow" presStyleLbl="bgShp" presStyleIdx="0" presStyleCnt="1" custScaleX="117647" custLinFactNeighborX="6506" custLinFactNeighborY="10471"/>
      <dgm:spPr>
        <a:solidFill>
          <a:srgbClr val="AFB7A9"/>
        </a:solidFill>
      </dgm:spPr>
    </dgm:pt>
    <dgm:pt modelId="{69885A7B-3B05-4E22-87FA-8820FFB01365}" type="pres">
      <dgm:prSet presAssocID="{5F577913-F7E6-4919-B5CC-DD573D1D16B9}" presName="linearProcess" presStyleCnt="0"/>
      <dgm:spPr/>
    </dgm:pt>
    <dgm:pt modelId="{A402A7D4-41AC-4778-8E99-95BCAFCD699F}" type="pres">
      <dgm:prSet presAssocID="{12FDAC65-9908-4134-9E8C-09538447E35D}" presName="textNode" presStyleLbl="node1" presStyleIdx="0" presStyleCnt="1" custScaleX="238295" custScaleY="200369" custLinFactNeighborX="-3412" custLinFactNeighborY="966">
        <dgm:presLayoutVars>
          <dgm:bulletEnabled val="1"/>
        </dgm:presLayoutVars>
      </dgm:prSet>
      <dgm:spPr/>
    </dgm:pt>
  </dgm:ptLst>
  <dgm:cxnLst>
    <dgm:cxn modelId="{8601A562-9165-4F92-8B88-1BEE353BD3F0}" type="presOf" srcId="{5F577913-F7E6-4919-B5CC-DD573D1D16B9}" destId="{65EB439A-8A9A-4880-92C0-4209088E202F}" srcOrd="0" destOrd="0" presId="urn:microsoft.com/office/officeart/2005/8/layout/hProcess9"/>
    <dgm:cxn modelId="{005371CA-AEF6-42A7-8D50-5584C8F77005}" srcId="{5F577913-F7E6-4919-B5CC-DD573D1D16B9}" destId="{12FDAC65-9908-4134-9E8C-09538447E35D}" srcOrd="0" destOrd="0" parTransId="{61B6CF71-8510-41EA-ABB1-E2314CE3C243}" sibTransId="{665B84A5-3FE9-423D-A087-FAC122432513}"/>
    <dgm:cxn modelId="{C7C70FCC-6F47-42D2-8801-F37C2E8026C2}" type="presOf" srcId="{12FDAC65-9908-4134-9E8C-09538447E35D}" destId="{A402A7D4-41AC-4778-8E99-95BCAFCD699F}" srcOrd="0" destOrd="0" presId="urn:microsoft.com/office/officeart/2005/8/layout/hProcess9"/>
    <dgm:cxn modelId="{C44038D3-C855-4644-B340-47357C493FA8}" type="presParOf" srcId="{65EB439A-8A9A-4880-92C0-4209088E202F}" destId="{DC323836-B9AB-435F-863F-C7095D8054AB}" srcOrd="0" destOrd="0" presId="urn:microsoft.com/office/officeart/2005/8/layout/hProcess9"/>
    <dgm:cxn modelId="{ACD2AB07-B508-4A12-9851-A2471EDA4C37}" type="presParOf" srcId="{65EB439A-8A9A-4880-92C0-4209088E202F}" destId="{69885A7B-3B05-4E22-87FA-8820FFB01365}" srcOrd="1" destOrd="0" presId="urn:microsoft.com/office/officeart/2005/8/layout/hProcess9"/>
    <dgm:cxn modelId="{788E4105-5451-439C-A7E9-C3103ECCB7FA}" type="presParOf" srcId="{69885A7B-3B05-4E22-87FA-8820FFB01365}" destId="{A402A7D4-41AC-4778-8E99-95BCAFCD699F}"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1C9F24-FD55-4BA6-A836-9DB38EE40C56}"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CA3A44F3-EB26-4C94-A676-E12BD3E29A15}">
      <dgm:prSet/>
      <dgm:spPr>
        <a:solidFill>
          <a:schemeClr val="tx1">
            <a:lumMod val="65000"/>
            <a:lumOff val="35000"/>
          </a:schemeClr>
        </a:solidFill>
      </dgm:spPr>
      <dgm:t>
        <a:bodyPr/>
        <a:lstStyle/>
        <a:p>
          <a:r>
            <a:rPr lang="en-US" b="1" dirty="0">
              <a:latin typeface="Arial" panose="020B0604020202020204" pitchFamily="34" charset="0"/>
              <a:cs typeface="Arial" panose="020B0604020202020204" pitchFamily="34" charset="0"/>
            </a:rPr>
            <a:t>Transforming inequality: Export-led growth and social programs turned the tide in upper-middle-income countries</a:t>
          </a:r>
          <a:r>
            <a:rPr lang="en-US" b="1" dirty="0"/>
            <a:t>.</a:t>
          </a:r>
          <a:endParaRPr lang="en-IN" dirty="0"/>
        </a:p>
      </dgm:t>
    </dgm:pt>
    <dgm:pt modelId="{BCD7F87E-2DD2-44BB-9DDA-67F3AA591A1B}" type="parTrans" cxnId="{42E9AF34-0EFF-4E90-9BC8-371D096F1D1C}">
      <dgm:prSet/>
      <dgm:spPr/>
      <dgm:t>
        <a:bodyPr/>
        <a:lstStyle/>
        <a:p>
          <a:endParaRPr lang="en-IN"/>
        </a:p>
      </dgm:t>
    </dgm:pt>
    <dgm:pt modelId="{868AFA71-271B-4B36-88E0-D0C5050436E1}" type="sibTrans" cxnId="{42E9AF34-0EFF-4E90-9BC8-371D096F1D1C}">
      <dgm:prSet/>
      <dgm:spPr/>
      <dgm:t>
        <a:bodyPr/>
        <a:lstStyle/>
        <a:p>
          <a:endParaRPr lang="en-IN"/>
        </a:p>
      </dgm:t>
    </dgm:pt>
    <dgm:pt modelId="{99AA05F2-C66B-437A-B8FD-170448ED77AF}" type="pres">
      <dgm:prSet presAssocID="{CD1C9F24-FD55-4BA6-A836-9DB38EE40C56}" presName="CompostProcess" presStyleCnt="0">
        <dgm:presLayoutVars>
          <dgm:dir/>
          <dgm:resizeHandles val="exact"/>
        </dgm:presLayoutVars>
      </dgm:prSet>
      <dgm:spPr/>
    </dgm:pt>
    <dgm:pt modelId="{DE7A644E-68FA-4E36-BF88-F6083B4A0DFC}" type="pres">
      <dgm:prSet presAssocID="{CD1C9F24-FD55-4BA6-A836-9DB38EE40C56}" presName="arrow" presStyleLbl="bgShp" presStyleIdx="0" presStyleCnt="1" custScaleX="117647"/>
      <dgm:spPr>
        <a:solidFill>
          <a:schemeClr val="bg1">
            <a:lumMod val="85000"/>
          </a:schemeClr>
        </a:solidFill>
      </dgm:spPr>
    </dgm:pt>
    <dgm:pt modelId="{21E226E1-9E87-4EF7-85C6-A0F99F777165}" type="pres">
      <dgm:prSet presAssocID="{CD1C9F24-FD55-4BA6-A836-9DB38EE40C56}" presName="linearProcess" presStyleCnt="0"/>
      <dgm:spPr/>
    </dgm:pt>
    <dgm:pt modelId="{006E032A-EF2F-4571-8B64-50F8FBC311A2}" type="pres">
      <dgm:prSet presAssocID="{CA3A44F3-EB26-4C94-A676-E12BD3E29A15}" presName="textNode" presStyleLbl="node1" presStyleIdx="0" presStyleCnt="1" custScaleY="199535">
        <dgm:presLayoutVars>
          <dgm:bulletEnabled val="1"/>
        </dgm:presLayoutVars>
      </dgm:prSet>
      <dgm:spPr/>
    </dgm:pt>
  </dgm:ptLst>
  <dgm:cxnLst>
    <dgm:cxn modelId="{749A8B20-0845-4974-A47D-26A1DA6C49F6}" type="presOf" srcId="{CA3A44F3-EB26-4C94-A676-E12BD3E29A15}" destId="{006E032A-EF2F-4571-8B64-50F8FBC311A2}" srcOrd="0" destOrd="0" presId="urn:microsoft.com/office/officeart/2005/8/layout/hProcess9"/>
    <dgm:cxn modelId="{42E9AF34-0EFF-4E90-9BC8-371D096F1D1C}" srcId="{CD1C9F24-FD55-4BA6-A836-9DB38EE40C56}" destId="{CA3A44F3-EB26-4C94-A676-E12BD3E29A15}" srcOrd="0" destOrd="0" parTransId="{BCD7F87E-2DD2-44BB-9DDA-67F3AA591A1B}" sibTransId="{868AFA71-271B-4B36-88E0-D0C5050436E1}"/>
    <dgm:cxn modelId="{BBD4864E-6E1B-4018-90A7-90C3EB293388}" type="presOf" srcId="{CD1C9F24-FD55-4BA6-A836-9DB38EE40C56}" destId="{99AA05F2-C66B-437A-B8FD-170448ED77AF}" srcOrd="0" destOrd="0" presId="urn:microsoft.com/office/officeart/2005/8/layout/hProcess9"/>
    <dgm:cxn modelId="{704F54D2-CB25-4406-AC29-869CF2C96489}" type="presParOf" srcId="{99AA05F2-C66B-437A-B8FD-170448ED77AF}" destId="{DE7A644E-68FA-4E36-BF88-F6083B4A0DFC}" srcOrd="0" destOrd="0" presId="urn:microsoft.com/office/officeart/2005/8/layout/hProcess9"/>
    <dgm:cxn modelId="{E039029E-18B7-48CC-9C45-C6896AAC680C}" type="presParOf" srcId="{99AA05F2-C66B-437A-B8FD-170448ED77AF}" destId="{21E226E1-9E87-4EF7-85C6-A0F99F777165}" srcOrd="1" destOrd="0" presId="urn:microsoft.com/office/officeart/2005/8/layout/hProcess9"/>
    <dgm:cxn modelId="{ABDD64E6-D6D2-499C-80B7-6DF07B00772A}" type="presParOf" srcId="{21E226E1-9E87-4EF7-85C6-A0F99F777165}" destId="{006E032A-EF2F-4571-8B64-50F8FBC311A2}"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8713A6-20BF-4A43-948B-120DB740632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5FFE7424-8EF7-475B-9DCF-06731B922F4A}">
      <dgm:prSet/>
      <dgm:spPr>
        <a:solidFill>
          <a:schemeClr val="bg2">
            <a:lumMod val="50000"/>
          </a:schemeClr>
        </a:solidFill>
      </dgm:spPr>
      <dgm:t>
        <a:bodyPr/>
        <a:lstStyle/>
        <a:p>
          <a:r>
            <a:rPr lang="en-US" dirty="0">
              <a:latin typeface="Times New Roman" panose="02020603050405020304" pitchFamily="18" charset="0"/>
              <a:cs typeface="Times New Roman" panose="02020603050405020304" pitchFamily="18" charset="0"/>
            </a:rPr>
            <a:t>Stable and low inequality levels maintained by robust welfare systems and progressive taxation in high-income countries</a:t>
          </a:r>
          <a:endParaRPr lang="en-IN" dirty="0">
            <a:latin typeface="Times New Roman" panose="02020603050405020304" pitchFamily="18" charset="0"/>
            <a:cs typeface="Times New Roman" panose="02020603050405020304" pitchFamily="18" charset="0"/>
          </a:endParaRPr>
        </a:p>
      </dgm:t>
    </dgm:pt>
    <dgm:pt modelId="{21D0DD23-2D78-4DFD-B3C0-ABC0FB6DE6A8}" type="parTrans" cxnId="{28623B4D-D766-4280-8703-8ED58F0BC549}">
      <dgm:prSet/>
      <dgm:spPr/>
      <dgm:t>
        <a:bodyPr/>
        <a:lstStyle/>
        <a:p>
          <a:endParaRPr lang="en-IN"/>
        </a:p>
      </dgm:t>
    </dgm:pt>
    <dgm:pt modelId="{F895D999-7B97-4E27-8551-1A2FDABF04DA}" type="sibTrans" cxnId="{28623B4D-D766-4280-8703-8ED58F0BC549}">
      <dgm:prSet/>
      <dgm:spPr/>
      <dgm:t>
        <a:bodyPr/>
        <a:lstStyle/>
        <a:p>
          <a:endParaRPr lang="en-IN"/>
        </a:p>
      </dgm:t>
    </dgm:pt>
    <dgm:pt modelId="{FE39F4C1-B1CA-45C4-96C8-B2ECA3CC10F4}" type="pres">
      <dgm:prSet presAssocID="{B38713A6-20BF-4A43-948B-120DB740632C}" presName="CompostProcess" presStyleCnt="0">
        <dgm:presLayoutVars>
          <dgm:dir/>
          <dgm:resizeHandles val="exact"/>
        </dgm:presLayoutVars>
      </dgm:prSet>
      <dgm:spPr/>
    </dgm:pt>
    <dgm:pt modelId="{11109210-8D4B-474F-B0EB-A00F8979E85F}" type="pres">
      <dgm:prSet presAssocID="{B38713A6-20BF-4A43-948B-120DB740632C}" presName="arrow" presStyleLbl="bgShp" presStyleIdx="0" presStyleCnt="1" custScaleX="117647"/>
      <dgm:spPr>
        <a:solidFill>
          <a:schemeClr val="bg2">
            <a:lumMod val="25000"/>
          </a:schemeClr>
        </a:solidFill>
      </dgm:spPr>
    </dgm:pt>
    <dgm:pt modelId="{80D76CD6-DFE4-47AB-8E4E-CF465E5802A3}" type="pres">
      <dgm:prSet presAssocID="{B38713A6-20BF-4A43-948B-120DB740632C}" presName="linearProcess" presStyleCnt="0"/>
      <dgm:spPr/>
    </dgm:pt>
    <dgm:pt modelId="{07F9A814-1C7D-4F5F-9920-E3C769EB3AF5}" type="pres">
      <dgm:prSet presAssocID="{5FFE7424-8EF7-475B-9DCF-06731B922F4A}" presName="textNode" presStyleLbl="node1" presStyleIdx="0" presStyleCnt="1" custScaleX="81721" custScaleY="226116" custLinFactNeighborX="-2618" custLinFactNeighborY="-5181">
        <dgm:presLayoutVars>
          <dgm:bulletEnabled val="1"/>
        </dgm:presLayoutVars>
      </dgm:prSet>
      <dgm:spPr/>
    </dgm:pt>
  </dgm:ptLst>
  <dgm:cxnLst>
    <dgm:cxn modelId="{516FEB49-50D6-4514-9ED5-E96E51F86A6A}" type="presOf" srcId="{5FFE7424-8EF7-475B-9DCF-06731B922F4A}" destId="{07F9A814-1C7D-4F5F-9920-E3C769EB3AF5}" srcOrd="0" destOrd="0" presId="urn:microsoft.com/office/officeart/2005/8/layout/hProcess9"/>
    <dgm:cxn modelId="{28623B4D-D766-4280-8703-8ED58F0BC549}" srcId="{B38713A6-20BF-4A43-948B-120DB740632C}" destId="{5FFE7424-8EF7-475B-9DCF-06731B922F4A}" srcOrd="0" destOrd="0" parTransId="{21D0DD23-2D78-4DFD-B3C0-ABC0FB6DE6A8}" sibTransId="{F895D999-7B97-4E27-8551-1A2FDABF04DA}"/>
    <dgm:cxn modelId="{541D759C-5EB7-4106-B540-12F00668B547}" type="presOf" srcId="{B38713A6-20BF-4A43-948B-120DB740632C}" destId="{FE39F4C1-B1CA-45C4-96C8-B2ECA3CC10F4}" srcOrd="0" destOrd="0" presId="urn:microsoft.com/office/officeart/2005/8/layout/hProcess9"/>
    <dgm:cxn modelId="{88ED56F3-4037-42D6-8DBE-C16DD9BEF826}" type="presParOf" srcId="{FE39F4C1-B1CA-45C4-96C8-B2ECA3CC10F4}" destId="{11109210-8D4B-474F-B0EB-A00F8979E85F}" srcOrd="0" destOrd="0" presId="urn:microsoft.com/office/officeart/2005/8/layout/hProcess9"/>
    <dgm:cxn modelId="{92BF10C1-794D-4538-A257-F53032D4AFB8}" type="presParOf" srcId="{FE39F4C1-B1CA-45C4-96C8-B2ECA3CC10F4}" destId="{80D76CD6-DFE4-47AB-8E4E-CF465E5802A3}" srcOrd="1" destOrd="0" presId="urn:microsoft.com/office/officeart/2005/8/layout/hProcess9"/>
    <dgm:cxn modelId="{B570FCF2-49C9-4B9D-91DB-120CA10F0297}" type="presParOf" srcId="{80D76CD6-DFE4-47AB-8E4E-CF465E5802A3}" destId="{07F9A814-1C7D-4F5F-9920-E3C769EB3AF5}"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8F7971-F694-40AC-81B8-962CF3C98690}">
      <dsp:nvSpPr>
        <dsp:cNvPr id="0" name=""/>
        <dsp:cNvSpPr/>
      </dsp:nvSpPr>
      <dsp:spPr>
        <a:xfrm rot="10800000">
          <a:off x="1580520" y="447506"/>
          <a:ext cx="7943718" cy="1181573"/>
        </a:xfrm>
        <a:prstGeom prst="homePlate">
          <a:avLst/>
        </a:prstGeom>
        <a:solidFill>
          <a:srgbClr val="5A5A5A"/>
        </a:solidFill>
        <a:ln w="12700" cap="flat" cmpd="sng" algn="ctr">
          <a:solidFill>
            <a:schemeClr val="lt1">
              <a:hueOff val="0"/>
              <a:satOff val="0"/>
              <a:lumOff val="0"/>
              <a:alphaOff val="0"/>
            </a:schemeClr>
          </a:solidFill>
          <a:prstDash val="solid"/>
          <a:miter lim="800000"/>
        </a:ln>
        <a:effectLst>
          <a:outerShdw blurRad="50800" dist="50800" dir="5400000" algn="ctr" rotWithShape="0">
            <a:srgbClr val="000000">
              <a:alpha val="54000"/>
            </a:srgb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86505" tIns="83820" rIns="156464" bIns="83820" numCol="1" spcCol="1270" anchor="ctr" anchorCtr="0">
          <a:noAutofit/>
        </a:bodyPr>
        <a:lstStyle/>
        <a:p>
          <a:pPr marL="0" lvl="0" indent="0" algn="ctr" defTabSz="977900">
            <a:lnSpc>
              <a:spcPct val="90000"/>
            </a:lnSpc>
            <a:spcBef>
              <a:spcPct val="0"/>
            </a:spcBef>
            <a:spcAft>
              <a:spcPct val="35000"/>
            </a:spcAft>
            <a:buNone/>
          </a:pPr>
          <a:r>
            <a:rPr lang="en-IN" sz="2200" b="1" kern="1200" dirty="0">
              <a:solidFill>
                <a:schemeClr val="accent2">
                  <a:lumMod val="40000"/>
                  <a:lumOff val="60000"/>
                </a:schemeClr>
              </a:solidFill>
              <a:latin typeface="Times New Roman" panose="02020603050405020304" pitchFamily="18" charset="0"/>
              <a:cs typeface="Times New Roman" panose="02020603050405020304" pitchFamily="18" charset="0"/>
            </a:rPr>
            <a:t>East Asia &amp; Pacific and South Asia </a:t>
          </a:r>
          <a:r>
            <a:rPr lang="en-IN" sz="2200" kern="1200" dirty="0">
              <a:latin typeface="Times New Roman" panose="02020603050405020304" pitchFamily="18" charset="0"/>
              <a:cs typeface="Times New Roman" panose="02020603050405020304" pitchFamily="18" charset="0"/>
            </a:rPr>
            <a:t>have steadily decreased their poverty gaps since the 1990s due to economic growth and reforms</a:t>
          </a:r>
          <a:r>
            <a:rPr lang="en-IN" sz="2200" kern="1200" dirty="0"/>
            <a:t>. </a:t>
          </a:r>
        </a:p>
      </dsp:txBody>
      <dsp:txXfrm rot="10800000">
        <a:off x="1875913" y="447506"/>
        <a:ext cx="7648325" cy="1181573"/>
      </dsp:txXfrm>
    </dsp:sp>
    <dsp:sp modelId="{010B6096-C9FC-4B6E-9ACD-23603C8B40BA}">
      <dsp:nvSpPr>
        <dsp:cNvPr id="0" name=""/>
        <dsp:cNvSpPr/>
      </dsp:nvSpPr>
      <dsp:spPr>
        <a:xfrm>
          <a:off x="428169" y="247372"/>
          <a:ext cx="1514051" cy="155994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a:outerShdw blurRad="50800" dist="50800" dir="5400000" algn="ctr" rotWithShape="0">
            <a:srgbClr val="000000">
              <a:alpha val="0"/>
            </a:srgbClr>
          </a:outerShdw>
          <a:reflection stA="0" endPos="65000" dist="50800" dir="5400000" sy="-100000" algn="bl" rotWithShape="0"/>
        </a:effectLst>
      </dsp:spPr>
      <dsp:style>
        <a:lnRef idx="2">
          <a:scrgbClr r="0" g="0" b="0"/>
        </a:lnRef>
        <a:fillRef idx="1">
          <a:scrgbClr r="0" g="0" b="0"/>
        </a:fillRef>
        <a:effectRef idx="0">
          <a:scrgbClr r="0" g="0" b="0"/>
        </a:effectRef>
        <a:fontRef idx="minor"/>
      </dsp:style>
    </dsp:sp>
    <dsp:sp modelId="{159D6EE1-3B3F-43B1-91E7-766BBCEDE768}">
      <dsp:nvSpPr>
        <dsp:cNvPr id="0" name=""/>
        <dsp:cNvSpPr/>
      </dsp:nvSpPr>
      <dsp:spPr>
        <a:xfrm rot="10800000" flipH="1" flipV="1">
          <a:off x="344526" y="1904884"/>
          <a:ext cx="8871871" cy="997035"/>
        </a:xfrm>
        <a:prstGeom prst="homePlate">
          <a:avLst/>
        </a:prstGeom>
        <a:solidFill>
          <a:srgbClr val="8B8585"/>
        </a:solidFill>
        <a:ln w="12700" cap="flat" cmpd="sng" algn="ctr">
          <a:solidFill>
            <a:schemeClr val="lt1">
              <a:hueOff val="0"/>
              <a:satOff val="0"/>
              <a:lumOff val="0"/>
              <a:alphaOff val="0"/>
            </a:schemeClr>
          </a:solidFill>
          <a:prstDash val="solid"/>
          <a:miter lim="800000"/>
        </a:ln>
        <a:effectLst>
          <a:outerShdw blurRad="50800" dist="50800" dir="5400000" algn="ctr" rotWithShape="0">
            <a:srgbClr val="000000">
              <a:alpha val="72000"/>
            </a:srgb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86505" tIns="80010" rIns="149352"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solidFill>
                <a:schemeClr val="accent2">
                  <a:lumMod val="40000"/>
                  <a:lumOff val="60000"/>
                </a:schemeClr>
              </a:solidFill>
              <a:latin typeface="Times New Roman" panose="02020603050405020304" pitchFamily="18" charset="0"/>
              <a:cs typeface="Times New Roman" panose="02020603050405020304" pitchFamily="18" charset="0"/>
            </a:rPr>
            <a:t>Sub-Saharan Africa</a:t>
          </a:r>
          <a:r>
            <a:rPr lang="en-IN" sz="2100" kern="1200" dirty="0">
              <a:latin typeface="Times New Roman" panose="02020603050405020304" pitchFamily="18" charset="0"/>
              <a:cs typeface="Times New Roman" panose="02020603050405020304" pitchFamily="18" charset="0"/>
            </a:rPr>
            <a:t> has the highest, most fluctuating gap, with peaks in the early 1990s due to structural and political challenges.</a:t>
          </a:r>
        </a:p>
      </dsp:txBody>
      <dsp:txXfrm rot="10800000">
        <a:off x="344526" y="1904884"/>
        <a:ext cx="8622612" cy="997035"/>
      </dsp:txXfrm>
    </dsp:sp>
    <dsp:sp modelId="{95ED44B0-207D-45E3-B878-0F9AE59D1176}">
      <dsp:nvSpPr>
        <dsp:cNvPr id="0" name=""/>
        <dsp:cNvSpPr/>
      </dsp:nvSpPr>
      <dsp:spPr>
        <a:xfrm>
          <a:off x="8913127" y="1739084"/>
          <a:ext cx="1495215" cy="140209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83397B-198B-4970-A4EB-11183086874A}">
      <dsp:nvSpPr>
        <dsp:cNvPr id="0" name=""/>
        <dsp:cNvSpPr/>
      </dsp:nvSpPr>
      <dsp:spPr>
        <a:xfrm rot="10800000">
          <a:off x="1597795" y="3481293"/>
          <a:ext cx="8569914" cy="1033244"/>
        </a:xfrm>
        <a:prstGeom prst="homePlate">
          <a:avLst/>
        </a:prstGeom>
        <a:solidFill>
          <a:srgbClr val="777777"/>
        </a:solidFill>
        <a:ln w="12700" cap="flat" cmpd="sng" algn="ctr">
          <a:solidFill>
            <a:schemeClr val="lt1">
              <a:hueOff val="0"/>
              <a:satOff val="0"/>
              <a:lumOff val="0"/>
              <a:alphaOff val="0"/>
            </a:schemeClr>
          </a:solidFill>
          <a:prstDash val="solid"/>
          <a:miter lim="800000"/>
        </a:ln>
        <a:effectLst>
          <a:outerShdw blurRad="50800" dist="50800" dir="5400000" algn="ctr" rotWithShape="0">
            <a:srgbClr val="000000">
              <a:alpha val="77000"/>
            </a:srgb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86505" tIns="80010" rIns="149352"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solidFill>
                <a:schemeClr val="accent2">
                  <a:lumMod val="40000"/>
                  <a:lumOff val="60000"/>
                </a:schemeClr>
              </a:solidFill>
              <a:latin typeface="Times New Roman" panose="02020603050405020304" pitchFamily="18" charset="0"/>
              <a:cs typeface="Times New Roman" panose="02020603050405020304" pitchFamily="18" charset="0"/>
            </a:rPr>
            <a:t>Latin America &amp; Caribbean and Middle East &amp; North Africa </a:t>
          </a:r>
          <a:r>
            <a:rPr lang="en-IN" sz="2100" kern="1200" dirty="0">
              <a:latin typeface="Times New Roman" panose="02020603050405020304" pitchFamily="18" charset="0"/>
              <a:cs typeface="Times New Roman" panose="02020603050405020304" pitchFamily="18" charset="0"/>
            </a:rPr>
            <a:t>maintain low gaps with minor fluctuations.</a:t>
          </a:r>
        </a:p>
      </dsp:txBody>
      <dsp:txXfrm rot="10800000">
        <a:off x="1856106" y="3481293"/>
        <a:ext cx="8311603" cy="1033244"/>
      </dsp:txXfrm>
    </dsp:sp>
    <dsp:sp modelId="{7A0417F4-5E21-42F0-AE52-B0F67B701059}">
      <dsp:nvSpPr>
        <dsp:cNvPr id="0" name=""/>
        <dsp:cNvSpPr/>
      </dsp:nvSpPr>
      <dsp:spPr>
        <a:xfrm>
          <a:off x="255221" y="3304077"/>
          <a:ext cx="1595733" cy="1490109"/>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E75A62-3756-49E9-B74B-41AE439897C9}">
      <dsp:nvSpPr>
        <dsp:cNvPr id="0" name=""/>
        <dsp:cNvSpPr/>
      </dsp:nvSpPr>
      <dsp:spPr>
        <a:xfrm rot="10800000" flipH="1">
          <a:off x="250415" y="5144611"/>
          <a:ext cx="9459640" cy="1067692"/>
        </a:xfrm>
        <a:prstGeom prst="homePlate">
          <a:avLst/>
        </a:prstGeom>
        <a:solidFill>
          <a:srgbClr val="929292"/>
        </a:solidFill>
        <a:ln w="12700" cap="flat" cmpd="sng" algn="ctr">
          <a:solidFill>
            <a:schemeClr val="lt1">
              <a:hueOff val="0"/>
              <a:satOff val="0"/>
              <a:lumOff val="0"/>
              <a:alphaOff val="0"/>
            </a:schemeClr>
          </a:solidFill>
          <a:prstDash val="solid"/>
          <a:miter lim="800000"/>
        </a:ln>
        <a:effectLst>
          <a:outerShdw blurRad="50800" dist="50800" dir="5400000" algn="ctr" rotWithShape="0">
            <a:srgbClr val="000000">
              <a:alpha val="69000"/>
            </a:srgb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86505" tIns="76200" rIns="14224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accent2">
                  <a:lumMod val="40000"/>
                  <a:lumOff val="60000"/>
                </a:schemeClr>
              </a:solidFill>
              <a:latin typeface="Times New Roman" panose="02020603050405020304" pitchFamily="18" charset="0"/>
              <a:cs typeface="Times New Roman" panose="02020603050405020304" pitchFamily="18" charset="0"/>
            </a:rPr>
            <a:t>Middle East </a:t>
          </a:r>
          <a:r>
            <a:rPr lang="en-IN" sz="2000" kern="1200" dirty="0">
              <a:latin typeface="Times New Roman" panose="02020603050405020304" pitchFamily="18" charset="0"/>
              <a:cs typeface="Times New Roman" panose="02020603050405020304" pitchFamily="18" charset="0"/>
            </a:rPr>
            <a:t>experiences occasional conflict-related spikes. High-income countries remain stable with consistently low poverty gaps</a:t>
          </a:r>
        </a:p>
      </dsp:txBody>
      <dsp:txXfrm rot="10800000">
        <a:off x="250415" y="5144611"/>
        <a:ext cx="9192717" cy="1067692"/>
      </dsp:txXfrm>
    </dsp:sp>
    <dsp:sp modelId="{BCF7C4D2-F297-4893-9D39-513E7AB4B0D9}">
      <dsp:nvSpPr>
        <dsp:cNvPr id="0" name=""/>
        <dsp:cNvSpPr/>
      </dsp:nvSpPr>
      <dsp:spPr>
        <a:xfrm>
          <a:off x="9243442" y="4944645"/>
          <a:ext cx="1403619" cy="1459501"/>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323836-B9AB-435F-863F-C7095D8054AB}">
      <dsp:nvSpPr>
        <dsp:cNvPr id="0" name=""/>
        <dsp:cNvSpPr/>
      </dsp:nvSpPr>
      <dsp:spPr>
        <a:xfrm>
          <a:off x="5" y="0"/>
          <a:ext cx="11375562" cy="1352393"/>
        </a:xfrm>
        <a:prstGeom prst="rightArrow">
          <a:avLst/>
        </a:prstGeom>
        <a:solidFill>
          <a:srgbClr val="AFB7A9"/>
        </a:solidFill>
        <a:ln>
          <a:noFill/>
        </a:ln>
        <a:effectLst/>
      </dsp:spPr>
      <dsp:style>
        <a:lnRef idx="0">
          <a:scrgbClr r="0" g="0" b="0"/>
        </a:lnRef>
        <a:fillRef idx="1">
          <a:scrgbClr r="0" g="0" b="0"/>
        </a:fillRef>
        <a:effectRef idx="0">
          <a:scrgbClr r="0" g="0" b="0"/>
        </a:effectRef>
        <a:fontRef idx="minor"/>
      </dsp:style>
    </dsp:sp>
    <dsp:sp modelId="{A402A7D4-41AC-4778-8E99-95BCAFCD699F}">
      <dsp:nvSpPr>
        <dsp:cNvPr id="0" name=""/>
        <dsp:cNvSpPr/>
      </dsp:nvSpPr>
      <dsp:spPr>
        <a:xfrm>
          <a:off x="1200254" y="139466"/>
          <a:ext cx="8725197" cy="1083910"/>
        </a:xfrm>
        <a:prstGeom prst="roundRect">
          <a:avLst/>
        </a:prstGeom>
        <a:solidFill>
          <a:srgbClr val="75757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lumMod val="95000"/>
                </a:schemeClr>
              </a:solidFill>
              <a:latin typeface="Times New Roman" panose="02020603050405020304" pitchFamily="18" charset="0"/>
              <a:cs typeface="Times New Roman" panose="02020603050405020304" pitchFamily="18" charset="0"/>
            </a:rPr>
            <a:t>A slow but steady journey toward equality: How industrialization, globalization, and pro-poor policies shaped income distribution</a:t>
          </a:r>
          <a:endParaRPr lang="en-IN" sz="1600" kern="1200" dirty="0">
            <a:solidFill>
              <a:schemeClr val="bg1">
                <a:lumMod val="95000"/>
              </a:schemeClr>
            </a:solidFill>
            <a:latin typeface="Times New Roman" panose="02020603050405020304" pitchFamily="18" charset="0"/>
            <a:cs typeface="Times New Roman" panose="02020603050405020304" pitchFamily="18" charset="0"/>
          </a:endParaRPr>
        </a:p>
      </dsp:txBody>
      <dsp:txXfrm>
        <a:off x="1253166" y="192378"/>
        <a:ext cx="8619373" cy="9780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A644E-68FA-4E36-BF88-F6083B4A0DFC}">
      <dsp:nvSpPr>
        <dsp:cNvPr id="0" name=""/>
        <dsp:cNvSpPr/>
      </dsp:nvSpPr>
      <dsp:spPr>
        <a:xfrm>
          <a:off x="2" y="0"/>
          <a:ext cx="11104895" cy="914891"/>
        </a:xfrm>
        <a:prstGeom prst="rightArrow">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006E032A-EF2F-4571-8B64-50F8FBC311A2}">
      <dsp:nvSpPr>
        <dsp:cNvPr id="0" name=""/>
        <dsp:cNvSpPr/>
      </dsp:nvSpPr>
      <dsp:spPr>
        <a:xfrm>
          <a:off x="2186277" y="92339"/>
          <a:ext cx="6732346" cy="730211"/>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Arial" panose="020B0604020202020204" pitchFamily="34" charset="0"/>
              <a:cs typeface="Arial" panose="020B0604020202020204" pitchFamily="34" charset="0"/>
            </a:rPr>
            <a:t>Transforming inequality: Export-led growth and social programs turned the tide in upper-middle-income countries</a:t>
          </a:r>
          <a:r>
            <a:rPr lang="en-US" sz="1800" b="1" kern="1200" dirty="0"/>
            <a:t>.</a:t>
          </a:r>
          <a:endParaRPr lang="en-IN" sz="1800" kern="1200" dirty="0"/>
        </a:p>
      </dsp:txBody>
      <dsp:txXfrm>
        <a:off x="2221923" y="127985"/>
        <a:ext cx="6661054" cy="6589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109210-8D4B-474F-B0EB-A00F8979E85F}">
      <dsp:nvSpPr>
        <dsp:cNvPr id="0" name=""/>
        <dsp:cNvSpPr/>
      </dsp:nvSpPr>
      <dsp:spPr>
        <a:xfrm>
          <a:off x="2" y="0"/>
          <a:ext cx="11604166" cy="1026393"/>
        </a:xfrm>
        <a:prstGeom prst="rightArrow">
          <a:avLst/>
        </a:prstGeom>
        <a:solidFill>
          <a:schemeClr val="bg2">
            <a:lumMod val="25000"/>
          </a:schemeClr>
        </a:solidFill>
        <a:ln>
          <a:noFill/>
        </a:ln>
        <a:effectLst/>
      </dsp:spPr>
      <dsp:style>
        <a:lnRef idx="0">
          <a:scrgbClr r="0" g="0" b="0"/>
        </a:lnRef>
        <a:fillRef idx="1">
          <a:scrgbClr r="0" g="0" b="0"/>
        </a:fillRef>
        <a:effectRef idx="0">
          <a:scrgbClr r="0" g="0" b="0"/>
        </a:effectRef>
        <a:fontRef idx="minor"/>
      </dsp:style>
    </dsp:sp>
    <dsp:sp modelId="{07F9A814-1C7D-4F5F-9920-E3C769EB3AF5}">
      <dsp:nvSpPr>
        <dsp:cNvPr id="0" name=""/>
        <dsp:cNvSpPr/>
      </dsp:nvSpPr>
      <dsp:spPr>
        <a:xfrm>
          <a:off x="2301895" y="27757"/>
          <a:ext cx="6578862" cy="928335"/>
        </a:xfrm>
        <a:prstGeom prst="roundRect">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Stable and low inequality levels maintained by robust welfare systems and progressive taxation in high-income countries</a:t>
          </a:r>
          <a:endParaRPr lang="en-IN" sz="2000" kern="1200" dirty="0">
            <a:latin typeface="Times New Roman" panose="02020603050405020304" pitchFamily="18" charset="0"/>
            <a:cs typeface="Times New Roman" panose="02020603050405020304" pitchFamily="18" charset="0"/>
          </a:endParaRPr>
        </a:p>
      </dsp:txBody>
      <dsp:txXfrm>
        <a:off x="2347213" y="73075"/>
        <a:ext cx="6488226" cy="837699"/>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0.19805</cdr:x>
      <cdr:y>0.08706</cdr:y>
    </cdr:from>
    <cdr:to>
      <cdr:x>0.38636</cdr:x>
      <cdr:y>0.33085</cdr:y>
    </cdr:to>
    <cdr:sp macro="" textlink="">
      <cdr:nvSpPr>
        <cdr:cNvPr id="2" name="Callout: Bent Line 1">
          <a:extLst xmlns:a="http://schemas.openxmlformats.org/drawingml/2006/main">
            <a:ext uri="{FF2B5EF4-FFF2-40B4-BE49-F238E27FC236}">
              <a16:creationId xmlns:a16="http://schemas.microsoft.com/office/drawing/2014/main" id="{9FAF6A3C-3CF3-4423-97B4-F46846CF2401}"/>
            </a:ext>
          </a:extLst>
        </cdr:cNvPr>
        <cdr:cNvSpPr/>
      </cdr:nvSpPr>
      <cdr:spPr>
        <a:xfrm xmlns:a="http://schemas.openxmlformats.org/drawingml/2006/main">
          <a:off x="1844506" y="529138"/>
          <a:ext cx="1753793" cy="1481695"/>
        </a:xfrm>
        <a:prstGeom xmlns:a="http://schemas.openxmlformats.org/drawingml/2006/main" prst="borderCallout2">
          <a:avLst>
            <a:gd name="adj1" fmla="val 18750"/>
            <a:gd name="adj2" fmla="val -8333"/>
            <a:gd name="adj3" fmla="val 18750"/>
            <a:gd name="adj4" fmla="val -16667"/>
            <a:gd name="adj5" fmla="val 92988"/>
            <a:gd name="adj6" fmla="val -69648"/>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algn="ctr"/>
          <a:r>
            <a:rPr lang="en-US" sz="1400">
              <a:solidFill>
                <a:schemeClr val="tx1"/>
              </a:solidFill>
            </a:rPr>
            <a:t>Developing countries experiencing nominal to modest gowth rates (most notably</a:t>
          </a:r>
          <a:r>
            <a:rPr lang="en-US" sz="1400" baseline="0">
              <a:solidFill>
                <a:schemeClr val="tx1"/>
              </a:solidFill>
            </a:rPr>
            <a:t> China, Vietnam, India)</a:t>
          </a:r>
          <a:r>
            <a:rPr lang="en-US" sz="1400">
              <a:solidFill>
                <a:schemeClr val="tx1"/>
              </a:solidFill>
            </a:rPr>
            <a:t> </a:t>
          </a:r>
        </a:p>
      </cdr:txBody>
    </cdr:sp>
  </cdr:relSizeAnchor>
  <cdr:relSizeAnchor xmlns:cdr="http://schemas.openxmlformats.org/drawingml/2006/chartDrawing">
    <cdr:from>
      <cdr:x>0.76623</cdr:x>
      <cdr:y>0.09453</cdr:y>
    </cdr:from>
    <cdr:to>
      <cdr:x>0.96266</cdr:x>
      <cdr:y>0.26617</cdr:y>
    </cdr:to>
    <cdr:sp macro="" textlink="">
      <cdr:nvSpPr>
        <cdr:cNvPr id="3" name="Callout: Double Bent Line 2">
          <a:extLst xmlns:a="http://schemas.openxmlformats.org/drawingml/2006/main">
            <a:ext uri="{FF2B5EF4-FFF2-40B4-BE49-F238E27FC236}">
              <a16:creationId xmlns:a16="http://schemas.microsoft.com/office/drawing/2014/main" id="{C8088260-07B4-4D26-9356-B48F9D8C7CB5}"/>
            </a:ext>
          </a:extLst>
        </cdr:cNvPr>
        <cdr:cNvSpPr/>
      </cdr:nvSpPr>
      <cdr:spPr>
        <a:xfrm xmlns:a="http://schemas.openxmlformats.org/drawingml/2006/main">
          <a:off x="7136190" y="574524"/>
          <a:ext cx="1829405" cy="1043214"/>
        </a:xfrm>
        <a:prstGeom xmlns:a="http://schemas.openxmlformats.org/drawingml/2006/main" prst="borderCallout3">
          <a:avLst>
            <a:gd name="adj1" fmla="val 18750"/>
            <a:gd name="adj2" fmla="val -8333"/>
            <a:gd name="adj3" fmla="val 18750"/>
            <a:gd name="adj4" fmla="val -16667"/>
            <a:gd name="adj5" fmla="val 100000"/>
            <a:gd name="adj6" fmla="val -16667"/>
            <a:gd name="adj7" fmla="val 146296"/>
            <a:gd name="adj8" fmla="val 61088"/>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marL="0" indent="0" algn="ctr"/>
          <a:r>
            <a:rPr lang="en-US" sz="1400">
              <a:solidFill>
                <a:schemeClr val="tx1"/>
              </a:solidFill>
              <a:latin typeface="+mn-lt"/>
              <a:ea typeface="+mn-ea"/>
              <a:cs typeface="+mn-cs"/>
            </a:rPr>
            <a:t>High income countires continuing to experience positive growth rates</a:t>
          </a:r>
        </a:p>
      </cdr:txBody>
    </cdr:sp>
  </cdr:relSizeAnchor>
  <cdr:relSizeAnchor xmlns:cdr="http://schemas.openxmlformats.org/drawingml/2006/chartDrawing">
    <cdr:from>
      <cdr:x>0.29383</cdr:x>
      <cdr:y>0.57463</cdr:y>
    </cdr:from>
    <cdr:to>
      <cdr:x>0.66721</cdr:x>
      <cdr:y>0.79851</cdr:y>
    </cdr:to>
    <cdr:sp macro="" textlink="">
      <cdr:nvSpPr>
        <cdr:cNvPr id="4" name="TextBox 3">
          <a:extLst xmlns:a="http://schemas.openxmlformats.org/drawingml/2006/main">
            <a:ext uri="{FF2B5EF4-FFF2-40B4-BE49-F238E27FC236}">
              <a16:creationId xmlns:a16="http://schemas.microsoft.com/office/drawing/2014/main" id="{DE35CCE7-F2F4-42C8-8BAC-1C7E1D15B385}"/>
            </a:ext>
          </a:extLst>
        </cdr:cNvPr>
        <cdr:cNvSpPr txBox="1"/>
      </cdr:nvSpPr>
      <cdr:spPr>
        <a:xfrm xmlns:a="http://schemas.openxmlformats.org/drawingml/2006/main">
          <a:off x="2736548" y="3492500"/>
          <a:ext cx="3477381" cy="1360714"/>
        </a:xfrm>
        <a:prstGeom xmlns:a="http://schemas.openxmlformats.org/drawingml/2006/main" prst="rect">
          <a:avLst/>
        </a:prstGeom>
        <a:ln xmlns:a="http://schemas.openxmlformats.org/drawingml/2006/main">
          <a:solidFill>
            <a:schemeClr val="accent1"/>
          </a:solidFill>
        </a:ln>
      </cdr:spPr>
      <cdr:txBody>
        <a:bodyPr xmlns:a="http://schemas.openxmlformats.org/drawingml/2006/main" vertOverflow="clip" wrap="square" rtlCol="0" anchor="ctr"/>
        <a:lstStyle xmlns:a="http://schemas.openxmlformats.org/drawingml/2006/main"/>
        <a:p xmlns:a="http://schemas.openxmlformats.org/drawingml/2006/main">
          <a:pPr marL="0" indent="0" algn="ctr"/>
          <a:r>
            <a:rPr lang="en-IN" sz="1400">
              <a:solidFill>
                <a:schemeClr val="tx1"/>
              </a:solidFill>
              <a:latin typeface="+mn-lt"/>
              <a:ea typeface="+mn-ea"/>
              <a:cs typeface="+mn-cs"/>
            </a:rPr>
            <a:t>Middle-East, experiencing oil price volatility (Iran-Iraq War &amp; Oil Price collapse faced by the OPEC), some African countries affected by ethnic tensions fulled by the Cold War, Debt crisis faced by Latin American countires</a:t>
          </a:r>
        </a:p>
      </cdr:txBody>
    </cdr:sp>
  </cdr:relSizeAnchor>
</c:userShapes>
</file>

<file path=ppt/drawings/drawing2.xml><?xml version="1.0" encoding="utf-8"?>
<c:userShapes xmlns:c="http://schemas.openxmlformats.org/drawingml/2006/chart">
  <cdr:relSizeAnchor xmlns:cdr="http://schemas.openxmlformats.org/drawingml/2006/chartDrawing">
    <cdr:from>
      <cdr:x>0.13117</cdr:x>
      <cdr:y>0.71109</cdr:y>
    </cdr:from>
    <cdr:to>
      <cdr:x>0.64091</cdr:x>
      <cdr:y>0.87776</cdr:y>
    </cdr:to>
    <cdr:sp macro="" textlink="">
      <cdr:nvSpPr>
        <cdr:cNvPr id="2" name="TextBox 1">
          <a:extLst xmlns:a="http://schemas.openxmlformats.org/drawingml/2006/main">
            <a:ext uri="{FF2B5EF4-FFF2-40B4-BE49-F238E27FC236}">
              <a16:creationId xmlns:a16="http://schemas.microsoft.com/office/drawing/2014/main" id="{55B83E7D-5BD0-4EE4-BA7C-B069AB7656F8}"/>
            </a:ext>
          </a:extLst>
        </cdr:cNvPr>
        <cdr:cNvSpPr txBox="1"/>
      </cdr:nvSpPr>
      <cdr:spPr>
        <a:xfrm xmlns:a="http://schemas.openxmlformats.org/drawingml/2006/main">
          <a:off x="1221598" y="4321926"/>
          <a:ext cx="4747379" cy="1012996"/>
        </a:xfrm>
        <a:prstGeom xmlns:a="http://schemas.openxmlformats.org/drawingml/2006/main" prst="rect">
          <a:avLst/>
        </a:prstGeom>
        <a:ln xmlns:a="http://schemas.openxmlformats.org/drawingml/2006/main">
          <a:solidFill>
            <a:schemeClr val="accent1"/>
          </a:solidFill>
        </a:ln>
      </cdr:spPr>
      <cdr:txBody>
        <a:bodyPr xmlns:a="http://schemas.openxmlformats.org/drawingml/2006/main" vertOverflow="clip" wrap="square" rtlCol="0" anchor="ctr"/>
        <a:lstStyle xmlns:a="http://schemas.openxmlformats.org/drawingml/2006/main"/>
        <a:p xmlns:a="http://schemas.openxmlformats.org/drawingml/2006/main">
          <a:pPr algn="ctr"/>
          <a:r>
            <a:rPr lang="en-IN" sz="1400" dirty="0"/>
            <a:t>Sub-Saharan Africa and Latin American countries still struggling with slower</a:t>
          </a:r>
          <a:r>
            <a:rPr lang="en-IN" sz="1400" baseline="0" dirty="0"/>
            <a:t> growth rates and persistent inequality, Transitioning economies of Eastern Europe and former Soviet Union also trying to recover, </a:t>
          </a:r>
          <a:endParaRPr lang="en-IN" sz="1400" dirty="0"/>
        </a:p>
      </cdr:txBody>
    </cdr:sp>
  </cdr:relSizeAnchor>
  <cdr:relSizeAnchor xmlns:cdr="http://schemas.openxmlformats.org/drawingml/2006/chartDrawing">
    <cdr:from>
      <cdr:x>0.11526</cdr:x>
      <cdr:y>0.10945</cdr:y>
    </cdr:from>
    <cdr:to>
      <cdr:x>0.34416</cdr:x>
      <cdr:y>0.23383</cdr:y>
    </cdr:to>
    <cdr:sp macro="" textlink="">
      <cdr:nvSpPr>
        <cdr:cNvPr id="3" name="Callout: Bent Line 2">
          <a:extLst xmlns:a="http://schemas.openxmlformats.org/drawingml/2006/main">
            <a:ext uri="{FF2B5EF4-FFF2-40B4-BE49-F238E27FC236}">
              <a16:creationId xmlns:a16="http://schemas.microsoft.com/office/drawing/2014/main" id="{C974DEB9-3A13-430E-A052-35436790C110}"/>
            </a:ext>
          </a:extLst>
        </cdr:cNvPr>
        <cdr:cNvSpPr/>
      </cdr:nvSpPr>
      <cdr:spPr>
        <a:xfrm xmlns:a="http://schemas.openxmlformats.org/drawingml/2006/main">
          <a:off x="1073452" y="665239"/>
          <a:ext cx="2131786" cy="755952"/>
        </a:xfrm>
        <a:prstGeom xmlns:a="http://schemas.openxmlformats.org/drawingml/2006/main" prst="borderCallout2">
          <a:avLst>
            <a:gd name="adj1" fmla="val 18750"/>
            <a:gd name="adj2" fmla="val -8333"/>
            <a:gd name="adj3" fmla="val 18750"/>
            <a:gd name="adj4" fmla="val -16667"/>
            <a:gd name="adj5" fmla="val 177833"/>
            <a:gd name="adj6" fmla="val -19716"/>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pPr marL="0" indent="0" algn="ctr"/>
          <a:r>
            <a:rPr lang="en-US" sz="1400">
              <a:solidFill>
                <a:sysClr val="windowText" lastClr="000000"/>
              </a:solidFill>
              <a:latin typeface="+mn-lt"/>
              <a:ea typeface="+mn-ea"/>
              <a:cs typeface="+mn-cs"/>
            </a:rPr>
            <a:t>Appreciable growth rates experienced by the South and East Asian Countries</a:t>
          </a:r>
        </a:p>
      </cdr:txBody>
    </cdr:sp>
  </cdr:relSizeAnchor>
  <cdr:relSizeAnchor xmlns:cdr="http://schemas.openxmlformats.org/drawingml/2006/chartDrawing">
    <cdr:from>
      <cdr:x>0.61851</cdr:x>
      <cdr:y>0.13682</cdr:y>
    </cdr:from>
    <cdr:to>
      <cdr:x>0.86201</cdr:x>
      <cdr:y>0.27861</cdr:y>
    </cdr:to>
    <cdr:sp macro="" textlink="">
      <cdr:nvSpPr>
        <cdr:cNvPr id="4" name="Callout: Double Bent Line 3">
          <a:extLst xmlns:a="http://schemas.openxmlformats.org/drawingml/2006/main">
            <a:ext uri="{FF2B5EF4-FFF2-40B4-BE49-F238E27FC236}">
              <a16:creationId xmlns:a16="http://schemas.microsoft.com/office/drawing/2014/main" id="{E4B9E3B3-8BFE-495E-83FC-AB85D1C2C66D}"/>
            </a:ext>
          </a:extLst>
        </cdr:cNvPr>
        <cdr:cNvSpPr/>
      </cdr:nvSpPr>
      <cdr:spPr>
        <a:xfrm xmlns:a="http://schemas.openxmlformats.org/drawingml/2006/main">
          <a:off x="5760357" y="831548"/>
          <a:ext cx="2267857" cy="861785"/>
        </a:xfrm>
        <a:prstGeom xmlns:a="http://schemas.openxmlformats.org/drawingml/2006/main" prst="borderCallout3">
          <a:avLst>
            <a:gd name="adj1" fmla="val 18750"/>
            <a:gd name="adj2" fmla="val -8333"/>
            <a:gd name="adj3" fmla="val 18750"/>
            <a:gd name="adj4" fmla="val -16667"/>
            <a:gd name="adj5" fmla="val 100000"/>
            <a:gd name="adj6" fmla="val -16667"/>
            <a:gd name="adj7" fmla="val 181807"/>
            <a:gd name="adj8" fmla="val 29516"/>
          </a:avLst>
        </a:prstGeom>
        <a:noFill xmlns:a="http://schemas.openxmlformats.org/drawingml/2006/main"/>
        <a:ln xmlns:a="http://schemas.openxmlformats.org/drawingml/2006/main">
          <a:solidFill>
            <a:schemeClr val="accent1"/>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algn="ctr"/>
          <a:r>
            <a:rPr lang="en-US" sz="1600">
              <a:solidFill>
                <a:sysClr val="windowText" lastClr="000000"/>
              </a:solidFill>
            </a:rPr>
            <a:t>Sustained growth experienced by the high income-countries</a:t>
          </a:r>
        </a:p>
      </cdr:txBody>
    </cdr:sp>
  </cdr:relSizeAnchor>
  <cdr:relSizeAnchor xmlns:cdr="http://schemas.openxmlformats.org/drawingml/2006/chartDrawing">
    <cdr:from>
      <cdr:x>0.68581</cdr:x>
      <cdr:y>0.5732</cdr:y>
    </cdr:from>
    <cdr:to>
      <cdr:x>0.78399</cdr:x>
      <cdr:y>0.72365</cdr:y>
    </cdr:to>
    <cdr:sp macro="" textlink="">
      <cdr:nvSpPr>
        <cdr:cNvPr id="5" name="TextBox 4">
          <a:extLst xmlns:a="http://schemas.openxmlformats.org/drawingml/2006/main">
            <a:ext uri="{FF2B5EF4-FFF2-40B4-BE49-F238E27FC236}">
              <a16:creationId xmlns:a16="http://schemas.microsoft.com/office/drawing/2014/main" id="{321DC3B3-AE55-5243-F51D-513C91B256A2}"/>
            </a:ext>
          </a:extLst>
        </cdr:cNvPr>
        <cdr:cNvSpPr txBox="1"/>
      </cdr:nvSpPr>
      <cdr:spPr>
        <a:xfrm xmlns:a="http://schemas.openxmlformats.org/drawingml/2006/main">
          <a:off x="6387145" y="3483838"/>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IN" sz="1100" kern="1200" dirty="0"/>
        </a:p>
      </cdr:txBody>
    </cdr:sp>
  </cdr:relSizeAnchor>
  <cdr:relSizeAnchor xmlns:cdr="http://schemas.openxmlformats.org/drawingml/2006/chartDrawing">
    <cdr:from>
      <cdr:x>0.78821</cdr:x>
      <cdr:y>0.93339</cdr:y>
    </cdr:from>
    <cdr:to>
      <cdr:x>0.9434</cdr:x>
      <cdr:y>0.98152</cdr:y>
    </cdr:to>
    <cdr:sp macro="" textlink="">
      <cdr:nvSpPr>
        <cdr:cNvPr id="6" name="TextBox 5">
          <a:extLst xmlns:a="http://schemas.openxmlformats.org/drawingml/2006/main">
            <a:ext uri="{FF2B5EF4-FFF2-40B4-BE49-F238E27FC236}">
              <a16:creationId xmlns:a16="http://schemas.microsoft.com/office/drawing/2014/main" id="{573A94BA-8B00-4FE7-5CF5-25B8CDD37499}"/>
            </a:ext>
          </a:extLst>
        </cdr:cNvPr>
        <cdr:cNvSpPr txBox="1"/>
      </cdr:nvSpPr>
      <cdr:spPr>
        <a:xfrm xmlns:a="http://schemas.openxmlformats.org/drawingml/2006/main">
          <a:off x="7692632" y="5959121"/>
          <a:ext cx="1514601" cy="307248"/>
        </a:xfrm>
        <a:prstGeom xmlns:a="http://schemas.openxmlformats.org/drawingml/2006/main" prst="rect">
          <a:avLst/>
        </a:prstGeom>
        <a:ln xmlns:a="http://schemas.openxmlformats.org/drawingml/2006/main">
          <a:solidFill>
            <a:srgbClr val="0070C0"/>
          </a:solidFill>
        </a:ln>
      </cdr:spPr>
      <cdr:txBody>
        <a:bodyPr xmlns:a="http://schemas.openxmlformats.org/drawingml/2006/main" vertOverflow="clip" wrap="none" rtlCol="0"/>
        <a:lstStyle xmlns:a="http://schemas.openxmlformats.org/drawingml/2006/main"/>
        <a:p xmlns:a="http://schemas.openxmlformats.org/drawingml/2006/main">
          <a:r>
            <a:rPr lang="en-IN" dirty="0"/>
            <a:t>Japan's " Lost Decade"</a:t>
          </a:r>
          <a:endParaRPr lang="en-IN" sz="1100" kern="1200" dirty="0"/>
        </a:p>
      </cdr:txBody>
    </cdr:sp>
  </cdr:relSizeAnchor>
</c:userShapes>
</file>

<file path=ppt/drawings/drawing3.xml><?xml version="1.0" encoding="utf-8"?>
<c:userShapes xmlns:c="http://schemas.openxmlformats.org/drawingml/2006/chart">
  <cdr:relSizeAnchor xmlns:cdr="http://schemas.openxmlformats.org/drawingml/2006/chartDrawing">
    <cdr:from>
      <cdr:x>0.7013</cdr:x>
      <cdr:y>0.62438</cdr:y>
    </cdr:from>
    <cdr:to>
      <cdr:x>0.90097</cdr:x>
      <cdr:y>0.81095</cdr:y>
    </cdr:to>
    <cdr:sp macro="" textlink="">
      <cdr:nvSpPr>
        <cdr:cNvPr id="2" name="Callout: Double Bent Line 1">
          <a:extLst xmlns:a="http://schemas.openxmlformats.org/drawingml/2006/main">
            <a:ext uri="{FF2B5EF4-FFF2-40B4-BE49-F238E27FC236}">
              <a16:creationId xmlns:a16="http://schemas.microsoft.com/office/drawing/2014/main" id="{7A791AD2-2FEA-43FF-A2D5-D1988E231021}"/>
            </a:ext>
          </a:extLst>
        </cdr:cNvPr>
        <cdr:cNvSpPr/>
      </cdr:nvSpPr>
      <cdr:spPr>
        <a:xfrm xmlns:a="http://schemas.openxmlformats.org/drawingml/2006/main">
          <a:off x="6531440" y="3794891"/>
          <a:ext cx="1859631" cy="1133919"/>
        </a:xfrm>
        <a:prstGeom xmlns:a="http://schemas.openxmlformats.org/drawingml/2006/main" prst="borderCallout3">
          <a:avLst>
            <a:gd name="adj1" fmla="val 75272"/>
            <a:gd name="adj2" fmla="val 939"/>
            <a:gd name="adj3" fmla="val 77446"/>
            <a:gd name="adj4" fmla="val -17329"/>
            <a:gd name="adj5" fmla="val -18478"/>
            <a:gd name="adj6" fmla="val -16667"/>
            <a:gd name="adj7" fmla="val -67471"/>
            <a:gd name="adj8" fmla="val 52594"/>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algn="ctr"/>
          <a:r>
            <a:rPr lang="en-US" sz="1400">
              <a:solidFill>
                <a:sysClr val="windowText" lastClr="000000"/>
              </a:solidFill>
            </a:rPr>
            <a:t>Global Financial Crisis (2008) followed by the Sovereign Debt Crisis in the Eurozone</a:t>
          </a:r>
        </a:p>
      </cdr:txBody>
    </cdr:sp>
  </cdr:relSizeAnchor>
  <cdr:relSizeAnchor xmlns:cdr="http://schemas.openxmlformats.org/drawingml/2006/chartDrawing">
    <cdr:from>
      <cdr:x>0.39773</cdr:x>
      <cdr:y>0.13184</cdr:y>
    </cdr:from>
    <cdr:to>
      <cdr:x>0.67045</cdr:x>
      <cdr:y>0.22637</cdr:y>
    </cdr:to>
    <cdr:sp macro="" textlink="">
      <cdr:nvSpPr>
        <cdr:cNvPr id="3" name="TextBox 2">
          <a:extLst xmlns:a="http://schemas.openxmlformats.org/drawingml/2006/main">
            <a:ext uri="{FF2B5EF4-FFF2-40B4-BE49-F238E27FC236}">
              <a16:creationId xmlns:a16="http://schemas.microsoft.com/office/drawing/2014/main" id="{264A1D5D-4A1C-4DBC-9843-1AC50107DA76}"/>
            </a:ext>
          </a:extLst>
        </cdr:cNvPr>
        <cdr:cNvSpPr txBox="1"/>
      </cdr:nvSpPr>
      <cdr:spPr>
        <a:xfrm xmlns:a="http://schemas.openxmlformats.org/drawingml/2006/main">
          <a:off x="3704192" y="801306"/>
          <a:ext cx="2539975" cy="574527"/>
        </a:xfrm>
        <a:prstGeom xmlns:a="http://schemas.openxmlformats.org/drawingml/2006/main" prst="rect">
          <a:avLst/>
        </a:prstGeom>
        <a:ln xmlns:a="http://schemas.openxmlformats.org/drawingml/2006/main">
          <a:solidFill>
            <a:schemeClr val="accent1"/>
          </a:solidFill>
        </a:ln>
      </cdr:spPr>
      <cdr:txBody>
        <a:bodyPr xmlns:a="http://schemas.openxmlformats.org/drawingml/2006/main" vertOverflow="clip" wrap="square" rtlCol="0" anchor="ctr"/>
        <a:lstStyle xmlns:a="http://schemas.openxmlformats.org/drawingml/2006/main"/>
        <a:p xmlns:a="http://schemas.openxmlformats.org/drawingml/2006/main">
          <a:pPr algn="ctr"/>
          <a:r>
            <a:rPr lang="en-IN" sz="1400"/>
            <a:t>Emerging</a:t>
          </a:r>
          <a:r>
            <a:rPr lang="en-IN" sz="1400" baseline="0"/>
            <a:t> economies like India, China and Brazil</a:t>
          </a:r>
          <a:endParaRPr lang="en-IN" sz="1400"/>
        </a:p>
      </cdr:txBody>
    </cdr:sp>
  </cdr:relSizeAnchor>
</c:userShapes>
</file>

<file path=ppt/drawings/drawing4.xml><?xml version="1.0" encoding="utf-8"?>
<c:userShapes xmlns:c="http://schemas.openxmlformats.org/drawingml/2006/chart">
  <cdr:relSizeAnchor xmlns:cdr="http://schemas.openxmlformats.org/drawingml/2006/chartDrawing">
    <cdr:from>
      <cdr:x>0.43019</cdr:x>
      <cdr:y>0.39552</cdr:y>
    </cdr:from>
    <cdr:to>
      <cdr:x>0.77597</cdr:x>
      <cdr:y>0.57214</cdr:y>
    </cdr:to>
    <cdr:sp macro="" textlink="">
      <cdr:nvSpPr>
        <cdr:cNvPr id="2" name="TextBox 1">
          <a:extLst xmlns:a="http://schemas.openxmlformats.org/drawingml/2006/main">
            <a:ext uri="{FF2B5EF4-FFF2-40B4-BE49-F238E27FC236}">
              <a16:creationId xmlns:a16="http://schemas.microsoft.com/office/drawing/2014/main" id="{4B6F211F-DBA0-4F9E-BB6A-93270BDB7A70}"/>
            </a:ext>
          </a:extLst>
        </cdr:cNvPr>
        <cdr:cNvSpPr txBox="1"/>
      </cdr:nvSpPr>
      <cdr:spPr>
        <a:xfrm xmlns:a="http://schemas.openxmlformats.org/drawingml/2006/main">
          <a:off x="4006548" y="2403929"/>
          <a:ext cx="3220357" cy="1073452"/>
        </a:xfrm>
        <a:prstGeom xmlns:a="http://schemas.openxmlformats.org/drawingml/2006/main" prst="rect">
          <a:avLst/>
        </a:prstGeom>
        <a:ln xmlns:a="http://schemas.openxmlformats.org/drawingml/2006/main">
          <a:solidFill>
            <a:schemeClr val="accent1"/>
          </a:solidFill>
        </a:ln>
      </cdr:spPr>
      <cdr:txBody>
        <a:bodyPr xmlns:a="http://schemas.openxmlformats.org/drawingml/2006/main" vertOverflow="clip" wrap="square" rtlCol="0" anchor="ctr"/>
        <a:lstStyle xmlns:a="http://schemas.openxmlformats.org/drawingml/2006/main"/>
        <a:p xmlns:a="http://schemas.openxmlformats.org/drawingml/2006/main">
          <a:pPr algn="ctr"/>
          <a:r>
            <a:rPr lang="en-IN" sz="1400"/>
            <a:t>Notable</a:t>
          </a:r>
          <a:r>
            <a:rPr lang="en-IN" sz="1400" baseline="0"/>
            <a:t> growth rates experienced by coutnries like India and China, accompanied by the emergence of the "global middle class"</a:t>
          </a:r>
          <a:endParaRPr lang="en-IN" sz="1400"/>
        </a:p>
      </cdr:txBody>
    </cdr:sp>
  </cdr:relSizeAnchor>
  <cdr:relSizeAnchor xmlns:cdr="http://schemas.openxmlformats.org/drawingml/2006/chartDrawing">
    <cdr:from>
      <cdr:x>0.09091</cdr:x>
      <cdr:y>0.12687</cdr:y>
    </cdr:from>
    <cdr:to>
      <cdr:x>0.5</cdr:x>
      <cdr:y>0.22886</cdr:y>
    </cdr:to>
    <cdr:sp macro="" textlink="">
      <cdr:nvSpPr>
        <cdr:cNvPr id="3" name="Callout: Double Bent Line 2">
          <a:extLst xmlns:a="http://schemas.openxmlformats.org/drawingml/2006/main">
            <a:ext uri="{FF2B5EF4-FFF2-40B4-BE49-F238E27FC236}">
              <a16:creationId xmlns:a16="http://schemas.microsoft.com/office/drawing/2014/main" id="{2ECB7E06-7626-4720-BDEE-C7623EC3CBF4}"/>
            </a:ext>
          </a:extLst>
        </cdr:cNvPr>
        <cdr:cNvSpPr/>
      </cdr:nvSpPr>
      <cdr:spPr>
        <a:xfrm xmlns:a="http://schemas.openxmlformats.org/drawingml/2006/main">
          <a:off x="846667" y="771071"/>
          <a:ext cx="3810000" cy="619881"/>
        </a:xfrm>
        <a:prstGeom xmlns:a="http://schemas.openxmlformats.org/drawingml/2006/main" prst="borderCallout3">
          <a:avLst>
            <a:gd name="adj1" fmla="val 18750"/>
            <a:gd name="adj2" fmla="val -1984"/>
            <a:gd name="adj3" fmla="val 18750"/>
            <a:gd name="adj4" fmla="val -10715"/>
            <a:gd name="adj5" fmla="val 104762"/>
            <a:gd name="adj6" fmla="val -10715"/>
            <a:gd name="adj7" fmla="val 259730"/>
            <a:gd name="adj8" fmla="val 20636"/>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algn="ctr"/>
          <a:r>
            <a:rPr lang="en-US" sz="1600">
              <a:solidFill>
                <a:schemeClr val="tx1"/>
              </a:solidFill>
            </a:rPr>
            <a:t>Regions like Sub-Saharan Africa and Asia experiencing high economic growth rates</a:t>
          </a:r>
        </a:p>
      </cdr:txBody>
    </cdr:sp>
  </cdr:relSizeAnchor>
  <cdr:relSizeAnchor xmlns:cdr="http://schemas.openxmlformats.org/drawingml/2006/chartDrawing">
    <cdr:from>
      <cdr:x>0.5763</cdr:x>
      <cdr:y>0.04229</cdr:y>
    </cdr:from>
    <cdr:to>
      <cdr:x>0.83279</cdr:x>
      <cdr:y>0.28856</cdr:y>
    </cdr:to>
    <cdr:sp macro="" textlink="">
      <cdr:nvSpPr>
        <cdr:cNvPr id="4" name="Callout: Bent Line 3">
          <a:extLst xmlns:a="http://schemas.openxmlformats.org/drawingml/2006/main">
            <a:ext uri="{FF2B5EF4-FFF2-40B4-BE49-F238E27FC236}">
              <a16:creationId xmlns:a16="http://schemas.microsoft.com/office/drawing/2014/main" id="{8390A2CD-9901-4CB9-8894-C343C16B73CB}"/>
            </a:ext>
          </a:extLst>
        </cdr:cNvPr>
        <cdr:cNvSpPr/>
      </cdr:nvSpPr>
      <cdr:spPr>
        <a:xfrm xmlns:a="http://schemas.openxmlformats.org/drawingml/2006/main">
          <a:off x="5367262" y="257024"/>
          <a:ext cx="2388810" cy="1496786"/>
        </a:xfrm>
        <a:prstGeom xmlns:a="http://schemas.openxmlformats.org/drawingml/2006/main" prst="borderCallout2">
          <a:avLst>
            <a:gd name="adj1" fmla="val 23801"/>
            <a:gd name="adj2" fmla="val 99895"/>
            <a:gd name="adj3" fmla="val 23800"/>
            <a:gd name="adj4" fmla="val 105485"/>
            <a:gd name="adj5" fmla="val 108460"/>
            <a:gd name="adj6" fmla="val 107763"/>
          </a:avLst>
        </a:prstGeom>
        <a:noFill xmlns:a="http://schemas.openxmlformats.org/drawingml/2006/main"/>
        <a:ln xmlns:a="http://schemas.openxmlformats.org/drawingml/2006/main">
          <a:solidFill>
            <a:schemeClr val="accent1"/>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lstStyle xmlns:a="http://schemas.openxmlformats.org/drawingml/2006/main"/>
        <a:p xmlns:a="http://schemas.openxmlformats.org/drawingml/2006/main">
          <a:pPr algn="ctr"/>
          <a:r>
            <a:rPr lang="en-US" sz="1600">
              <a:solidFill>
                <a:sysClr val="windowText" lastClr="000000"/>
              </a:solidFill>
            </a:rPr>
            <a:t>Rising income inequality in spite of overall stagnation in growth rates experienced by advanced economies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FE8E3-02CA-41E6-AA10-8915030B2BDF}" type="datetimeFigureOut">
              <a:rPr lang="en-IN" smtClean="0"/>
              <a:t>20-11-2024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9826E-DEDD-413A-9034-1148EC4583F8}" type="slidenum">
              <a:rPr lang="en-IN" smtClean="0"/>
              <a:t>‹#›</a:t>
            </a:fld>
            <a:endParaRPr lang="en-IN"/>
          </a:p>
        </p:txBody>
      </p:sp>
    </p:spTree>
    <p:extLst>
      <p:ext uri="{BB962C8B-B14F-4D97-AF65-F5344CB8AC3E}">
        <p14:creationId xmlns:p14="http://schemas.microsoft.com/office/powerpoint/2010/main" val="1670079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6</a:t>
            </a:fld>
            <a:endParaRPr lang="en-IN"/>
          </a:p>
        </p:txBody>
      </p:sp>
    </p:spTree>
    <p:extLst>
      <p:ext uri="{BB962C8B-B14F-4D97-AF65-F5344CB8AC3E}">
        <p14:creationId xmlns:p14="http://schemas.microsoft.com/office/powerpoint/2010/main" val="3991980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8</a:t>
            </a:fld>
            <a:endParaRPr lang="en-IN"/>
          </a:p>
        </p:txBody>
      </p:sp>
    </p:spTree>
    <p:extLst>
      <p:ext uri="{BB962C8B-B14F-4D97-AF65-F5344CB8AC3E}">
        <p14:creationId xmlns:p14="http://schemas.microsoft.com/office/powerpoint/2010/main" val="3084759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9</a:t>
            </a:fld>
            <a:endParaRPr lang="en-IN"/>
          </a:p>
        </p:txBody>
      </p:sp>
    </p:spTree>
    <p:extLst>
      <p:ext uri="{BB962C8B-B14F-4D97-AF65-F5344CB8AC3E}">
        <p14:creationId xmlns:p14="http://schemas.microsoft.com/office/powerpoint/2010/main" val="1677170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13</a:t>
            </a:fld>
            <a:endParaRPr lang="en-IN"/>
          </a:p>
        </p:txBody>
      </p:sp>
    </p:spTree>
    <p:extLst>
      <p:ext uri="{BB962C8B-B14F-4D97-AF65-F5344CB8AC3E}">
        <p14:creationId xmlns:p14="http://schemas.microsoft.com/office/powerpoint/2010/main" val="1799492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14</a:t>
            </a:fld>
            <a:endParaRPr lang="en-IN"/>
          </a:p>
        </p:txBody>
      </p:sp>
    </p:spTree>
    <p:extLst>
      <p:ext uri="{BB962C8B-B14F-4D97-AF65-F5344CB8AC3E}">
        <p14:creationId xmlns:p14="http://schemas.microsoft.com/office/powerpoint/2010/main" val="3224055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59826E-DEDD-413A-9034-1148EC4583F8}" type="slidenum">
              <a:rPr lang="en-IN" smtClean="0"/>
              <a:t>21</a:t>
            </a:fld>
            <a:endParaRPr lang="en-IN"/>
          </a:p>
        </p:txBody>
      </p:sp>
    </p:spTree>
    <p:extLst>
      <p:ext uri="{BB962C8B-B14F-4D97-AF65-F5344CB8AC3E}">
        <p14:creationId xmlns:p14="http://schemas.microsoft.com/office/powerpoint/2010/main" val="3670901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98C2-EB05-A356-F21E-A7943F9328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37332C-5940-AF09-0761-304B47E2DD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C577C7-103C-AA65-380B-6E6C5AD32906}"/>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A4836797-9CDC-79E6-82AA-A545D8673D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FB68E0-CF56-08FA-ACD4-C56F807FA7E8}"/>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3287972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92491-B906-12C0-7BA1-D4783B9CE3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ED4171-A2F1-5E35-CDD4-952F3C18F7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83ED28-464F-72DC-9D5D-0BD78926A42E}"/>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3D941877-BC09-860F-9307-57A6C7288F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D8C87-627E-B903-41EB-702A1C98CB79}"/>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706675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3542-E494-9CCB-88AF-4799F4EE4B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52A26B3-2561-A80E-50BC-6678BA2A6C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B85A39-CE74-CF53-3660-74AC0B8FEA24}"/>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6ED7CEC8-E386-D30C-31B2-6FFA6941AF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B8255-14DF-C3F9-1BE5-3DA400C5CA66}"/>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2546289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6A6B-0F19-1F11-6C1E-C96F43B380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0C1D2C-94B5-14AF-305C-BDD0766AAA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8D6AA3-A05E-8362-5775-333873D615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66CE2A-BBB1-5DD0-24F8-9BC9DBE027B0}"/>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6" name="Footer Placeholder 5">
            <a:extLst>
              <a:ext uri="{FF2B5EF4-FFF2-40B4-BE49-F238E27FC236}">
                <a16:creationId xmlns:a16="http://schemas.microsoft.com/office/drawing/2014/main" id="{1C1B8DB7-E7EB-45E8-34A2-C07BA691DD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3374D6-C2F2-9A5B-7B84-A5039A1BCF0B}"/>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1523232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FB85-2B1C-AED3-51AF-BAA7913371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0AB1E4-FFBB-06A6-BAF8-30CB38DA94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A3600E-C33B-A186-3915-56DF3A2E60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7041DE-D914-0D48-BB32-A96ED4D96C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9EC15D-B6EA-E7AF-AC6B-3451A985A1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17DBD2-6F9A-908D-7C28-C2CA1217E0B6}"/>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8" name="Footer Placeholder 7">
            <a:extLst>
              <a:ext uri="{FF2B5EF4-FFF2-40B4-BE49-F238E27FC236}">
                <a16:creationId xmlns:a16="http://schemas.microsoft.com/office/drawing/2014/main" id="{6669D754-4D75-4D07-586A-E7FDA11360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620E27-D57C-F855-2A82-9F586227CD1F}"/>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177766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5743-2A6F-3AD2-312D-4322BD45D4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A28A55-C853-490D-2530-B30B5145D43A}"/>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4" name="Footer Placeholder 3">
            <a:extLst>
              <a:ext uri="{FF2B5EF4-FFF2-40B4-BE49-F238E27FC236}">
                <a16:creationId xmlns:a16="http://schemas.microsoft.com/office/drawing/2014/main" id="{D4BD1CF5-674F-A3E6-15F0-30A9A5763D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D43AFD-6BB6-89C2-74AE-97306264DF70}"/>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414211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D1EC92-73F9-FE2F-2EF3-EEDF75A06444}"/>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3" name="Footer Placeholder 2">
            <a:extLst>
              <a:ext uri="{FF2B5EF4-FFF2-40B4-BE49-F238E27FC236}">
                <a16:creationId xmlns:a16="http://schemas.microsoft.com/office/drawing/2014/main" id="{B7DE94E8-C693-2DD4-E8E2-11EDBB0DBE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10D8EC-B7B0-430C-0F96-039CC7CBD725}"/>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114397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5FC9-C3CC-529E-09D7-45663CC687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E3EDBD-E223-F92C-AEA0-17E6798984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595E22-D20F-EF68-6A72-6B17E1CE6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CFE8D-986D-4207-8D62-546F4F572B60}"/>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6" name="Footer Placeholder 5">
            <a:extLst>
              <a:ext uri="{FF2B5EF4-FFF2-40B4-BE49-F238E27FC236}">
                <a16:creationId xmlns:a16="http://schemas.microsoft.com/office/drawing/2014/main" id="{FB0F900B-2E78-0E19-AE1B-D65DCEC290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DD77C5-1365-818C-8A56-62C34F71D257}"/>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863077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7151-E8B9-B9CF-5AD9-8631601C4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D0258A-96B1-19AC-E0E8-C0219DD188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EDD647-E5F1-BC37-CAD5-7D953CAC3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C7328-BA3B-62CE-F93E-82E422063E04}"/>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6" name="Footer Placeholder 5">
            <a:extLst>
              <a:ext uri="{FF2B5EF4-FFF2-40B4-BE49-F238E27FC236}">
                <a16:creationId xmlns:a16="http://schemas.microsoft.com/office/drawing/2014/main" id="{8F73F8F7-4BB6-ADE4-57CC-6F7F6C5685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E6C11A-1B77-CF53-011D-C54709660593}"/>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3908544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CBC8-50C9-4290-5E7A-ADE6377E26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10213D-810A-239A-41FA-60B61D16D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B3FB5A-2F8A-E38D-53D9-0C8DE502D041}"/>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D0EC8C28-8415-68B5-C825-6F176D33A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CFEB7-A87F-D7B5-0F60-E94D64E98692}"/>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397574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5A8BD-32A2-9E1A-F356-98116FC370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7248CB-CCFF-C83E-AF34-64922C6D8B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ABB7CA-D875-4CC6-8B4D-F2768EEF1285}"/>
              </a:ext>
            </a:extLst>
          </p:cNvPr>
          <p:cNvSpPr>
            <a:spLocks noGrp="1"/>
          </p:cNvSpPr>
          <p:nvPr>
            <p:ph type="dt" sz="half" idx="10"/>
          </p:nvPr>
        </p:nvSpPr>
        <p:spPr/>
        <p:txBody>
          <a:body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A6256E43-4449-C551-F52A-4193866AB4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9B7BE9-03C4-ED15-CAAB-47EB290E5C5B}"/>
              </a:ext>
            </a:extLst>
          </p:cNvPr>
          <p:cNvSpPr>
            <a:spLocks noGrp="1"/>
          </p:cNvSpPr>
          <p:nvPr>
            <p:ph type="sldNum" sz="quarter" idx="12"/>
          </p:nvPr>
        </p:nvSpPr>
        <p:spPr/>
        <p:txBody>
          <a:bodyPr/>
          <a:lstStyle/>
          <a:p>
            <a:fld id="{B3CE0B9E-DCE1-4CB7-97B3-B298BD81A211}" type="slidenum">
              <a:rPr lang="en-IN" smtClean="0"/>
              <a:t>‹#›</a:t>
            </a:fld>
            <a:endParaRPr lang="en-IN"/>
          </a:p>
        </p:txBody>
      </p:sp>
    </p:spTree>
    <p:extLst>
      <p:ext uri="{BB962C8B-B14F-4D97-AF65-F5344CB8AC3E}">
        <p14:creationId xmlns:p14="http://schemas.microsoft.com/office/powerpoint/2010/main" val="244683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A8F757-3823-FD1E-E7D2-6E792D450B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40332F-C8BD-4624-3E1A-CBB682376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C0BB15-70D3-B767-5BD4-AFA487433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5556E3-7A5D-4FF1-81BA-EA5B050C28B0}" type="datetimeFigureOut">
              <a:rPr lang="en-IN" smtClean="0"/>
              <a:t>20-11-2024</a:t>
            </a:fld>
            <a:endParaRPr lang="en-IN"/>
          </a:p>
        </p:txBody>
      </p:sp>
      <p:sp>
        <p:nvSpPr>
          <p:cNvPr id="5" name="Footer Placeholder 4">
            <a:extLst>
              <a:ext uri="{FF2B5EF4-FFF2-40B4-BE49-F238E27FC236}">
                <a16:creationId xmlns:a16="http://schemas.microsoft.com/office/drawing/2014/main" id="{E6896BF9-08EF-EFC9-C848-716CF57CD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8170B1-0D32-28C6-6F9C-BA3829712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E0B9E-DCE1-4CB7-97B3-B298BD81A211}" type="slidenum">
              <a:rPr lang="en-IN" smtClean="0"/>
              <a:t>‹#›</a:t>
            </a:fld>
            <a:endParaRPr lang="en-IN"/>
          </a:p>
        </p:txBody>
      </p:sp>
    </p:spTree>
    <p:extLst>
      <p:ext uri="{BB962C8B-B14F-4D97-AF65-F5344CB8AC3E}">
        <p14:creationId xmlns:p14="http://schemas.microsoft.com/office/powerpoint/2010/main" val="442576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9.png"/><Relationship Id="rId1" Type="http://schemas.openxmlformats.org/officeDocument/2006/relationships/slideLayout" Target="../slideLayouts/slideLayout7.xml"/><Relationship Id="rId5" Type="http://schemas.microsoft.com/office/2007/relationships/hdphoto" Target="../media/hdphoto5.wdp"/><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284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ADF7-8B82-F335-95DF-8653168F18B5}"/>
              </a:ext>
            </a:extLst>
          </p:cNvPr>
          <p:cNvSpPr>
            <a:spLocks noGrp="1"/>
          </p:cNvSpPr>
          <p:nvPr>
            <p:ph type="ctrTitle"/>
          </p:nvPr>
        </p:nvSpPr>
        <p:spPr>
          <a:xfrm>
            <a:off x="138719" y="1681271"/>
            <a:ext cx="7641773" cy="2660985"/>
          </a:xfrm>
          <a:solidFill>
            <a:srgbClr val="909389"/>
          </a:solidFill>
        </p:spPr>
        <p:txBody>
          <a:bodyPr>
            <a:normAutofit/>
          </a:bodyPr>
          <a:lstStyle/>
          <a:p>
            <a:pPr algn="r"/>
            <a:r>
              <a:rPr lang="en-US" sz="4400" b="1" dirty="0">
                <a:latin typeface="Times New Roman" panose="02020603050405020304" pitchFamily="18" charset="0"/>
                <a:cs typeface="Times New Roman" panose="02020603050405020304" pitchFamily="18" charset="0"/>
              </a:rPr>
              <a:t>Mapping Inequality </a:t>
            </a:r>
            <a:r>
              <a:rPr lang="en-US" sz="6700" b="1" dirty="0">
                <a:solidFill>
                  <a:srgbClr val="C00000"/>
                </a:solidFill>
                <a:latin typeface="Bodoni MT Black" panose="02070A03080606020203" pitchFamily="18" charset="0"/>
                <a:cs typeface="Times New Roman" panose="02020603050405020304" pitchFamily="18" charset="0"/>
              </a:rPr>
              <a:t>POVERTY</a:t>
            </a:r>
            <a:r>
              <a:rPr lang="en-US" sz="3600" b="1" dirty="0">
                <a:latin typeface="Bell MT" panose="02020503060305020303" pitchFamily="18" charset="0"/>
                <a:cs typeface="Times New Roman" panose="02020603050405020304" pitchFamily="18" charset="0"/>
              </a:rPr>
              <a:t> </a:t>
            </a:r>
            <a:br>
              <a:rPr lang="en-US" sz="3600" b="1" dirty="0">
                <a:latin typeface="Bell MT" panose="02020503060305020303" pitchFamily="18" charset="0"/>
                <a:cs typeface="Times New Roman" panose="02020603050405020304" pitchFamily="18" charset="0"/>
              </a:rPr>
            </a:br>
            <a:r>
              <a:rPr lang="en-US" sz="3600" b="1" dirty="0">
                <a:latin typeface="Bell MT" panose="02020503060305020303" pitchFamily="18" charset="0"/>
                <a:cs typeface="Times New Roman" panose="02020603050405020304" pitchFamily="18" charset="0"/>
              </a:rPr>
              <a:t>Gap Analysis </a:t>
            </a:r>
            <a:r>
              <a:rPr lang="en-US" sz="3600" b="1" dirty="0">
                <a:solidFill>
                  <a:srgbClr val="BEBABA"/>
                </a:solidFill>
                <a:latin typeface="Engravers MT" panose="02090707080505020304" pitchFamily="18" charset="0"/>
                <a:ea typeface="Cascadia Mono ExtraLight" panose="020B0609020000020004" pitchFamily="49" charset="0"/>
                <a:cs typeface="Cascadia Mono ExtraLight" panose="020B0609020000020004" pitchFamily="49" charset="0"/>
              </a:rPr>
              <a:t>Across Regions</a:t>
            </a:r>
            <a:endParaRPr lang="en-IN" sz="3600" b="1" dirty="0">
              <a:solidFill>
                <a:srgbClr val="BEBABA"/>
              </a:solidFill>
              <a:latin typeface="Engravers MT" panose="02090707080505020304" pitchFamily="18" charset="0"/>
              <a:ea typeface="Cascadia Mono ExtraLight" panose="020B0609020000020004" pitchFamily="49" charset="0"/>
              <a:cs typeface="Cascadia Mono ExtraLight" panose="020B0609020000020004" pitchFamily="49" charset="0"/>
            </a:endParaRPr>
          </a:p>
        </p:txBody>
      </p:sp>
      <p:pic>
        <p:nvPicPr>
          <p:cNvPr id="4" name="Picture 3">
            <a:extLst>
              <a:ext uri="{FF2B5EF4-FFF2-40B4-BE49-F238E27FC236}">
                <a16:creationId xmlns:a16="http://schemas.microsoft.com/office/drawing/2014/main" id="{B7A661AF-BDA3-21BA-A6A7-0E3D4E0840D5}"/>
              </a:ext>
            </a:extLst>
          </p:cNvPr>
          <p:cNvPicPr>
            <a:picLocks noChangeAspect="1"/>
          </p:cNvPicPr>
          <p:nvPr/>
        </p:nvPicPr>
        <p:blipFill>
          <a:blip r:embed="rId2">
            <a:extLst>
              <a:ext uri="{28A0092B-C50C-407E-A947-70E740481C1C}">
                <a14:useLocalDpi xmlns:a14="http://schemas.microsoft.com/office/drawing/2010/main" val="0"/>
              </a:ext>
            </a:extLst>
          </a:blip>
          <a:srcRect l="2481" t="1818" r="2648" b="1818"/>
          <a:stretch/>
        </p:blipFill>
        <p:spPr>
          <a:xfrm>
            <a:off x="8232395" y="0"/>
            <a:ext cx="3959605" cy="4222516"/>
          </a:xfrm>
          <a:prstGeom prst="rect">
            <a:avLst/>
          </a:prstGeom>
          <a:effectLst>
            <a:reflection stA="93000" endPos="65000" dist="50800" dir="5400000" sy="-100000" algn="bl" rotWithShape="0"/>
          </a:effectLst>
        </p:spPr>
      </p:pic>
      <p:cxnSp>
        <p:nvCxnSpPr>
          <p:cNvPr id="12" name="Straight Connector 11">
            <a:extLst>
              <a:ext uri="{FF2B5EF4-FFF2-40B4-BE49-F238E27FC236}">
                <a16:creationId xmlns:a16="http://schemas.microsoft.com/office/drawing/2014/main" id="{5EDE02A2-F73E-7988-0044-80C9B845A7C3}"/>
              </a:ext>
            </a:extLst>
          </p:cNvPr>
          <p:cNvCxnSpPr/>
          <p:nvPr/>
        </p:nvCxnSpPr>
        <p:spPr>
          <a:xfrm>
            <a:off x="283028" y="4685728"/>
            <a:ext cx="7652657" cy="0"/>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527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69696"/>
        </a:solidFill>
        <a:effectLst/>
      </p:bgPr>
    </p:bg>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683D129F-1E32-A092-C1A7-6B200F00324F}"/>
              </a:ext>
            </a:extLst>
          </p:cNvPr>
          <p:cNvGraphicFramePr>
            <a:graphicFrameLocks/>
          </p:cNvGraphicFramePr>
          <p:nvPr>
            <p:extLst>
              <p:ext uri="{D42A27DB-BD31-4B8C-83A1-F6EECF244321}">
                <p14:modId xmlns:p14="http://schemas.microsoft.com/office/powerpoint/2010/main" val="1261324214"/>
              </p:ext>
            </p:extLst>
          </p:nvPr>
        </p:nvGraphicFramePr>
        <p:xfrm>
          <a:off x="5192486" y="97971"/>
          <a:ext cx="6743874" cy="4835014"/>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4E4FB60A-60CF-5A5B-FA62-03EA30CD031E}"/>
              </a:ext>
            </a:extLst>
          </p:cNvPr>
          <p:cNvSpPr txBox="1"/>
          <p:nvPr/>
        </p:nvSpPr>
        <p:spPr>
          <a:xfrm>
            <a:off x="139535" y="335076"/>
            <a:ext cx="4911435" cy="6282746"/>
          </a:xfrm>
          <a:prstGeom prst="rect">
            <a:avLst/>
          </a:prstGeom>
          <a:solidFill>
            <a:srgbClr val="A9A9A9"/>
          </a:solidFill>
        </p:spPr>
        <p:txBody>
          <a:bodyPr wrap="square">
            <a:spAutoFit/>
          </a:bodyPr>
          <a:lstStyle/>
          <a:p>
            <a:pPr marL="342900" indent="-342900">
              <a:lnSpc>
                <a:spcPct val="107000"/>
              </a:lnSpc>
              <a:spcAft>
                <a:spcPts val="800"/>
              </a:spcAft>
              <a:buAutoNum type="arabicPeriod"/>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Sub-Saharan Africa: Persistent High Poverty Gap</a:t>
            </a:r>
            <a:r>
              <a:rPr lang="en-IN" b="1" kern="100" dirty="0">
                <a:latin typeface="Times New Roman" panose="02020603050405020304" pitchFamily="18" charset="0"/>
                <a:ea typeface="Calibri" panose="020F0502020204030204" pitchFamily="34" charset="0"/>
                <a:cs typeface="Times New Roman" panose="02020603050405020304" pitchFamily="18" charset="0"/>
              </a:rPr>
              <a:t> </a:t>
            </a:r>
            <a:r>
              <a:rPr lang="en-IN" dirty="0">
                <a:effectLst/>
                <a:latin typeface="Times New Roman" panose="02020603050405020304" pitchFamily="18" charset="0"/>
                <a:ea typeface="Calibri" panose="020F0502020204030204" pitchFamily="34" charset="0"/>
                <a:cs typeface="Times New Roman" panose="02020603050405020304" pitchFamily="18" charset="0"/>
              </a:rPr>
              <a:t>This region </a:t>
            </a:r>
            <a:r>
              <a:rPr lang="en-IN"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faced the highest poverty gap</a:t>
            </a:r>
            <a:r>
              <a:rPr lang="en-IN" dirty="0">
                <a:effectLst/>
                <a:latin typeface="Times New Roman" panose="02020603050405020304" pitchFamily="18" charset="0"/>
                <a:ea typeface="Calibri" panose="020F0502020204030204" pitchFamily="34" charset="0"/>
                <a:cs typeface="Times New Roman" panose="02020603050405020304" pitchFamily="18" charset="0"/>
              </a:rPr>
              <a:t>, peaking in the early 1990s, followed by a gradual decline with fluctuations. </a:t>
            </a:r>
            <a:r>
              <a:rPr lang="en-IN"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Economic stagnation, political instability health crisis like HIV/AIDS worsened poverty</a:t>
            </a:r>
            <a:endParaRPr lang="en-IN" dirty="0">
              <a:highlight>
                <a:srgbClr val="C0C0C0"/>
              </a:highligh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AutoNum type="arabicPeriod"/>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South Asia: Steady Decline in Poverty Gap: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poverty gap in South Asia </a:t>
            </a:r>
            <a:r>
              <a:rPr lang="en-IN"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peaked in the late 1980s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but has shown a consistent decline, particularly since the early 2000s. </a:t>
            </a:r>
            <a:r>
              <a:rPr lang="en-IN" i="1"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Economic liberalization, </a:t>
            </a:r>
            <a:r>
              <a:rPr lang="en-IN" i="1" kern="100" dirty="0">
                <a:highlight>
                  <a:srgbClr val="C0C0C0"/>
                </a:highlight>
                <a:latin typeface="Times New Roman" panose="02020603050405020304" pitchFamily="18" charset="0"/>
                <a:ea typeface="Calibri" panose="020F0502020204030204" pitchFamily="34" charset="0"/>
                <a:cs typeface="Times New Roman" panose="02020603050405020304" pitchFamily="18" charset="0"/>
              </a:rPr>
              <a:t>a</a:t>
            </a:r>
            <a:r>
              <a:rPr lang="en-IN" i="1"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gricultural productivity improvements during the Green Revolution reduced rural poverty</a:t>
            </a:r>
            <a:endParaRPr lang="en-IN"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AutoNum type="arabicPeriod"/>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East Asia &amp; Pacific: Remarkable Decline in Poverty </a:t>
            </a:r>
            <a:r>
              <a:rPr lang="en-IN" b="1" kern="100" dirty="0" err="1">
                <a:effectLst/>
                <a:latin typeface="Times New Roman" panose="02020603050405020304" pitchFamily="18" charset="0"/>
                <a:ea typeface="Calibri" panose="020F0502020204030204" pitchFamily="34" charset="0"/>
                <a:cs typeface="Times New Roman" panose="02020603050405020304" pitchFamily="18" charset="0"/>
              </a:rPr>
              <a:t>Gap</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There</a:t>
            </a:r>
            <a:r>
              <a:rPr lang="en-IN" dirty="0">
                <a:effectLst/>
                <a:latin typeface="Times New Roman" panose="02020603050405020304" pitchFamily="18" charset="0"/>
                <a:ea typeface="Calibri" panose="020F0502020204030204" pitchFamily="34" charset="0"/>
                <a:cs typeface="Times New Roman" panose="02020603050405020304" pitchFamily="18" charset="0"/>
              </a:rPr>
              <a:t> is a consistent </a:t>
            </a:r>
            <a:r>
              <a:rPr lang="en-IN"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decrease in poverty gap  from the mid-1980s</a:t>
            </a:r>
            <a:r>
              <a:rPr lang="en-IN" dirty="0">
                <a:effectLst/>
                <a:latin typeface="Times New Roman" panose="02020603050405020304" pitchFamily="18" charset="0"/>
                <a:ea typeface="Calibri" panose="020F0502020204030204" pitchFamily="34" charset="0"/>
                <a:cs typeface="Times New Roman" panose="02020603050405020304" pitchFamily="18" charset="0"/>
              </a:rPr>
              <a:t>, with a sharp decline post-1990. </a:t>
            </a:r>
            <a:r>
              <a:rPr lang="en-IN"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Economic reforms, drove down the poverty gap, reflecting rapid industrialization.</a:t>
            </a:r>
            <a:endParaRPr lang="en-IN" dirty="0">
              <a:highlight>
                <a:srgbClr val="C0C0C0"/>
              </a:highligh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IN" sz="1600" dirty="0"/>
          </a:p>
        </p:txBody>
      </p:sp>
      <p:sp>
        <p:nvSpPr>
          <p:cNvPr id="3" name="TextBox 2">
            <a:extLst>
              <a:ext uri="{FF2B5EF4-FFF2-40B4-BE49-F238E27FC236}">
                <a16:creationId xmlns:a16="http://schemas.microsoft.com/office/drawing/2014/main" id="{63101C04-3976-E009-0E7D-37751DDE2074}"/>
              </a:ext>
            </a:extLst>
          </p:cNvPr>
          <p:cNvSpPr txBox="1"/>
          <p:nvPr/>
        </p:nvSpPr>
        <p:spPr>
          <a:xfrm>
            <a:off x="5050970" y="5063614"/>
            <a:ext cx="6885390" cy="1554208"/>
          </a:xfrm>
          <a:prstGeom prst="rect">
            <a:avLst/>
          </a:prstGeom>
          <a:solidFill>
            <a:srgbClr val="A9A9A9"/>
          </a:solidFill>
        </p:spPr>
        <p:txBody>
          <a:bodyPr wrap="square">
            <a:spAutoFit/>
          </a:bodyPr>
          <a:lstStyle/>
          <a:p>
            <a:pPr>
              <a:lnSpc>
                <a:spcPct val="107000"/>
              </a:lnSpc>
              <a:spcAft>
                <a:spcPts val="800"/>
              </a:spcAf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4. Latin America &amp; Caribbean: Stable and Low Poverty : </a:t>
            </a:r>
            <a:r>
              <a:rPr lang="en-IN"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Relatively </a:t>
            </a:r>
            <a:r>
              <a:rPr lang="en-IN" b="1" kern="1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en-IN"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low poverty gap, with slight fluctuations across the period</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Some social policies like conditional cash transfers in Brazil and Mexico </a:t>
            </a:r>
            <a:r>
              <a:rPr lang="en-IN"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Economic stability </a:t>
            </a:r>
            <a:r>
              <a:rPr lang="en-IN" kern="100" dirty="0">
                <a:highlight>
                  <a:srgbClr val="C0C0C0"/>
                </a:highlight>
                <a:latin typeface="Times New Roman" panose="02020603050405020304" pitchFamily="18" charset="0"/>
                <a:ea typeface="Calibri" panose="020F0502020204030204" pitchFamily="34" charset="0"/>
                <a:cs typeface="Times New Roman" panose="02020603050405020304" pitchFamily="18" charset="0"/>
              </a:rPr>
              <a:t>contributed </a:t>
            </a:r>
            <a:r>
              <a:rPr lang="en-IN"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to low poverty levels helped to maintain low poverty level over the year.</a:t>
            </a:r>
          </a:p>
        </p:txBody>
      </p:sp>
    </p:spTree>
    <p:extLst>
      <p:ext uri="{BB962C8B-B14F-4D97-AF65-F5344CB8AC3E}">
        <p14:creationId xmlns:p14="http://schemas.microsoft.com/office/powerpoint/2010/main" val="229561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37D7D"/>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7CFB5-C81E-68C5-401E-FA9834125BB8}"/>
              </a:ext>
            </a:extLst>
          </p:cNvPr>
          <p:cNvSpPr>
            <a:spLocks noGrp="1"/>
          </p:cNvSpPr>
          <p:nvPr>
            <p:ph idx="1"/>
          </p:nvPr>
        </p:nvSpPr>
        <p:spPr>
          <a:xfrm>
            <a:off x="468085" y="249273"/>
            <a:ext cx="10951029" cy="2722527"/>
          </a:xfrm>
          <a:solidFill>
            <a:srgbClr val="B2AEAE"/>
          </a:solidFill>
        </p:spPr>
        <p:txBody>
          <a:bodyPr>
            <a:noAutofit/>
          </a:bodyPr>
          <a:lstStyle/>
          <a:p>
            <a:pPr marL="342900" indent="-342900">
              <a:lnSpc>
                <a:spcPct val="107000"/>
              </a:lnSpc>
              <a:spcAft>
                <a:spcPts val="800"/>
              </a:spcAft>
              <a:buAutoNum type="arabicPeriod" startAt="5"/>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Europe &amp; Central Asia: Minimal Poverty </a:t>
            </a:r>
            <a:r>
              <a:rPr lang="en-IN" sz="2000" b="1" kern="100" dirty="0" err="1">
                <a:effectLst/>
                <a:latin typeface="Times New Roman" panose="02020603050405020304" pitchFamily="18" charset="0"/>
                <a:ea typeface="Calibri" panose="020F0502020204030204" pitchFamily="34" charset="0"/>
                <a:cs typeface="Times New Roman" panose="02020603050405020304" pitchFamily="18" charset="0"/>
              </a:rPr>
              <a:t>Gap</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a:t>
            </a:r>
            <a:r>
              <a:rPr lang="en-IN" sz="2000" b="1"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Low</a:t>
            </a:r>
            <a:r>
              <a:rPr lang="en-IN" sz="20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poverty gap initially, rising around the early 1990s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due to post-Soviet transition, then gradually decreasing. </a:t>
            </a:r>
            <a:r>
              <a:rPr lang="en-IN" sz="20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Economic restructuring and market adaptation helped reduce the poverty gap after the 1990s. </a:t>
            </a:r>
            <a:endParaRPr lang="en-IN" sz="2000" dirty="0">
              <a:highlight>
                <a:srgbClr val="C0C0C0"/>
              </a:highligh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07000"/>
              </a:lnSpc>
              <a:spcAft>
                <a:spcPts val="800"/>
              </a:spcAft>
              <a:buAutoNum type="arabicPeriod" startAt="5"/>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Middle East &amp; North Africa: Low and Stable Poverty Gap</a:t>
            </a:r>
            <a:r>
              <a:rPr lang="en-IN" sz="20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Generally low poverty gap with some fluctuations, especially in conflict-prone </a:t>
            </a:r>
            <a:r>
              <a:rPr lang="en-IN" sz="2000" b="1" kern="100"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years.</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Oil</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revenues funded infrastructure, education, and healthcare, reducing extreme poverty in oil-exporting countries. </a:t>
            </a:r>
            <a:r>
              <a:rPr lang="en-IN" sz="2000"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Political instability and conflicts in countries like Iraq and Syria caused occasional spikes.</a:t>
            </a:r>
          </a:p>
          <a:p>
            <a:pPr marL="0" indent="0">
              <a:buNone/>
            </a:pPr>
            <a:endParaRPr lang="en-IN" sz="1600" dirty="0"/>
          </a:p>
        </p:txBody>
      </p:sp>
      <p:pic>
        <p:nvPicPr>
          <p:cNvPr id="6" name="Picture 5">
            <a:extLst>
              <a:ext uri="{FF2B5EF4-FFF2-40B4-BE49-F238E27FC236}">
                <a16:creationId xmlns:a16="http://schemas.microsoft.com/office/drawing/2014/main" id="{48EB730D-25DB-99DD-8379-4977FDCBBAD4}"/>
              </a:ext>
            </a:extLst>
          </p:cNvPr>
          <p:cNvPicPr>
            <a:picLocks noChangeAspect="1"/>
          </p:cNvPicPr>
          <p:nvPr/>
        </p:nvPicPr>
        <p:blipFill>
          <a:blip r:embed="rId2">
            <a:duotone>
              <a:prstClr val="black"/>
              <a:srgbClr val="D9C3A5">
                <a:tint val="50000"/>
                <a:satMod val="180000"/>
              </a:srgbClr>
            </a:duotone>
            <a:alphaModFix amt="35000"/>
            <a:extLst>
              <a:ext uri="{BEBA8EAE-BF5A-486C-A8C5-ECC9F3942E4B}">
                <a14:imgProps xmlns:a14="http://schemas.microsoft.com/office/drawing/2010/main">
                  <a14:imgLayer r:embed="rId3">
                    <a14:imgEffect>
                      <a14:artisticGlowDiffused/>
                    </a14:imgEffect>
                  </a14:imgLayer>
                </a14:imgProps>
              </a:ext>
              <a:ext uri="{28A0092B-C50C-407E-A947-70E740481C1C}">
                <a14:useLocalDpi xmlns:a14="http://schemas.microsoft.com/office/drawing/2010/main" val="0"/>
              </a:ext>
            </a:extLst>
          </a:blip>
          <a:stretch>
            <a:fillRect/>
          </a:stretch>
        </p:blipFill>
        <p:spPr>
          <a:xfrm>
            <a:off x="174172" y="2721429"/>
            <a:ext cx="7336972" cy="4136571"/>
          </a:xfrm>
          <a:prstGeom prst="rect">
            <a:avLst/>
          </a:prstGeom>
          <a:effectLst>
            <a:reflection stA="0" endPos="57000" dist="50800" dir="5400000" sy="-100000" algn="bl" rotWithShape="0"/>
          </a:effectLst>
        </p:spPr>
      </p:pic>
      <p:sp>
        <p:nvSpPr>
          <p:cNvPr id="8" name="TextBox 7">
            <a:extLst>
              <a:ext uri="{FF2B5EF4-FFF2-40B4-BE49-F238E27FC236}">
                <a16:creationId xmlns:a16="http://schemas.microsoft.com/office/drawing/2014/main" id="{A77C5159-770C-084B-6974-6F58AE499965}"/>
              </a:ext>
            </a:extLst>
          </p:cNvPr>
          <p:cNvSpPr txBox="1"/>
          <p:nvPr/>
        </p:nvSpPr>
        <p:spPr>
          <a:xfrm>
            <a:off x="7010400" y="3709324"/>
            <a:ext cx="5181600" cy="2585323"/>
          </a:xfrm>
          <a:prstGeom prst="rect">
            <a:avLst/>
          </a:prstGeom>
          <a:solidFill>
            <a:srgbClr val="B2AEAE"/>
          </a:solidFill>
        </p:spPr>
        <p:txBody>
          <a:bodyPr wrap="square">
            <a:spAutoFit/>
          </a:bodyPr>
          <a:lstStyle/>
          <a:p>
            <a:pPr marL="457200" indent="-457200">
              <a:buAutoNum type="arabicPeriod" startAt="7"/>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High-Income Countries: Negligible Poverty Gap: </a:t>
            </a:r>
            <a:r>
              <a:rPr lang="en-IN" sz="18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The poverty gap in high-income countries is     effectively negligible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Strong economies, advanced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labor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markets, and robust social safety nets ensured that extreme poverty was virtually eliminated. Investments in </a:t>
            </a:r>
            <a:r>
              <a:rPr lang="en-IN" sz="1800" kern="10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healthcare, education, and unemployment benefits provided a cushion for vulnerable populations.</a:t>
            </a:r>
            <a:endParaRPr lang="en-IN" sz="1600" kern="1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3327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B4B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2BA0-6DE0-A96C-3EF7-3DC6FE13D972}"/>
              </a:ext>
            </a:extLst>
          </p:cNvPr>
          <p:cNvSpPr>
            <a:spLocks noGrp="1"/>
          </p:cNvSpPr>
          <p:nvPr>
            <p:ph type="title"/>
          </p:nvPr>
        </p:nvSpPr>
        <p:spPr>
          <a:xfrm>
            <a:off x="370115" y="18255"/>
            <a:ext cx="2068286" cy="1325563"/>
          </a:xfrm>
        </p:spPr>
        <p:txBody>
          <a:bodyPr/>
          <a:lstStyle/>
          <a:p>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p>
        </p:txBody>
      </p:sp>
      <p:graphicFrame>
        <p:nvGraphicFramePr>
          <p:cNvPr id="4" name="Content Placeholder 3">
            <a:extLst>
              <a:ext uri="{FF2B5EF4-FFF2-40B4-BE49-F238E27FC236}">
                <a16:creationId xmlns:a16="http://schemas.microsoft.com/office/drawing/2014/main" id="{1530A511-C7AA-8901-09D5-7FED09780ADB}"/>
              </a:ext>
            </a:extLst>
          </p:cNvPr>
          <p:cNvGraphicFramePr>
            <a:graphicFrameLocks noGrp="1"/>
          </p:cNvGraphicFramePr>
          <p:nvPr>
            <p:ph idx="1"/>
            <p:extLst>
              <p:ext uri="{D42A27DB-BD31-4B8C-83A1-F6EECF244321}">
                <p14:modId xmlns:p14="http://schemas.microsoft.com/office/powerpoint/2010/main" val="87616421"/>
              </p:ext>
            </p:extLst>
          </p:nvPr>
        </p:nvGraphicFramePr>
        <p:xfrm>
          <a:off x="576943" y="108857"/>
          <a:ext cx="11397343" cy="64987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778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49494"/>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A3522D-2692-6D9F-CF87-F42F26C54437}"/>
              </a:ext>
            </a:extLst>
          </p:cNvPr>
          <p:cNvSpPr txBox="1"/>
          <p:nvPr/>
        </p:nvSpPr>
        <p:spPr>
          <a:xfrm>
            <a:off x="4434442" y="191696"/>
            <a:ext cx="7504771" cy="3416320"/>
          </a:xfrm>
          <a:prstGeom prst="rect">
            <a:avLst/>
          </a:prstGeom>
          <a:noFill/>
        </p:spPr>
        <p:txBody>
          <a:bodyPr wrap="square">
            <a:spAutoFit/>
          </a:bodyPr>
          <a:lstStyle/>
          <a:p>
            <a:pPr algn="r"/>
            <a:r>
              <a:rPr lang="en-US" sz="3600" dirty="0">
                <a:latin typeface="Times New Roman" panose="02020603050405020304" pitchFamily="18" charset="0"/>
                <a:cs typeface="Times New Roman" panose="02020603050405020304" pitchFamily="18" charset="0"/>
              </a:rPr>
              <a:t>Tracking global </a:t>
            </a:r>
            <a:r>
              <a:rPr lang="en-US" sz="5400" b="1" dirty="0">
                <a:latin typeface="Times New Roman" panose="02020603050405020304" pitchFamily="18" charset="0"/>
                <a:cs typeface="Times New Roman" panose="02020603050405020304" pitchFamily="18" charset="0"/>
              </a:rPr>
              <a:t>INCOME INEQUALITY</a:t>
            </a:r>
          </a:p>
          <a:p>
            <a:pPr algn="r"/>
            <a:r>
              <a:rPr lang="en-US" sz="3600" dirty="0">
                <a:solidFill>
                  <a:srgbClr val="C00000"/>
                </a:solidFill>
                <a:latin typeface="Stencil" panose="040409050D0802020404" pitchFamily="82" charset="0"/>
                <a:cs typeface="Times New Roman" panose="02020603050405020304" pitchFamily="18" charset="0"/>
              </a:rPr>
              <a:t>A decade-wise exploration across income groups </a:t>
            </a:r>
          </a:p>
          <a:p>
            <a:pPr algn="r"/>
            <a:r>
              <a:rPr lang="en-US" sz="3600" dirty="0">
                <a:solidFill>
                  <a:srgbClr val="C00000"/>
                </a:solidFill>
                <a:latin typeface="Stencil" panose="040409050D0802020404" pitchFamily="82" charset="0"/>
                <a:cs typeface="Times New Roman" panose="02020603050405020304" pitchFamily="18" charset="0"/>
              </a:rPr>
              <a:t>(1980–2019)</a:t>
            </a:r>
            <a:endParaRPr lang="en-IN" sz="3600" dirty="0">
              <a:solidFill>
                <a:srgbClr val="C00000"/>
              </a:solidFill>
              <a:latin typeface="Stencil" panose="040409050D0802020404" pitchFamily="82" charset="0"/>
              <a:cs typeface="Times New Roman" panose="02020603050405020304" pitchFamily="18" charset="0"/>
            </a:endParaRPr>
          </a:p>
        </p:txBody>
      </p:sp>
      <p:pic>
        <p:nvPicPr>
          <p:cNvPr id="3" name="Picture 2">
            <a:extLst>
              <a:ext uri="{FF2B5EF4-FFF2-40B4-BE49-F238E27FC236}">
                <a16:creationId xmlns:a16="http://schemas.microsoft.com/office/drawing/2014/main" id="{6728CB50-9A6C-13FD-76DD-1C3D484A7D3D}"/>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2547257"/>
            <a:ext cx="6368143" cy="3537857"/>
          </a:xfrm>
          <a:prstGeom prst="rect">
            <a:avLst/>
          </a:prstGeom>
        </p:spPr>
      </p:pic>
      <p:pic>
        <p:nvPicPr>
          <p:cNvPr id="8" name="Picture 7">
            <a:extLst>
              <a:ext uri="{FF2B5EF4-FFF2-40B4-BE49-F238E27FC236}">
                <a16:creationId xmlns:a16="http://schemas.microsoft.com/office/drawing/2014/main" id="{B30D29CC-2CD8-652F-F08B-C0CEC6796BE9}"/>
              </a:ext>
            </a:extLst>
          </p:cNvPr>
          <p:cNvPicPr>
            <a:picLocks noChangeAspect="1"/>
          </p:cNvPicPr>
          <p:nvPr/>
        </p:nvPicPr>
        <p:blipFill>
          <a:blip r:embed="rId3">
            <a:extLst>
              <a:ext uri="{28A0092B-C50C-407E-A947-70E740481C1C}">
                <a14:useLocalDpi xmlns:a14="http://schemas.microsoft.com/office/drawing/2010/main" val="0"/>
              </a:ext>
            </a:extLst>
          </a:blip>
          <a:srcRect l="14313"/>
          <a:stretch/>
        </p:blipFill>
        <p:spPr>
          <a:xfrm>
            <a:off x="7641771" y="3891900"/>
            <a:ext cx="4550229" cy="2966100"/>
          </a:xfrm>
          <a:prstGeom prst="rect">
            <a:avLst/>
          </a:prstGeom>
        </p:spPr>
      </p:pic>
      <p:cxnSp>
        <p:nvCxnSpPr>
          <p:cNvPr id="10" name="Straight Connector 9">
            <a:extLst>
              <a:ext uri="{FF2B5EF4-FFF2-40B4-BE49-F238E27FC236}">
                <a16:creationId xmlns:a16="http://schemas.microsoft.com/office/drawing/2014/main" id="{2B8E02FA-D692-CCB6-00FA-F79E33058D36}"/>
              </a:ext>
            </a:extLst>
          </p:cNvPr>
          <p:cNvCxnSpPr>
            <a:cxnSpLocks/>
          </p:cNvCxnSpPr>
          <p:nvPr/>
        </p:nvCxnSpPr>
        <p:spPr>
          <a:xfrm>
            <a:off x="119743" y="6335486"/>
            <a:ext cx="7293428" cy="76200"/>
          </a:xfrm>
          <a:prstGeom prst="line">
            <a:avLst/>
          </a:prstGeom>
          <a:ln w="571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7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98019FD-D622-55D4-353D-277BC9365B0F}"/>
              </a:ext>
            </a:extLst>
          </p:cNvPr>
          <p:cNvSpPr txBox="1"/>
          <p:nvPr/>
        </p:nvSpPr>
        <p:spPr>
          <a:xfrm>
            <a:off x="4947100" y="5927233"/>
            <a:ext cx="7009150" cy="714298"/>
          </a:xfrm>
          <a:prstGeom prst="rect">
            <a:avLst/>
          </a:prstGeom>
          <a:solidFill>
            <a:srgbClr val="AEAEAE"/>
          </a:solidFill>
        </p:spPr>
        <p:txBody>
          <a:bodyPr wrap="square">
            <a:spAutoFit/>
          </a:bodyPr>
          <a:lstStyle/>
          <a:p>
            <a:pPr algn="l">
              <a:lnSpc>
                <a:spcPts val="2538"/>
              </a:lnSpc>
            </a:pPr>
            <a:r>
              <a:rPr lang="en-US" b="0" i="0" dirty="0">
                <a:effectLst/>
                <a:latin typeface="Times New Roman" panose="02020603050405020304" pitchFamily="18" charset="0"/>
                <a:cs typeface="Times New Roman" panose="02020603050405020304" pitchFamily="18" charset="0"/>
              </a:rPr>
              <a:t>MDGs were established to focus on reducing poverty, improving health, and enhancing education in low-income countries.</a:t>
            </a:r>
          </a:p>
        </p:txBody>
      </p:sp>
      <p:sp>
        <p:nvSpPr>
          <p:cNvPr id="19" name="TextBox 18">
            <a:extLst>
              <a:ext uri="{FF2B5EF4-FFF2-40B4-BE49-F238E27FC236}">
                <a16:creationId xmlns:a16="http://schemas.microsoft.com/office/drawing/2014/main" id="{4952A9EE-BF16-503B-5105-0467FE3A0D6A}"/>
              </a:ext>
            </a:extLst>
          </p:cNvPr>
          <p:cNvSpPr txBox="1"/>
          <p:nvPr/>
        </p:nvSpPr>
        <p:spPr>
          <a:xfrm>
            <a:off x="298072" y="1566921"/>
            <a:ext cx="4603828" cy="1323439"/>
          </a:xfrm>
          <a:prstGeom prst="rect">
            <a:avLst/>
          </a:prstGeom>
          <a:solidFill>
            <a:srgbClr val="AEAEAE"/>
          </a:solidFill>
        </p:spPr>
        <p:txBody>
          <a:bodyPr wrap="square" rtlCol="0">
            <a:spAutoFit/>
          </a:bodyPr>
          <a:lstStyle/>
          <a:p>
            <a:r>
              <a:rPr lang="en-IN" sz="1600" b="1" dirty="0">
                <a:solidFill>
                  <a:srgbClr val="C00000"/>
                </a:solidFill>
                <a:latin typeface="Times New Roman" panose="02020603050405020304" pitchFamily="18" charset="0"/>
                <a:cs typeface="Times New Roman" panose="02020603050405020304" pitchFamily="18" charset="0"/>
              </a:rPr>
              <a:t>1980s</a:t>
            </a:r>
            <a:r>
              <a:rPr lang="en-IN" sz="1600" dirty="0">
                <a:latin typeface="Times New Roman" panose="02020603050405020304" pitchFamily="18" charset="0"/>
                <a:cs typeface="Times New Roman" panose="02020603050405020304" pitchFamily="18" charset="0"/>
              </a:rPr>
              <a:t>(</a:t>
            </a:r>
            <a:r>
              <a:rPr lang="en-US" sz="1600" b="1" i="0" dirty="0">
                <a:solidFill>
                  <a:srgbClr val="000000"/>
                </a:solidFill>
                <a:effectLst/>
                <a:latin typeface="Times New Roman" panose="02020603050405020304" pitchFamily="18" charset="0"/>
                <a:cs typeface="Times New Roman" panose="02020603050405020304" pitchFamily="18" charset="0"/>
              </a:rPr>
              <a:t>High Gini Index due to debt crises</a:t>
            </a:r>
            <a:r>
              <a:rPr lang="en-IN" sz="1600" dirty="0">
                <a:latin typeface="Times New Roman" panose="02020603050405020304" pitchFamily="18" charset="0"/>
                <a:cs typeface="Times New Roman" panose="02020603050405020304" pitchFamily="18" charset="0"/>
              </a:rPr>
              <a:t>)</a:t>
            </a:r>
          </a:p>
          <a:p>
            <a:r>
              <a:rPr lang="en-US" sz="1600" b="0" i="0" dirty="0">
                <a:effectLst/>
                <a:latin typeface="Times New Roman" panose="02020603050405020304" pitchFamily="18" charset="0"/>
                <a:cs typeface="Times New Roman" panose="02020603050405020304" pitchFamily="18" charset="0"/>
              </a:rPr>
              <a:t>Gini Index values around 70 were recorded</a:t>
            </a:r>
            <a:r>
              <a:rPr lang="en-US" sz="1600" b="0" i="0" dirty="0">
                <a:effectLst/>
                <a:highlight>
                  <a:srgbClr val="C5C5C5"/>
                </a:highlight>
                <a:latin typeface="Times New Roman" panose="02020603050405020304" pitchFamily="18" charset="0"/>
                <a:cs typeface="Times New Roman" panose="02020603050405020304" pitchFamily="18" charset="0"/>
              </a:rPr>
              <a:t>, reflecting increased income inequality driven by debt crises and structural adjustment programs.</a:t>
            </a:r>
          </a:p>
          <a:p>
            <a:endParaRPr lang="en-IN" sz="1600" dirty="0"/>
          </a:p>
        </p:txBody>
      </p:sp>
      <p:sp>
        <p:nvSpPr>
          <p:cNvPr id="20" name="TextBox 19">
            <a:extLst>
              <a:ext uri="{FF2B5EF4-FFF2-40B4-BE49-F238E27FC236}">
                <a16:creationId xmlns:a16="http://schemas.microsoft.com/office/drawing/2014/main" id="{1C329E20-5C89-CC88-79E4-F3092FE0A3C9}"/>
              </a:ext>
            </a:extLst>
          </p:cNvPr>
          <p:cNvSpPr txBox="1"/>
          <p:nvPr/>
        </p:nvSpPr>
        <p:spPr>
          <a:xfrm>
            <a:off x="298072" y="2883604"/>
            <a:ext cx="4603827" cy="1323439"/>
          </a:xfrm>
          <a:prstGeom prst="rect">
            <a:avLst/>
          </a:prstGeom>
          <a:solidFill>
            <a:srgbClr val="AEAEAE"/>
          </a:solidFill>
        </p:spPr>
        <p:txBody>
          <a:bodyPr wrap="square" rtlCol="0">
            <a:spAutoFit/>
          </a:bodyPr>
          <a:lstStyle/>
          <a:p>
            <a:r>
              <a:rPr lang="en-IN" sz="1600" b="1" dirty="0">
                <a:solidFill>
                  <a:srgbClr val="C00000"/>
                </a:solidFill>
                <a:latin typeface="Times New Roman" panose="02020603050405020304" pitchFamily="18" charset="0"/>
                <a:cs typeface="Times New Roman" panose="02020603050405020304" pitchFamily="18" charset="0"/>
              </a:rPr>
              <a:t>1990</a:t>
            </a:r>
            <a:r>
              <a:rPr lang="en-IN" sz="1600" b="1"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a:t>
            </a:r>
            <a:r>
              <a:rPr lang="en-US" sz="1600" b="1" i="0" dirty="0">
                <a:solidFill>
                  <a:srgbClr val="000000"/>
                </a:solidFill>
                <a:effectLst/>
                <a:latin typeface="Times New Roman" panose="02020603050405020304" pitchFamily="18" charset="0"/>
                <a:cs typeface="Times New Roman" panose="02020603050405020304" pitchFamily="18" charset="0"/>
              </a:rPr>
              <a:t>Implementation of poverty reduction programs</a:t>
            </a:r>
            <a:r>
              <a:rPr lang="en-IN" sz="1600" b="1" i="0" dirty="0">
                <a:solidFill>
                  <a:srgbClr val="000000"/>
                </a:solidFill>
                <a:effectLst/>
                <a:latin typeface="Times New Roman" panose="02020603050405020304" pitchFamily="18" charset="0"/>
                <a:cs typeface="Times New Roman" panose="02020603050405020304" pitchFamily="18" charset="0"/>
              </a:rPr>
              <a:t>)</a:t>
            </a:r>
          </a:p>
          <a:p>
            <a:r>
              <a:rPr lang="en-US" sz="1600" b="0" i="0" dirty="0">
                <a:effectLst/>
                <a:latin typeface="Times New Roman" panose="02020603050405020304" pitchFamily="18" charset="0"/>
                <a:cs typeface="Times New Roman" panose="02020603050405020304" pitchFamily="18" charset="0"/>
              </a:rPr>
              <a:t>The introduction of pro-poor policies and international aid led to the </a:t>
            </a:r>
            <a:r>
              <a:rPr lang="en-US" sz="1600" b="0" i="0" dirty="0">
                <a:effectLst/>
                <a:highlight>
                  <a:srgbClr val="C5C5C5"/>
                </a:highlight>
                <a:latin typeface="Times New Roman" panose="02020603050405020304" pitchFamily="18" charset="0"/>
                <a:cs typeface="Times New Roman" panose="02020603050405020304" pitchFamily="18" charset="0"/>
              </a:rPr>
              <a:t>gradual reduction of income inequality in low-income countries</a:t>
            </a:r>
            <a:endParaRPr lang="en-IN" sz="1600" dirty="0">
              <a:highlight>
                <a:srgbClr val="C5C5C5"/>
              </a:highlight>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0CA1B91C-698E-0366-B2A3-820E4AABF502}"/>
              </a:ext>
            </a:extLst>
          </p:cNvPr>
          <p:cNvSpPr txBox="1"/>
          <p:nvPr/>
        </p:nvSpPr>
        <p:spPr>
          <a:xfrm>
            <a:off x="298072" y="4237954"/>
            <a:ext cx="4603827" cy="1569660"/>
          </a:xfrm>
          <a:prstGeom prst="rect">
            <a:avLst/>
          </a:prstGeom>
          <a:solidFill>
            <a:srgbClr val="AEAEAE"/>
          </a:solidFill>
        </p:spPr>
        <p:txBody>
          <a:bodyPr wrap="square" rtlCol="0">
            <a:spAutoFit/>
          </a:bodyPr>
          <a:lstStyle/>
          <a:p>
            <a:r>
              <a:rPr lang="en-IN" sz="1600" b="1" dirty="0">
                <a:solidFill>
                  <a:srgbClr val="C00000"/>
                </a:solidFill>
                <a:latin typeface="Times New Roman" panose="02020603050405020304" pitchFamily="18" charset="0"/>
                <a:cs typeface="Times New Roman" panose="02020603050405020304" pitchFamily="18" charset="0"/>
              </a:rPr>
              <a:t>By 2019</a:t>
            </a:r>
            <a:r>
              <a:rPr lang="en-IN" sz="1600" dirty="0">
                <a:latin typeface="Times New Roman" panose="02020603050405020304" pitchFamily="18" charset="0"/>
                <a:cs typeface="Times New Roman" panose="02020603050405020304" pitchFamily="18" charset="0"/>
              </a:rPr>
              <a:t>(</a:t>
            </a:r>
            <a:r>
              <a:rPr lang="en-US" sz="1600" b="1" i="0" dirty="0">
                <a:solidFill>
                  <a:srgbClr val="000000"/>
                </a:solidFill>
                <a:effectLst/>
                <a:latin typeface="Times New Roman" panose="02020603050405020304" pitchFamily="18" charset="0"/>
                <a:cs typeface="Times New Roman" panose="02020603050405020304" pitchFamily="18" charset="0"/>
              </a:rPr>
              <a:t>Ongoing high inequality despite improvements</a:t>
            </a:r>
            <a:r>
              <a:rPr lang="en-IN" sz="1600" b="1" i="0" dirty="0">
                <a:solidFill>
                  <a:srgbClr val="000000"/>
                </a:solidFill>
                <a:effectLst/>
                <a:latin typeface="Times New Roman" panose="02020603050405020304" pitchFamily="18" charset="0"/>
                <a:cs typeface="Times New Roman" panose="02020603050405020304" pitchFamily="18" charset="0"/>
              </a:rPr>
              <a:t>)</a:t>
            </a:r>
          </a:p>
          <a:p>
            <a:r>
              <a:rPr lang="en-US" sz="1600" b="0" i="0" dirty="0">
                <a:effectLst/>
                <a:latin typeface="Times New Roman" panose="02020603050405020304" pitchFamily="18" charset="0"/>
                <a:cs typeface="Times New Roman" panose="02020603050405020304" pitchFamily="18" charset="0"/>
              </a:rPr>
              <a:t>Inequality continues to be a challenge with significant </a:t>
            </a:r>
            <a:r>
              <a:rPr lang="en-US" sz="1600" b="0" i="0" dirty="0">
                <a:effectLst/>
                <a:highlight>
                  <a:srgbClr val="C5C5C5"/>
                </a:highlight>
                <a:latin typeface="Times New Roman" panose="02020603050405020304" pitchFamily="18" charset="0"/>
                <a:cs typeface="Times New Roman" panose="02020603050405020304" pitchFamily="18" charset="0"/>
              </a:rPr>
              <a:t>urban-rural income gaps persisting in low-income countries.</a:t>
            </a:r>
          </a:p>
          <a:p>
            <a:endParaRPr lang="en-IN" sz="1600" dirty="0"/>
          </a:p>
        </p:txBody>
      </p:sp>
      <p:sp>
        <p:nvSpPr>
          <p:cNvPr id="23" name="TextBox 22">
            <a:extLst>
              <a:ext uri="{FF2B5EF4-FFF2-40B4-BE49-F238E27FC236}">
                <a16:creationId xmlns:a16="http://schemas.microsoft.com/office/drawing/2014/main" id="{47155C78-BDD3-D5C2-076E-FAA190C61BC6}"/>
              </a:ext>
            </a:extLst>
          </p:cNvPr>
          <p:cNvSpPr txBox="1"/>
          <p:nvPr/>
        </p:nvSpPr>
        <p:spPr>
          <a:xfrm>
            <a:off x="387368" y="147581"/>
            <a:ext cx="11554261" cy="523220"/>
          </a:xfrm>
          <a:prstGeom prst="rect">
            <a:avLst/>
          </a:prstGeom>
          <a:solidFill>
            <a:srgbClr val="E2E2E2"/>
          </a:solidFill>
        </p:spPr>
        <p:txBody>
          <a:bodyPr wrap="square">
            <a:spAutoFit/>
          </a:bodyPr>
          <a:lstStyle/>
          <a:p>
            <a:r>
              <a:rPr lang="en-US" sz="2800" b="1" i="0" dirty="0">
                <a:solidFill>
                  <a:srgbClr val="000000"/>
                </a:solidFill>
                <a:effectLst/>
                <a:latin typeface="Times New Roman" panose="02020603050405020304" pitchFamily="18" charset="0"/>
                <a:cs typeface="Times New Roman" panose="02020603050405020304" pitchFamily="18" charset="0"/>
              </a:rPr>
              <a:t>Income Inequality in Low-Income Countries: Trends and Challenges</a:t>
            </a:r>
            <a:endParaRPr lang="en-IN" sz="28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DC94048-242E-CF55-E1BA-69135FAAC2C0}"/>
              </a:ext>
            </a:extLst>
          </p:cNvPr>
          <p:cNvSpPr txBox="1"/>
          <p:nvPr/>
        </p:nvSpPr>
        <p:spPr>
          <a:xfrm>
            <a:off x="387368" y="6121042"/>
            <a:ext cx="4283943" cy="369332"/>
          </a:xfrm>
          <a:prstGeom prst="rect">
            <a:avLst/>
          </a:prstGeom>
          <a:solidFill>
            <a:srgbClr val="C5C5C5"/>
          </a:solidFill>
        </p:spPr>
        <p:txBody>
          <a:bodyPr wrap="square">
            <a:spAutoFit/>
          </a:bodyPr>
          <a:lstStyle/>
          <a:p>
            <a:r>
              <a:rPr lang="en-IN" b="1" i="0" dirty="0">
                <a:solidFill>
                  <a:srgbClr val="000000"/>
                </a:solidFill>
                <a:effectLst/>
                <a:latin typeface="Times New Roman" panose="02020603050405020304" pitchFamily="18" charset="0"/>
                <a:cs typeface="Times New Roman" panose="02020603050405020304" pitchFamily="18" charset="0"/>
              </a:rPr>
              <a:t>Initiatives prioritizing poverty reduction</a:t>
            </a:r>
            <a:endParaRPr lang="en-IN"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1E32426-59BD-F5EF-7C25-A3530216AA50}"/>
              </a:ext>
            </a:extLst>
          </p:cNvPr>
          <p:cNvSpPr txBox="1"/>
          <p:nvPr/>
        </p:nvSpPr>
        <p:spPr>
          <a:xfrm>
            <a:off x="928745" y="879218"/>
            <a:ext cx="9634928" cy="607539"/>
          </a:xfrm>
          <a:prstGeom prst="rect">
            <a:avLst/>
          </a:prstGeom>
          <a:solidFill>
            <a:srgbClr val="E2E2E2"/>
          </a:solidFill>
        </p:spPr>
        <p:txBody>
          <a:bodyPr wrap="square">
            <a:spAutoFit/>
          </a:bodyPr>
          <a:lstStyle/>
          <a:p>
            <a:pPr lvl="1" algn="ctr">
              <a:lnSpc>
                <a:spcPct val="107000"/>
              </a:lnSpc>
              <a:spcAft>
                <a:spcPts val="800"/>
              </a:spcAft>
              <a:buSzPts val="1000"/>
              <a:tabLst>
                <a:tab pos="914400" algn="l"/>
              </a:tabLst>
            </a:pPr>
            <a:r>
              <a:rPr lang="en-IN" sz="1600" kern="100" dirty="0">
                <a:effectLst/>
                <a:latin typeface="Book Antiqua" panose="02040602050305030304" pitchFamily="18" charset="0"/>
                <a:ea typeface="Calibri" panose="020F0502020204030204" pitchFamily="34" charset="0"/>
                <a:cs typeface="Times New Roman" panose="02020603050405020304" pitchFamily="18" charset="0"/>
              </a:rPr>
              <a:t>The Gini Index is the highest among the four groups, with values around 70 in the early 1980s.There is an increase from 1980 to around 1994, after which the Gini Index gradually declines.</a:t>
            </a:r>
          </a:p>
        </p:txBody>
      </p:sp>
      <p:pic>
        <p:nvPicPr>
          <p:cNvPr id="7" name="Picture 6" descr="Uploaded image">
            <a:extLst>
              <a:ext uri="{FF2B5EF4-FFF2-40B4-BE49-F238E27FC236}">
                <a16:creationId xmlns:a16="http://schemas.microsoft.com/office/drawing/2014/main" id="{216E654F-1515-DD56-8F9B-FB47BB2FD0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91186" y="1695175"/>
            <a:ext cx="6906374" cy="3735706"/>
          </a:xfrm>
          <a:prstGeom prst="rect">
            <a:avLst/>
          </a:prstGeom>
          <a:solidFill>
            <a:srgbClr val="AEAEAE"/>
          </a:solidFill>
          <a:ln w="19050">
            <a:solidFill>
              <a:schemeClr val="tx1"/>
            </a:solidFill>
          </a:ln>
        </p:spPr>
      </p:pic>
    </p:spTree>
    <p:extLst>
      <p:ext uri="{BB962C8B-B14F-4D97-AF65-F5344CB8AC3E}">
        <p14:creationId xmlns:p14="http://schemas.microsoft.com/office/powerpoint/2010/main" val="387547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38D8D"/>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5F31FF2-D013-6F56-AC9F-2936EA3F9AAD}"/>
              </a:ext>
            </a:extLst>
          </p:cNvPr>
          <p:cNvSpPr>
            <a:spLocks noChangeArrowheads="1"/>
          </p:cNvSpPr>
          <p:nvPr/>
        </p:nvSpPr>
        <p:spPr bwMode="auto">
          <a:xfrm>
            <a:off x="198193" y="3266748"/>
            <a:ext cx="3067521" cy="3416320"/>
          </a:xfrm>
          <a:prstGeom prst="rect">
            <a:avLst/>
          </a:prstGeom>
          <a:solidFill>
            <a:srgbClr val="717D69"/>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aramond" panose="02020404030301010803" pitchFamily="18" charset="0"/>
              </a:rPr>
              <a:t>Economies remained </a:t>
            </a:r>
            <a:r>
              <a:rPr kumimoji="0" lang="en-US" altLang="en-US" sz="2400" b="1" i="1" u="none" strike="noStrike" cap="none" normalizeH="0" baseline="0" dirty="0">
                <a:ln>
                  <a:noFill/>
                </a:ln>
                <a:effectLst/>
                <a:latin typeface="Garamond" panose="02020404030301010803" pitchFamily="18" charset="0"/>
              </a:rPr>
              <a:t>agriculture-dependent with limited industrialization.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aramond" panose="02020404030301010803" pitchFamily="18" charset="0"/>
              </a:rPr>
              <a:t>Structural adjustment programs had minimal impact due to weak economic diversification. </a:t>
            </a:r>
          </a:p>
        </p:txBody>
      </p:sp>
      <p:sp>
        <p:nvSpPr>
          <p:cNvPr id="5" name="TextBox 4">
            <a:extLst>
              <a:ext uri="{FF2B5EF4-FFF2-40B4-BE49-F238E27FC236}">
                <a16:creationId xmlns:a16="http://schemas.microsoft.com/office/drawing/2014/main" id="{E5BDE961-CE9A-95B3-2A06-B77F29E53933}"/>
              </a:ext>
            </a:extLst>
          </p:cNvPr>
          <p:cNvSpPr txBox="1"/>
          <p:nvPr/>
        </p:nvSpPr>
        <p:spPr>
          <a:xfrm>
            <a:off x="749733" y="2429847"/>
            <a:ext cx="1795985" cy="707886"/>
          </a:xfrm>
          <a:prstGeom prst="rect">
            <a:avLst/>
          </a:prstGeom>
          <a:noFill/>
        </p:spPr>
        <p:txBody>
          <a:bodyPr wrap="square" rtlCol="0">
            <a:spAutoFit/>
          </a:bodyPr>
          <a:lstStyle/>
          <a:p>
            <a:r>
              <a:rPr lang="en-IN" sz="4000" dirty="0">
                <a:latin typeface="Algerian" panose="04020705040A02060702" pitchFamily="82" charset="0"/>
              </a:rPr>
              <a:t>1980s</a:t>
            </a:r>
          </a:p>
        </p:txBody>
      </p:sp>
      <p:sp>
        <p:nvSpPr>
          <p:cNvPr id="6" name="Rectangle 2">
            <a:extLst>
              <a:ext uri="{FF2B5EF4-FFF2-40B4-BE49-F238E27FC236}">
                <a16:creationId xmlns:a16="http://schemas.microsoft.com/office/drawing/2014/main" id="{CEE96E13-9302-8163-E563-2EABC4E01E71}"/>
              </a:ext>
            </a:extLst>
          </p:cNvPr>
          <p:cNvSpPr>
            <a:spLocks noChangeArrowheads="1"/>
          </p:cNvSpPr>
          <p:nvPr/>
        </p:nvSpPr>
        <p:spPr bwMode="auto">
          <a:xfrm>
            <a:off x="3417020" y="3266748"/>
            <a:ext cx="2810243" cy="3046988"/>
          </a:xfrm>
          <a:prstGeom prst="rect">
            <a:avLst/>
          </a:prstGeom>
          <a:solidFill>
            <a:srgbClr val="8E9A86"/>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latin typeface="Garamond" panose="02020404030301010803" pitchFamily="18" charset="0"/>
              </a:rPr>
              <a:t>Initial shifts toward industrialization reduced rural-urban income gaps.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1" u="none" strike="noStrike" cap="none" normalizeH="0" baseline="0" dirty="0">
                <a:ln>
                  <a:noFill/>
                </a:ln>
                <a:solidFill>
                  <a:schemeClr val="tx1"/>
                </a:solidFill>
                <a:effectLst/>
                <a:latin typeface="Garamond" panose="02020404030301010803" pitchFamily="18" charset="0"/>
              </a:rPr>
              <a:t>Governments began investing in basic healthcare and education</a:t>
            </a:r>
            <a:r>
              <a:rPr kumimoji="0" lang="en-US" altLang="en-US" sz="1800" b="1" i="1" u="none" strike="noStrike" cap="none" normalizeH="0" baseline="0" dirty="0">
                <a:ln>
                  <a:noFill/>
                </a:ln>
                <a:solidFill>
                  <a:schemeClr val="tx1"/>
                </a:solidFill>
                <a:effectLst/>
                <a:latin typeface="Garamond" panose="02020404030301010803" pitchFamily="18" charset="0"/>
              </a:rPr>
              <a:t>. </a:t>
            </a:r>
          </a:p>
        </p:txBody>
      </p:sp>
      <p:sp>
        <p:nvSpPr>
          <p:cNvPr id="7" name="TextBox 6">
            <a:extLst>
              <a:ext uri="{FF2B5EF4-FFF2-40B4-BE49-F238E27FC236}">
                <a16:creationId xmlns:a16="http://schemas.microsoft.com/office/drawing/2014/main" id="{44D76E89-768A-C6D9-00D3-A02DBB2F4DB1}"/>
              </a:ext>
            </a:extLst>
          </p:cNvPr>
          <p:cNvSpPr txBox="1"/>
          <p:nvPr/>
        </p:nvSpPr>
        <p:spPr>
          <a:xfrm>
            <a:off x="3741895" y="2429847"/>
            <a:ext cx="2334781" cy="707886"/>
          </a:xfrm>
          <a:prstGeom prst="rect">
            <a:avLst/>
          </a:prstGeom>
          <a:noFill/>
        </p:spPr>
        <p:txBody>
          <a:bodyPr wrap="square" rtlCol="0">
            <a:spAutoFit/>
          </a:bodyPr>
          <a:lstStyle/>
          <a:p>
            <a:r>
              <a:rPr lang="en-IN" sz="4000" dirty="0">
                <a:latin typeface="Algerian" panose="04020705040A02060702" pitchFamily="82" charset="0"/>
              </a:rPr>
              <a:t>1990s</a:t>
            </a:r>
          </a:p>
        </p:txBody>
      </p:sp>
      <p:sp>
        <p:nvSpPr>
          <p:cNvPr id="8" name="Rectangle 3">
            <a:extLst>
              <a:ext uri="{FF2B5EF4-FFF2-40B4-BE49-F238E27FC236}">
                <a16:creationId xmlns:a16="http://schemas.microsoft.com/office/drawing/2014/main" id="{FC593CAA-E2EB-1D30-64D4-2B5C45344C77}"/>
              </a:ext>
            </a:extLst>
          </p:cNvPr>
          <p:cNvSpPr>
            <a:spLocks noChangeArrowheads="1"/>
          </p:cNvSpPr>
          <p:nvPr/>
        </p:nvSpPr>
        <p:spPr bwMode="auto">
          <a:xfrm>
            <a:off x="6302917" y="3266748"/>
            <a:ext cx="3269097" cy="3416320"/>
          </a:xfrm>
          <a:prstGeom prst="rect">
            <a:avLst/>
          </a:prstGeom>
          <a:solidFill>
            <a:srgbClr val="717D69"/>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aramond" panose="02020404030301010803" pitchFamily="18" charset="0"/>
              </a:rPr>
              <a:t>Globalization spurred growth in manufacturing and services, </a:t>
            </a:r>
            <a:r>
              <a:rPr kumimoji="0" lang="en-US" altLang="en-US" sz="2400" b="1" i="0" u="none" strike="noStrike" cap="none" normalizeH="0" baseline="0" dirty="0">
                <a:ln>
                  <a:noFill/>
                </a:ln>
                <a:solidFill>
                  <a:srgbClr val="C00000"/>
                </a:solidFill>
                <a:effectLst/>
                <a:latin typeface="Garamond" panose="02020404030301010803" pitchFamily="18" charset="0"/>
              </a:rPr>
              <a:t>creating new job opportunities</a:t>
            </a:r>
            <a:r>
              <a:rPr kumimoji="0" lang="en-US" altLang="en-US" sz="2400" b="1" i="0" u="none" strike="noStrike" cap="none" normalizeH="0" baseline="0" dirty="0">
                <a:ln>
                  <a:noFill/>
                </a:ln>
                <a:solidFill>
                  <a:schemeClr val="tx1"/>
                </a:solidFill>
                <a:effectLst/>
                <a:latin typeface="Garamond" panose="02020404030301010803"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Garamond" panose="02020404030301010803" pitchFamily="18" charset="0"/>
              </a:rPr>
              <a:t>Pro-poor policies like microfinance and rural development initiatives gained traction. </a:t>
            </a:r>
          </a:p>
        </p:txBody>
      </p:sp>
      <p:sp>
        <p:nvSpPr>
          <p:cNvPr id="9" name="TextBox 8">
            <a:extLst>
              <a:ext uri="{FF2B5EF4-FFF2-40B4-BE49-F238E27FC236}">
                <a16:creationId xmlns:a16="http://schemas.microsoft.com/office/drawing/2014/main" id="{D8B339B0-932E-5997-B636-7A59E35CEA76}"/>
              </a:ext>
            </a:extLst>
          </p:cNvPr>
          <p:cNvSpPr txBox="1"/>
          <p:nvPr/>
        </p:nvSpPr>
        <p:spPr>
          <a:xfrm>
            <a:off x="6940438" y="2429847"/>
            <a:ext cx="2071766" cy="707886"/>
          </a:xfrm>
          <a:prstGeom prst="rect">
            <a:avLst/>
          </a:prstGeom>
          <a:noFill/>
        </p:spPr>
        <p:txBody>
          <a:bodyPr wrap="square" rtlCol="0">
            <a:spAutoFit/>
          </a:bodyPr>
          <a:lstStyle/>
          <a:p>
            <a:r>
              <a:rPr lang="en-IN" sz="4000" dirty="0">
                <a:latin typeface="Algerian" panose="04020705040A02060702" pitchFamily="82" charset="0"/>
              </a:rPr>
              <a:t>2000s</a:t>
            </a:r>
          </a:p>
        </p:txBody>
      </p:sp>
      <p:sp>
        <p:nvSpPr>
          <p:cNvPr id="10" name="Rectangle 4">
            <a:extLst>
              <a:ext uri="{FF2B5EF4-FFF2-40B4-BE49-F238E27FC236}">
                <a16:creationId xmlns:a16="http://schemas.microsoft.com/office/drawing/2014/main" id="{E780E90F-FABB-732A-3642-28A70E5FB4B3}"/>
              </a:ext>
            </a:extLst>
          </p:cNvPr>
          <p:cNvSpPr>
            <a:spLocks noChangeArrowheads="1"/>
          </p:cNvSpPr>
          <p:nvPr/>
        </p:nvSpPr>
        <p:spPr bwMode="auto">
          <a:xfrm>
            <a:off x="9625897" y="3266748"/>
            <a:ext cx="2468132" cy="3416320"/>
          </a:xfrm>
          <a:prstGeom prst="rect">
            <a:avLst/>
          </a:prstGeom>
          <a:solidFill>
            <a:srgbClr val="8E9A86"/>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latin typeface="Garamond" panose="02020404030301010803" pitchFamily="18" charset="0"/>
              </a:rPr>
              <a:t>Diversification into manufacturing and services.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latin typeface="Garamond" panose="02020404030301010803" pitchFamily="18" charset="0"/>
              </a:rPr>
              <a:t>Social safety nets and targeted cash transfer programs </a:t>
            </a:r>
            <a:r>
              <a:rPr kumimoji="0" lang="en-US" altLang="en-US" sz="2400" b="1" i="1" u="none" strike="noStrike" cap="none" normalizeH="0" baseline="0" dirty="0">
                <a:ln>
                  <a:noFill/>
                </a:ln>
                <a:solidFill>
                  <a:schemeClr val="tx1"/>
                </a:solidFill>
                <a:effectLst/>
                <a:latin typeface="Garamond" panose="02020404030301010803" pitchFamily="18" charset="0"/>
              </a:rPr>
              <a:t>helped lower income disparities</a:t>
            </a:r>
            <a:r>
              <a:rPr kumimoji="0" lang="en-US" altLang="en-US" sz="1800" i="0" u="none" strike="noStrike" cap="none" normalizeH="0" baseline="0" dirty="0">
                <a:ln>
                  <a:noFill/>
                </a:ln>
                <a:solidFill>
                  <a:schemeClr val="tx1"/>
                </a:solidFill>
                <a:effectLst/>
                <a:latin typeface="Garamond" panose="02020404030301010803" pitchFamily="18" charset="0"/>
              </a:rPr>
              <a:t>. </a:t>
            </a:r>
          </a:p>
        </p:txBody>
      </p:sp>
      <p:sp>
        <p:nvSpPr>
          <p:cNvPr id="11" name="TextBox 10">
            <a:extLst>
              <a:ext uri="{FF2B5EF4-FFF2-40B4-BE49-F238E27FC236}">
                <a16:creationId xmlns:a16="http://schemas.microsoft.com/office/drawing/2014/main" id="{CA1DE046-AFAE-B98E-4EAD-37BC83309677}"/>
              </a:ext>
            </a:extLst>
          </p:cNvPr>
          <p:cNvSpPr txBox="1"/>
          <p:nvPr/>
        </p:nvSpPr>
        <p:spPr>
          <a:xfrm>
            <a:off x="9516479" y="2429847"/>
            <a:ext cx="2552685" cy="707886"/>
          </a:xfrm>
          <a:prstGeom prst="rect">
            <a:avLst/>
          </a:prstGeom>
          <a:noFill/>
        </p:spPr>
        <p:txBody>
          <a:bodyPr wrap="square" rtlCol="0">
            <a:spAutoFit/>
          </a:bodyPr>
          <a:lstStyle/>
          <a:p>
            <a:r>
              <a:rPr lang="en-IN" sz="4000" dirty="0">
                <a:latin typeface="Algerian" panose="04020705040A02060702" pitchFamily="82" charset="0"/>
              </a:rPr>
              <a:t>By 2019</a:t>
            </a:r>
          </a:p>
        </p:txBody>
      </p:sp>
      <p:sp>
        <p:nvSpPr>
          <p:cNvPr id="12" name="TextBox 11">
            <a:extLst>
              <a:ext uri="{FF2B5EF4-FFF2-40B4-BE49-F238E27FC236}">
                <a16:creationId xmlns:a16="http://schemas.microsoft.com/office/drawing/2014/main" id="{F0A53EDA-01AB-3400-523D-B5A5A652F1BE}"/>
              </a:ext>
            </a:extLst>
          </p:cNvPr>
          <p:cNvSpPr txBox="1"/>
          <p:nvPr/>
        </p:nvSpPr>
        <p:spPr>
          <a:xfrm>
            <a:off x="359229" y="299705"/>
            <a:ext cx="11375569" cy="646331"/>
          </a:xfrm>
          <a:prstGeom prst="rect">
            <a:avLst/>
          </a:prstGeom>
          <a:solidFill>
            <a:srgbClr val="767070"/>
          </a:solidFill>
        </p:spPr>
        <p:txBody>
          <a:bodyPr wrap="square">
            <a:spAutoFit/>
          </a:bodyPr>
          <a:lstStyle/>
          <a:p>
            <a:r>
              <a:rPr lang="en-US" sz="3600" b="1" i="0" dirty="0">
                <a:solidFill>
                  <a:srgbClr val="000000"/>
                </a:solidFill>
                <a:effectLst/>
                <a:latin typeface="Times New Roman" panose="02020603050405020304" pitchFamily="18" charset="0"/>
                <a:cs typeface="Times New Roman" panose="02020603050405020304" pitchFamily="18" charset="0"/>
              </a:rPr>
              <a:t>Income Inequality in Lower Middle Income Countries</a:t>
            </a:r>
            <a:endParaRPr lang="en-IN" sz="3600"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CA6A8EAF-03F6-5585-ECFF-23352D7AA028}"/>
              </a:ext>
            </a:extLst>
          </p:cNvPr>
          <p:cNvGraphicFramePr/>
          <p:nvPr>
            <p:extLst>
              <p:ext uri="{D42A27DB-BD31-4B8C-83A1-F6EECF244321}">
                <p14:modId xmlns:p14="http://schemas.microsoft.com/office/powerpoint/2010/main" val="3370576764"/>
              </p:ext>
            </p:extLst>
          </p:nvPr>
        </p:nvGraphicFramePr>
        <p:xfrm>
          <a:off x="557423" y="1077454"/>
          <a:ext cx="11375568" cy="1352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014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E9A86"/>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95A81D-418B-B616-0297-71563E742A16}"/>
              </a:ext>
            </a:extLst>
          </p:cNvPr>
          <p:cNvSpPr>
            <a:spLocks noChangeArrowheads="1"/>
          </p:cNvSpPr>
          <p:nvPr/>
        </p:nvSpPr>
        <p:spPr bwMode="auto">
          <a:xfrm>
            <a:off x="259786" y="3424356"/>
            <a:ext cx="2358674" cy="3139321"/>
          </a:xfrm>
          <a:prstGeom prst="rect">
            <a:avLst/>
          </a:prstGeom>
          <a:solidFill>
            <a:srgbClr val="C5C5C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Garamond" panose="02020404030301010803" pitchFamily="18" charset="0"/>
              </a:rPr>
              <a:t>Import substitution policies concentrated wealth among urban elites.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C00000"/>
                </a:solidFill>
                <a:effectLst/>
                <a:latin typeface="Garamond" panose="02020404030301010803" pitchFamily="18" charset="0"/>
              </a:rPr>
              <a:t>Debt crises in Latin America and inflation hurt low-income </a:t>
            </a:r>
            <a:r>
              <a:rPr kumimoji="0" lang="en-US" altLang="en-US" sz="2000" i="0" u="none" strike="noStrike" cap="none" normalizeH="0" baseline="0" dirty="0">
                <a:ln>
                  <a:noFill/>
                </a:ln>
                <a:solidFill>
                  <a:schemeClr val="tx1"/>
                </a:solidFill>
                <a:effectLst/>
                <a:latin typeface="Garamond" panose="02020404030301010803" pitchFamily="18" charset="0"/>
              </a:rPr>
              <a:t>households disproportionately. </a:t>
            </a:r>
          </a:p>
        </p:txBody>
      </p:sp>
      <p:sp>
        <p:nvSpPr>
          <p:cNvPr id="5" name="Rectangle 2">
            <a:extLst>
              <a:ext uri="{FF2B5EF4-FFF2-40B4-BE49-F238E27FC236}">
                <a16:creationId xmlns:a16="http://schemas.microsoft.com/office/drawing/2014/main" id="{B75C8279-58ED-8E3C-E8BC-215C971986F8}"/>
              </a:ext>
            </a:extLst>
          </p:cNvPr>
          <p:cNvSpPr>
            <a:spLocks noChangeArrowheads="1"/>
          </p:cNvSpPr>
          <p:nvPr/>
        </p:nvSpPr>
        <p:spPr bwMode="auto">
          <a:xfrm>
            <a:off x="2989859" y="3428999"/>
            <a:ext cx="2358674" cy="3139321"/>
          </a:xfrm>
          <a:prstGeom prst="rect">
            <a:avLst/>
          </a:prstGeom>
          <a:solidFill>
            <a:srgbClr val="C5C5C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amond" panose="02020404030301010803" pitchFamily="18" charset="0"/>
              </a:rPr>
              <a:t>Shift toward export-oriented growth in Asia (e.g., South Korea, Taiwan).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amond" panose="02020404030301010803" pitchFamily="18" charset="0"/>
              </a:rPr>
              <a:t>Stabilization of economies in Latin </a:t>
            </a:r>
            <a:r>
              <a:rPr kumimoji="0" lang="en-US" altLang="en-US" sz="2000" b="1" i="0" u="none" strike="noStrike" cap="none" normalizeH="0" baseline="0" dirty="0">
                <a:ln>
                  <a:noFill/>
                </a:ln>
                <a:solidFill>
                  <a:schemeClr val="tx1"/>
                </a:solidFill>
                <a:effectLst/>
                <a:latin typeface="Garamond" panose="02020404030301010803" pitchFamily="18" charset="0"/>
              </a:rPr>
              <a:t>America led to slow improvements in income distribution</a:t>
            </a:r>
            <a:r>
              <a:rPr kumimoji="0" lang="en-US" altLang="en-US" sz="2000" b="0" i="0" u="none" strike="noStrike" cap="none" normalizeH="0" baseline="0" dirty="0">
                <a:ln>
                  <a:noFill/>
                </a:ln>
                <a:solidFill>
                  <a:schemeClr val="tx1"/>
                </a:solidFill>
                <a:effectLst/>
                <a:latin typeface="Garamond" panose="02020404030301010803" pitchFamily="18" charset="0"/>
              </a:rPr>
              <a:t>. </a:t>
            </a:r>
          </a:p>
        </p:txBody>
      </p:sp>
      <p:sp>
        <p:nvSpPr>
          <p:cNvPr id="6" name="Rectangle 3">
            <a:extLst>
              <a:ext uri="{FF2B5EF4-FFF2-40B4-BE49-F238E27FC236}">
                <a16:creationId xmlns:a16="http://schemas.microsoft.com/office/drawing/2014/main" id="{7A35EA09-436A-3D7D-C38D-BC9178BABA6E}"/>
              </a:ext>
            </a:extLst>
          </p:cNvPr>
          <p:cNvSpPr>
            <a:spLocks noChangeArrowheads="1"/>
          </p:cNvSpPr>
          <p:nvPr/>
        </p:nvSpPr>
        <p:spPr bwMode="auto">
          <a:xfrm>
            <a:off x="5735812" y="3429000"/>
            <a:ext cx="3419074" cy="3139321"/>
          </a:xfrm>
          <a:prstGeom prst="rect">
            <a:avLst/>
          </a:prstGeom>
          <a:solidFill>
            <a:srgbClr val="C5C5C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amond" panose="02020404030301010803" pitchFamily="18" charset="0"/>
              </a:rPr>
              <a:t>Social welfare programs (e.g., Bolsa Família in Brazil, rural health insurance in China).</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Garamond" panose="02020404030301010803" pitchFamily="18" charset="0"/>
              </a:rPr>
              <a:t>Economic growth created jobs and lifted millions out of poverty, especially in China and Brazil.</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amond" panose="02020404030301010803" pitchFamily="18" charset="0"/>
              </a:rPr>
              <a:t>Commodity booms funded social spending</a:t>
            </a:r>
            <a:r>
              <a:rPr kumimoji="0" lang="en-US" altLang="en-US" sz="1800" b="0" i="0" u="none" strike="noStrike" cap="none" normalizeH="0" baseline="0" dirty="0">
                <a:ln>
                  <a:noFill/>
                </a:ln>
                <a:solidFill>
                  <a:schemeClr val="tx1"/>
                </a:solidFill>
                <a:effectLst/>
                <a:latin typeface="Garamond" panose="02020404030301010803" pitchFamily="18" charset="0"/>
              </a:rPr>
              <a:t>. </a:t>
            </a:r>
          </a:p>
        </p:txBody>
      </p:sp>
      <p:sp>
        <p:nvSpPr>
          <p:cNvPr id="7" name="Rectangle 4">
            <a:extLst>
              <a:ext uri="{FF2B5EF4-FFF2-40B4-BE49-F238E27FC236}">
                <a16:creationId xmlns:a16="http://schemas.microsoft.com/office/drawing/2014/main" id="{9B8A89B7-445D-74AC-A4EF-2DF026B53F9B}"/>
              </a:ext>
            </a:extLst>
          </p:cNvPr>
          <p:cNvSpPr>
            <a:spLocks noChangeArrowheads="1"/>
          </p:cNvSpPr>
          <p:nvPr/>
        </p:nvSpPr>
        <p:spPr bwMode="auto">
          <a:xfrm>
            <a:off x="9368896" y="3429000"/>
            <a:ext cx="2563318" cy="2554545"/>
          </a:xfrm>
          <a:prstGeom prst="rect">
            <a:avLst/>
          </a:prstGeom>
          <a:solidFill>
            <a:srgbClr val="C5C5C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amond" panose="02020404030301010803" pitchFamily="18" charset="0"/>
              </a:rPr>
              <a:t>Sustained welfare policies and a growing middle class.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Garamond" panose="02020404030301010803" pitchFamily="18" charset="0"/>
              </a:rPr>
              <a:t>Investments in education and healthcare </a:t>
            </a:r>
            <a:r>
              <a:rPr kumimoji="0" lang="en-US" altLang="en-US" sz="2000" b="0" i="0" u="none" strike="noStrike" cap="none" normalizeH="0" baseline="0" dirty="0">
                <a:ln>
                  <a:noFill/>
                </a:ln>
                <a:solidFill>
                  <a:schemeClr val="tx1"/>
                </a:solidFill>
                <a:effectLst/>
                <a:latin typeface="Garamond" panose="02020404030301010803" pitchFamily="18" charset="0"/>
              </a:rPr>
              <a:t>improved long-term income distribution</a:t>
            </a:r>
            <a:r>
              <a:rPr kumimoji="0" lang="en-US" altLang="en-US" sz="1800" b="0" i="0" u="none" strike="noStrike" cap="none" normalizeH="0" baseline="0" dirty="0">
                <a:ln>
                  <a:noFill/>
                </a:ln>
                <a:solidFill>
                  <a:schemeClr val="tx1"/>
                </a:solidFill>
                <a:effectLst/>
                <a:latin typeface="Garamond" panose="02020404030301010803" pitchFamily="18" charset="0"/>
              </a:rPr>
              <a:t>. </a:t>
            </a:r>
          </a:p>
        </p:txBody>
      </p:sp>
      <p:sp>
        <p:nvSpPr>
          <p:cNvPr id="8" name="TextBox 7">
            <a:extLst>
              <a:ext uri="{FF2B5EF4-FFF2-40B4-BE49-F238E27FC236}">
                <a16:creationId xmlns:a16="http://schemas.microsoft.com/office/drawing/2014/main" id="{D506543D-C0B7-6786-3E90-AAD380F853A5}"/>
              </a:ext>
            </a:extLst>
          </p:cNvPr>
          <p:cNvSpPr txBox="1"/>
          <p:nvPr/>
        </p:nvSpPr>
        <p:spPr>
          <a:xfrm>
            <a:off x="601926" y="2527452"/>
            <a:ext cx="1963711" cy="707886"/>
          </a:xfrm>
          <a:prstGeom prst="rect">
            <a:avLst/>
          </a:prstGeom>
          <a:noFill/>
        </p:spPr>
        <p:txBody>
          <a:bodyPr wrap="square" rtlCol="0">
            <a:spAutoFit/>
          </a:bodyPr>
          <a:lstStyle/>
          <a:p>
            <a:r>
              <a:rPr lang="en-IN" sz="4000" dirty="0">
                <a:latin typeface="Algerian" panose="04020705040A02060702" pitchFamily="82" charset="0"/>
              </a:rPr>
              <a:t>1980s</a:t>
            </a:r>
          </a:p>
        </p:txBody>
      </p:sp>
      <p:sp>
        <p:nvSpPr>
          <p:cNvPr id="9" name="TextBox 8">
            <a:extLst>
              <a:ext uri="{FF2B5EF4-FFF2-40B4-BE49-F238E27FC236}">
                <a16:creationId xmlns:a16="http://schemas.microsoft.com/office/drawing/2014/main" id="{22F8FD73-6074-3DDD-E462-CBFD80BFA8BD}"/>
              </a:ext>
            </a:extLst>
          </p:cNvPr>
          <p:cNvSpPr txBox="1"/>
          <p:nvPr/>
        </p:nvSpPr>
        <p:spPr>
          <a:xfrm>
            <a:off x="3360961" y="2527452"/>
            <a:ext cx="2084799" cy="707886"/>
          </a:xfrm>
          <a:prstGeom prst="rect">
            <a:avLst/>
          </a:prstGeom>
          <a:noFill/>
        </p:spPr>
        <p:txBody>
          <a:bodyPr wrap="square" rtlCol="0">
            <a:spAutoFit/>
          </a:bodyPr>
          <a:lstStyle/>
          <a:p>
            <a:r>
              <a:rPr lang="en-IN" sz="4000" dirty="0">
                <a:latin typeface="Algerian" panose="04020705040A02060702" pitchFamily="82" charset="0"/>
              </a:rPr>
              <a:t>1990s</a:t>
            </a:r>
          </a:p>
        </p:txBody>
      </p:sp>
      <p:sp>
        <p:nvSpPr>
          <p:cNvPr id="10" name="TextBox 9">
            <a:extLst>
              <a:ext uri="{FF2B5EF4-FFF2-40B4-BE49-F238E27FC236}">
                <a16:creationId xmlns:a16="http://schemas.microsoft.com/office/drawing/2014/main" id="{A78DF445-D08E-F9D6-9A55-04FF195833E7}"/>
              </a:ext>
            </a:extLst>
          </p:cNvPr>
          <p:cNvSpPr txBox="1"/>
          <p:nvPr/>
        </p:nvSpPr>
        <p:spPr>
          <a:xfrm>
            <a:off x="6379763" y="2527451"/>
            <a:ext cx="2084798" cy="707886"/>
          </a:xfrm>
          <a:prstGeom prst="rect">
            <a:avLst/>
          </a:prstGeom>
          <a:noFill/>
        </p:spPr>
        <p:txBody>
          <a:bodyPr wrap="square" rtlCol="0">
            <a:spAutoFit/>
          </a:bodyPr>
          <a:lstStyle/>
          <a:p>
            <a:r>
              <a:rPr lang="en-IN" sz="4000" dirty="0">
                <a:latin typeface="Algerian" panose="04020705040A02060702" pitchFamily="82" charset="0"/>
              </a:rPr>
              <a:t>2000s</a:t>
            </a:r>
          </a:p>
        </p:txBody>
      </p:sp>
      <p:sp>
        <p:nvSpPr>
          <p:cNvPr id="11" name="TextBox 10">
            <a:extLst>
              <a:ext uri="{FF2B5EF4-FFF2-40B4-BE49-F238E27FC236}">
                <a16:creationId xmlns:a16="http://schemas.microsoft.com/office/drawing/2014/main" id="{AFF208D3-CDE4-EE82-8C22-412574087B0E}"/>
              </a:ext>
            </a:extLst>
          </p:cNvPr>
          <p:cNvSpPr txBox="1"/>
          <p:nvPr/>
        </p:nvSpPr>
        <p:spPr>
          <a:xfrm>
            <a:off x="9062638" y="2527451"/>
            <a:ext cx="2869576" cy="707886"/>
          </a:xfrm>
          <a:prstGeom prst="rect">
            <a:avLst/>
          </a:prstGeom>
          <a:noFill/>
        </p:spPr>
        <p:txBody>
          <a:bodyPr wrap="square" rtlCol="0">
            <a:spAutoFit/>
          </a:bodyPr>
          <a:lstStyle/>
          <a:p>
            <a:r>
              <a:rPr lang="en-IN" sz="4000" dirty="0">
                <a:latin typeface="Algerian" panose="04020705040A02060702" pitchFamily="82" charset="0"/>
              </a:rPr>
              <a:t> by 2019</a:t>
            </a:r>
          </a:p>
        </p:txBody>
      </p:sp>
      <p:sp>
        <p:nvSpPr>
          <p:cNvPr id="12" name="TextBox 11">
            <a:extLst>
              <a:ext uri="{FF2B5EF4-FFF2-40B4-BE49-F238E27FC236}">
                <a16:creationId xmlns:a16="http://schemas.microsoft.com/office/drawing/2014/main" id="{F5A6BF35-9557-1A66-2D60-7F5198421316}"/>
              </a:ext>
            </a:extLst>
          </p:cNvPr>
          <p:cNvSpPr txBox="1"/>
          <p:nvPr/>
        </p:nvSpPr>
        <p:spPr>
          <a:xfrm>
            <a:off x="340983" y="199880"/>
            <a:ext cx="11510034" cy="646331"/>
          </a:xfrm>
          <a:prstGeom prst="rect">
            <a:avLst/>
          </a:prstGeom>
          <a:solidFill>
            <a:srgbClr val="677260"/>
          </a:solidFill>
        </p:spPr>
        <p:txBody>
          <a:bodyPr wrap="square">
            <a:spAutoFit/>
          </a:bodyPr>
          <a:lstStyle/>
          <a:p>
            <a:r>
              <a:rPr lang="en-US" sz="3600" b="1" i="0" dirty="0">
                <a:solidFill>
                  <a:srgbClr val="000000"/>
                </a:solidFill>
                <a:effectLst/>
                <a:latin typeface="Times New Roman" panose="02020603050405020304" pitchFamily="18" charset="0"/>
                <a:cs typeface="Times New Roman" panose="02020603050405020304" pitchFamily="18" charset="0"/>
              </a:rPr>
              <a:t>Income Inequality in </a:t>
            </a:r>
            <a:r>
              <a:rPr lang="en-US" sz="3600" b="1" dirty="0">
                <a:solidFill>
                  <a:srgbClr val="000000"/>
                </a:solidFill>
                <a:latin typeface="Times New Roman" panose="02020603050405020304" pitchFamily="18" charset="0"/>
                <a:cs typeface="Times New Roman" panose="02020603050405020304" pitchFamily="18" charset="0"/>
              </a:rPr>
              <a:t>Upper</a:t>
            </a:r>
            <a:r>
              <a:rPr lang="en-US" sz="3600" b="1" i="0" dirty="0">
                <a:solidFill>
                  <a:srgbClr val="000000"/>
                </a:solidFill>
                <a:effectLst/>
                <a:latin typeface="Times New Roman" panose="02020603050405020304" pitchFamily="18" charset="0"/>
                <a:cs typeface="Times New Roman" panose="02020603050405020304" pitchFamily="18" charset="0"/>
              </a:rPr>
              <a:t> Middle Income Countries</a:t>
            </a:r>
            <a:endParaRPr lang="en-IN" sz="3600"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F7DDB4F7-4E93-8BE0-9544-F624E1EAF498}"/>
              </a:ext>
            </a:extLst>
          </p:cNvPr>
          <p:cNvGraphicFramePr/>
          <p:nvPr>
            <p:extLst>
              <p:ext uri="{D42A27DB-BD31-4B8C-83A1-F6EECF244321}">
                <p14:modId xmlns:p14="http://schemas.microsoft.com/office/powerpoint/2010/main" val="2083794095"/>
              </p:ext>
            </p:extLst>
          </p:nvPr>
        </p:nvGraphicFramePr>
        <p:xfrm>
          <a:off x="827313" y="1120610"/>
          <a:ext cx="11104901" cy="914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3496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BCBCB"/>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C7A642-71EE-B849-C3D3-13FFB8CCD75C}"/>
              </a:ext>
            </a:extLst>
          </p:cNvPr>
          <p:cNvSpPr txBox="1"/>
          <p:nvPr/>
        </p:nvSpPr>
        <p:spPr>
          <a:xfrm>
            <a:off x="278494" y="3744402"/>
            <a:ext cx="2540000" cy="2677656"/>
          </a:xfrm>
          <a:prstGeom prst="rect">
            <a:avLst/>
          </a:prstGeom>
          <a:solidFill>
            <a:srgbClr val="999595"/>
          </a:solidFill>
        </p:spPr>
        <p:txBody>
          <a:bodyPr wrap="square">
            <a:spAutoFit/>
          </a:bodyPr>
          <a:lstStyle/>
          <a:p>
            <a:r>
              <a:rPr lang="en-US" sz="2400" dirty="0">
                <a:latin typeface="Garamond" panose="02020404030301010803" pitchFamily="18" charset="0"/>
                <a:cs typeface="Times New Roman" panose="02020603050405020304" pitchFamily="18" charset="0"/>
              </a:rPr>
              <a:t>Market deregulation and tax cuts in countries like the U.S. and U.K. increased wealth concentration</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788B346B-7C6A-C5BD-9D8C-4EDB4CA475B9}"/>
              </a:ext>
            </a:extLst>
          </p:cNvPr>
          <p:cNvSpPr>
            <a:spLocks noChangeArrowheads="1"/>
          </p:cNvSpPr>
          <p:nvPr/>
        </p:nvSpPr>
        <p:spPr bwMode="auto">
          <a:xfrm>
            <a:off x="3042358" y="3744402"/>
            <a:ext cx="2829777" cy="2677656"/>
          </a:xfrm>
          <a:prstGeom prst="rect">
            <a:avLst/>
          </a:prstGeom>
          <a:solidFill>
            <a:srgbClr val="99959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Social welfare programs in Europe and parts of Asia mitigated inequality.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Economic stability maintained low levels of inequality. </a:t>
            </a:r>
          </a:p>
        </p:txBody>
      </p:sp>
      <p:sp>
        <p:nvSpPr>
          <p:cNvPr id="7" name="Rectangle 2">
            <a:extLst>
              <a:ext uri="{FF2B5EF4-FFF2-40B4-BE49-F238E27FC236}">
                <a16:creationId xmlns:a16="http://schemas.microsoft.com/office/drawing/2014/main" id="{562BBB08-98E9-D787-D2B2-2E3B23F7E328}"/>
              </a:ext>
            </a:extLst>
          </p:cNvPr>
          <p:cNvSpPr>
            <a:spLocks noChangeArrowheads="1"/>
          </p:cNvSpPr>
          <p:nvPr/>
        </p:nvSpPr>
        <p:spPr bwMode="auto">
          <a:xfrm>
            <a:off x="6095999" y="3744402"/>
            <a:ext cx="2829777" cy="3046988"/>
          </a:xfrm>
          <a:prstGeom prst="rect">
            <a:avLst/>
          </a:prstGeom>
          <a:solidFill>
            <a:srgbClr val="99959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Strengthened social protection programs and progressive taxation.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Investments in education and healthcare upheld income stability. </a:t>
            </a:r>
          </a:p>
        </p:txBody>
      </p:sp>
      <p:sp>
        <p:nvSpPr>
          <p:cNvPr id="8" name="Rectangle 3">
            <a:extLst>
              <a:ext uri="{FF2B5EF4-FFF2-40B4-BE49-F238E27FC236}">
                <a16:creationId xmlns:a16="http://schemas.microsoft.com/office/drawing/2014/main" id="{E707CE78-0EEB-8FFC-2717-DCC4CEB98C65}"/>
              </a:ext>
            </a:extLst>
          </p:cNvPr>
          <p:cNvSpPr>
            <a:spLocks noChangeArrowheads="1"/>
          </p:cNvSpPr>
          <p:nvPr/>
        </p:nvSpPr>
        <p:spPr bwMode="auto">
          <a:xfrm>
            <a:off x="9149640" y="3744402"/>
            <a:ext cx="2906650" cy="3046988"/>
          </a:xfrm>
          <a:prstGeom prst="rect">
            <a:avLst/>
          </a:prstGeom>
          <a:solidFill>
            <a:srgbClr val="999595"/>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Ongoing economic stability and robust welfare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Garamond" panose="02020404030301010803" pitchFamily="18" charset="0"/>
              </a:rPr>
              <a:t>Automation and wage stagnation caused minor increases in inequality in some countries (e.g., U.S.). </a:t>
            </a:r>
          </a:p>
        </p:txBody>
      </p:sp>
      <p:sp>
        <p:nvSpPr>
          <p:cNvPr id="9" name="TextBox 8">
            <a:extLst>
              <a:ext uri="{FF2B5EF4-FFF2-40B4-BE49-F238E27FC236}">
                <a16:creationId xmlns:a16="http://schemas.microsoft.com/office/drawing/2014/main" id="{70F3BAA1-6B14-B960-3C19-14B3634B5804}"/>
              </a:ext>
            </a:extLst>
          </p:cNvPr>
          <p:cNvSpPr txBox="1"/>
          <p:nvPr/>
        </p:nvSpPr>
        <p:spPr>
          <a:xfrm>
            <a:off x="698893" y="2893536"/>
            <a:ext cx="1728886" cy="707886"/>
          </a:xfrm>
          <a:prstGeom prst="rect">
            <a:avLst/>
          </a:prstGeom>
          <a:noFill/>
        </p:spPr>
        <p:txBody>
          <a:bodyPr wrap="square" rtlCol="0">
            <a:spAutoFit/>
          </a:bodyPr>
          <a:lstStyle/>
          <a:p>
            <a:r>
              <a:rPr lang="en-IN" sz="4000" dirty="0">
                <a:latin typeface="Algerian" panose="04020705040A02060702" pitchFamily="82" charset="0"/>
              </a:rPr>
              <a:t>1980s</a:t>
            </a:r>
          </a:p>
        </p:txBody>
      </p:sp>
      <p:sp>
        <p:nvSpPr>
          <p:cNvPr id="10" name="TextBox 9">
            <a:extLst>
              <a:ext uri="{FF2B5EF4-FFF2-40B4-BE49-F238E27FC236}">
                <a16:creationId xmlns:a16="http://schemas.microsoft.com/office/drawing/2014/main" id="{B5B10824-8BDF-A8CB-A423-4001EB105C60}"/>
              </a:ext>
            </a:extLst>
          </p:cNvPr>
          <p:cNvSpPr txBox="1"/>
          <p:nvPr/>
        </p:nvSpPr>
        <p:spPr>
          <a:xfrm>
            <a:off x="3634006" y="2818811"/>
            <a:ext cx="1921061" cy="707886"/>
          </a:xfrm>
          <a:prstGeom prst="rect">
            <a:avLst/>
          </a:prstGeom>
          <a:noFill/>
        </p:spPr>
        <p:txBody>
          <a:bodyPr wrap="square" rtlCol="0">
            <a:spAutoFit/>
          </a:bodyPr>
          <a:lstStyle/>
          <a:p>
            <a:r>
              <a:rPr lang="en-IN" sz="4000" dirty="0">
                <a:latin typeface="Algerian" panose="04020705040A02060702" pitchFamily="82" charset="0"/>
              </a:rPr>
              <a:t>1990s</a:t>
            </a:r>
          </a:p>
        </p:txBody>
      </p:sp>
      <p:sp>
        <p:nvSpPr>
          <p:cNvPr id="11" name="TextBox 10">
            <a:extLst>
              <a:ext uri="{FF2B5EF4-FFF2-40B4-BE49-F238E27FC236}">
                <a16:creationId xmlns:a16="http://schemas.microsoft.com/office/drawing/2014/main" id="{2DB1B130-EBA8-03A7-DFDB-88D7093A5C4F}"/>
              </a:ext>
            </a:extLst>
          </p:cNvPr>
          <p:cNvSpPr txBox="1"/>
          <p:nvPr/>
        </p:nvSpPr>
        <p:spPr>
          <a:xfrm>
            <a:off x="6636935" y="2831856"/>
            <a:ext cx="1728886" cy="707886"/>
          </a:xfrm>
          <a:prstGeom prst="rect">
            <a:avLst/>
          </a:prstGeom>
          <a:noFill/>
        </p:spPr>
        <p:txBody>
          <a:bodyPr wrap="square" rtlCol="0">
            <a:spAutoFit/>
          </a:bodyPr>
          <a:lstStyle/>
          <a:p>
            <a:r>
              <a:rPr lang="en-IN" sz="4000" dirty="0">
                <a:latin typeface="Algerian" panose="04020705040A02060702" pitchFamily="82" charset="0"/>
              </a:rPr>
              <a:t>2000s</a:t>
            </a:r>
          </a:p>
        </p:txBody>
      </p:sp>
      <p:sp>
        <p:nvSpPr>
          <p:cNvPr id="12" name="TextBox 11">
            <a:extLst>
              <a:ext uri="{FF2B5EF4-FFF2-40B4-BE49-F238E27FC236}">
                <a16:creationId xmlns:a16="http://schemas.microsoft.com/office/drawing/2014/main" id="{131CF2D1-3920-11AE-653E-8BD196DFE272}"/>
              </a:ext>
            </a:extLst>
          </p:cNvPr>
          <p:cNvSpPr txBox="1"/>
          <p:nvPr/>
        </p:nvSpPr>
        <p:spPr>
          <a:xfrm>
            <a:off x="9328164" y="2831855"/>
            <a:ext cx="2357120" cy="707886"/>
          </a:xfrm>
          <a:prstGeom prst="rect">
            <a:avLst/>
          </a:prstGeom>
          <a:noFill/>
        </p:spPr>
        <p:txBody>
          <a:bodyPr wrap="square" rtlCol="0">
            <a:spAutoFit/>
          </a:bodyPr>
          <a:lstStyle/>
          <a:p>
            <a:r>
              <a:rPr lang="en-IN" sz="4000" dirty="0">
                <a:latin typeface="Algerian" panose="04020705040A02060702" pitchFamily="82" charset="0"/>
              </a:rPr>
              <a:t>By 2019</a:t>
            </a:r>
          </a:p>
        </p:txBody>
      </p:sp>
      <p:graphicFrame>
        <p:nvGraphicFramePr>
          <p:cNvPr id="2" name="Diagram 1">
            <a:extLst>
              <a:ext uri="{FF2B5EF4-FFF2-40B4-BE49-F238E27FC236}">
                <a16:creationId xmlns:a16="http://schemas.microsoft.com/office/drawing/2014/main" id="{1F87ACF7-326A-1656-BF20-680B14A029D2}"/>
              </a:ext>
            </a:extLst>
          </p:cNvPr>
          <p:cNvGraphicFramePr/>
          <p:nvPr>
            <p:extLst>
              <p:ext uri="{D42A27DB-BD31-4B8C-83A1-F6EECF244321}">
                <p14:modId xmlns:p14="http://schemas.microsoft.com/office/powerpoint/2010/main" val="515065155"/>
              </p:ext>
            </p:extLst>
          </p:nvPr>
        </p:nvGraphicFramePr>
        <p:xfrm>
          <a:off x="293913" y="1557203"/>
          <a:ext cx="11604172" cy="10263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41A734D2-3DA3-6081-0152-AE9C21AF4C2F}"/>
              </a:ext>
            </a:extLst>
          </p:cNvPr>
          <p:cNvSpPr txBox="1"/>
          <p:nvPr/>
        </p:nvSpPr>
        <p:spPr>
          <a:xfrm>
            <a:off x="293913" y="500765"/>
            <a:ext cx="11604172" cy="646331"/>
          </a:xfrm>
          <a:prstGeom prst="rect">
            <a:avLst/>
          </a:prstGeom>
          <a:solidFill>
            <a:schemeClr val="tx1">
              <a:lumMod val="50000"/>
              <a:lumOff val="50000"/>
            </a:schemeClr>
          </a:solidFill>
        </p:spPr>
        <p:txBody>
          <a:bodyPr wrap="square">
            <a:spAutoFit/>
          </a:bodyPr>
          <a:lstStyle/>
          <a:p>
            <a:r>
              <a:rPr lang="en-US" sz="3600" b="1" i="0" dirty="0">
                <a:solidFill>
                  <a:srgbClr val="000000"/>
                </a:solidFill>
                <a:effectLst/>
                <a:latin typeface="Times New Roman" panose="02020603050405020304" pitchFamily="18" charset="0"/>
                <a:cs typeface="Times New Roman" panose="02020603050405020304" pitchFamily="18" charset="0"/>
              </a:rPr>
              <a:t>Income Inequality in </a:t>
            </a:r>
            <a:r>
              <a:rPr lang="en-US" sz="3600" b="1" dirty="0">
                <a:solidFill>
                  <a:srgbClr val="000000"/>
                </a:solidFill>
                <a:latin typeface="Times New Roman" panose="02020603050405020304" pitchFamily="18" charset="0"/>
                <a:cs typeface="Times New Roman" panose="02020603050405020304" pitchFamily="18" charset="0"/>
              </a:rPr>
              <a:t>High</a:t>
            </a:r>
            <a:r>
              <a:rPr lang="en-US" sz="3600" b="1" i="0" dirty="0">
                <a:solidFill>
                  <a:srgbClr val="000000"/>
                </a:solidFill>
                <a:effectLst/>
                <a:latin typeface="Times New Roman" panose="02020603050405020304" pitchFamily="18" charset="0"/>
                <a:cs typeface="Times New Roman" panose="02020603050405020304" pitchFamily="18" charset="0"/>
              </a:rPr>
              <a:t>-Income Countries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443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74929-EC19-EBC2-C778-DA96DF139362}"/>
              </a:ext>
            </a:extLst>
          </p:cNvPr>
          <p:cNvSpPr>
            <a:spLocks noGrp="1"/>
          </p:cNvSpPr>
          <p:nvPr>
            <p:ph type="title"/>
          </p:nvPr>
        </p:nvSpPr>
        <p:spPr>
          <a:xfrm>
            <a:off x="0" y="187960"/>
            <a:ext cx="6985000" cy="3241040"/>
          </a:xfrm>
          <a:solidFill>
            <a:schemeClr val="bg2">
              <a:lumMod val="25000"/>
            </a:schemeClr>
          </a:solidFill>
        </p:spPr>
        <p:txBody>
          <a:bodyPr>
            <a:normAutofit/>
          </a:bodyPr>
          <a:lstStyle/>
          <a:p>
            <a:r>
              <a:rPr lang="en-IN" sz="4000" dirty="0">
                <a:solidFill>
                  <a:schemeClr val="bg1">
                    <a:lumMod val="65000"/>
                  </a:schemeClr>
                </a:solidFill>
                <a:latin typeface="Arial" panose="020B0604020202020204" pitchFamily="34" charset="0"/>
                <a:cs typeface="Arial" panose="020B0604020202020204" pitchFamily="34" charset="0"/>
              </a:rPr>
              <a:t>Understanding</a:t>
            </a:r>
            <a:r>
              <a:rPr lang="en-IN" dirty="0"/>
              <a:t> </a:t>
            </a:r>
            <a:r>
              <a:rPr lang="en-IN" sz="6000" b="1" dirty="0">
                <a:solidFill>
                  <a:schemeClr val="accent4">
                    <a:lumMod val="75000"/>
                  </a:schemeClr>
                </a:solidFill>
                <a:latin typeface="Felix Titling" panose="04060505060202020A04" pitchFamily="82" charset="0"/>
              </a:rPr>
              <a:t>Socio</a:t>
            </a:r>
            <a:r>
              <a:rPr lang="en-IN" sz="6000" b="1" dirty="0">
                <a:solidFill>
                  <a:schemeClr val="bg2">
                    <a:lumMod val="75000"/>
                  </a:schemeClr>
                </a:solidFill>
                <a:latin typeface="Felix Titling" panose="04060505060202020A04" pitchFamily="82" charset="0"/>
              </a:rPr>
              <a:t>eco</a:t>
            </a:r>
            <a:r>
              <a:rPr lang="en-IN" sz="6000" b="1" dirty="0">
                <a:solidFill>
                  <a:schemeClr val="accent4">
                    <a:lumMod val="75000"/>
                  </a:schemeClr>
                </a:solidFill>
                <a:latin typeface="Felix Titling" panose="04060505060202020A04" pitchFamily="82" charset="0"/>
              </a:rPr>
              <a:t>nomic Transition</a:t>
            </a:r>
            <a:endParaRPr lang="en-IN" dirty="0">
              <a:latin typeface="MingLiU_HKSCS-ExtB" panose="02020500000000000000" pitchFamily="18" charset="-120"/>
              <a:ea typeface="MingLiU_HKSCS-ExtB" panose="02020500000000000000" pitchFamily="18" charset="-120"/>
            </a:endParaRPr>
          </a:p>
        </p:txBody>
      </p:sp>
      <p:pic>
        <p:nvPicPr>
          <p:cNvPr id="4" name="Picture 3">
            <a:extLst>
              <a:ext uri="{FF2B5EF4-FFF2-40B4-BE49-F238E27FC236}">
                <a16:creationId xmlns:a16="http://schemas.microsoft.com/office/drawing/2014/main" id="{F90948BC-65F5-D233-D973-6AC2DBC57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5240" y="2125980"/>
            <a:ext cx="6934200" cy="3886200"/>
          </a:xfrm>
          <a:prstGeom prst="rect">
            <a:avLst/>
          </a:prstGeom>
        </p:spPr>
      </p:pic>
      <p:sp>
        <p:nvSpPr>
          <p:cNvPr id="6" name="TextBox 5">
            <a:extLst>
              <a:ext uri="{FF2B5EF4-FFF2-40B4-BE49-F238E27FC236}">
                <a16:creationId xmlns:a16="http://schemas.microsoft.com/office/drawing/2014/main" id="{0814E2EC-30C4-D7CC-0108-91E0FF1EBCA5}"/>
              </a:ext>
            </a:extLst>
          </p:cNvPr>
          <p:cNvSpPr txBox="1"/>
          <p:nvPr/>
        </p:nvSpPr>
        <p:spPr>
          <a:xfrm>
            <a:off x="1226820" y="4236720"/>
            <a:ext cx="3434080" cy="1938992"/>
          </a:xfrm>
          <a:prstGeom prst="rect">
            <a:avLst/>
          </a:prstGeom>
          <a:noFill/>
        </p:spPr>
        <p:txBody>
          <a:bodyPr wrap="square">
            <a:spAutoFit/>
          </a:bodyPr>
          <a:lstStyle/>
          <a:p>
            <a:r>
              <a:rPr lang="en-IN" sz="4400" dirty="0">
                <a:solidFill>
                  <a:srgbClr val="B2B2B2"/>
                </a:solidFill>
                <a:latin typeface="MingLiU_HKSCS-ExtB" panose="02020500000000000000" pitchFamily="18" charset="-120"/>
                <a:ea typeface="MingLiU_HKSCS-ExtB" panose="02020500000000000000" pitchFamily="18" charset="-120"/>
              </a:rPr>
              <a:t>Mobility Matrix  </a:t>
            </a:r>
            <a:r>
              <a:rPr lang="en-IN" sz="3200" dirty="0">
                <a:solidFill>
                  <a:srgbClr val="B2B2B2"/>
                </a:solidFill>
                <a:latin typeface="MingLiU_HKSCS-ExtB" panose="02020500000000000000" pitchFamily="18" charset="-120"/>
                <a:ea typeface="MingLiU_HKSCS-ExtB" panose="02020500000000000000" pitchFamily="18" charset="-120"/>
              </a:rPr>
              <a:t>Representation</a:t>
            </a:r>
            <a:endParaRPr lang="en-IN" sz="3200" dirty="0">
              <a:solidFill>
                <a:srgbClr val="B2B2B2"/>
              </a:solidFill>
            </a:endParaRPr>
          </a:p>
        </p:txBody>
      </p:sp>
      <p:cxnSp>
        <p:nvCxnSpPr>
          <p:cNvPr id="8" name="Straight Connector 7">
            <a:extLst>
              <a:ext uri="{FF2B5EF4-FFF2-40B4-BE49-F238E27FC236}">
                <a16:creationId xmlns:a16="http://schemas.microsoft.com/office/drawing/2014/main" id="{B38D6503-8FD2-47A0-0FE4-5FE0A72FC751}"/>
              </a:ext>
            </a:extLst>
          </p:cNvPr>
          <p:cNvCxnSpPr>
            <a:cxnSpLocks/>
          </p:cNvCxnSpPr>
          <p:nvPr/>
        </p:nvCxnSpPr>
        <p:spPr>
          <a:xfrm>
            <a:off x="365760" y="6380480"/>
            <a:ext cx="11663680" cy="0"/>
          </a:xfrm>
          <a:prstGeom prst="line">
            <a:avLst/>
          </a:prstGeom>
          <a:ln w="571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83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9959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3CAD6-F39A-AF71-679D-258EC35F4998}"/>
              </a:ext>
            </a:extLst>
          </p:cNvPr>
          <p:cNvSpPr>
            <a:spLocks noGrp="1"/>
          </p:cNvSpPr>
          <p:nvPr>
            <p:ph type="title"/>
          </p:nvPr>
        </p:nvSpPr>
        <p:spPr>
          <a:xfrm>
            <a:off x="182593" y="123109"/>
            <a:ext cx="11857007" cy="954578"/>
          </a:xfrm>
          <a:solidFill>
            <a:srgbClr val="CBCBCB"/>
          </a:solidFill>
        </p:spPr>
        <p:txBody>
          <a:bodyPr>
            <a:normAutofit/>
          </a:bodyPr>
          <a:lstStyle/>
          <a:p>
            <a:r>
              <a:rPr lang="en-US" sz="4000" b="1" i="1" dirty="0"/>
              <a:t>        </a:t>
            </a:r>
            <a:r>
              <a:rPr lang="en-US" sz="3600" b="1" dirty="0">
                <a:latin typeface="Times New Roman" panose="02020603050405020304" pitchFamily="18" charset="0"/>
                <a:cs typeface="Times New Roman" panose="02020603050405020304" pitchFamily="18" charset="0"/>
              </a:rPr>
              <a:t>Mobility Matrix(1980-1999)</a:t>
            </a:r>
            <a:endParaRPr lang="en-IN" sz="40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62EFDA7D-7FA6-498C-36D1-CBC666B81D46}"/>
              </a:ext>
            </a:extLst>
          </p:cNvPr>
          <p:cNvSpPr>
            <a:spLocks noGrp="1" noChangeArrowheads="1"/>
          </p:cNvSpPr>
          <p:nvPr>
            <p:ph idx="1"/>
          </p:nvPr>
        </p:nvSpPr>
        <p:spPr bwMode="auto">
          <a:xfrm>
            <a:off x="182593" y="4651656"/>
            <a:ext cx="7143494" cy="1754326"/>
          </a:xfrm>
          <a:prstGeom prst="rect">
            <a:avLst/>
          </a:prstGeom>
          <a:solidFill>
            <a:schemeClr val="bg1">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significant upward mobility from the </a:t>
            </a:r>
            <a:r>
              <a:rPr kumimoji="0" lang="en-US" altLang="en-US" sz="18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lower income groups to the higher income groups.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middle income groups (0.5 and 1) experienced the most movement, with a significant proportion moving both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 and down the income </a:t>
            </a:r>
            <a:r>
              <a:rPr kumimoji="0" lang="en-US" altLang="en-US" sz="180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ladder.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C00000"/>
                </a:solidFill>
                <a:effectLst/>
                <a:highlight>
                  <a:srgbClr val="E2E2E2"/>
                </a:highlight>
                <a:latin typeface="Times New Roman" panose="02020603050405020304" pitchFamily="18" charset="0"/>
                <a:cs typeface="Times New Roman" panose="02020603050405020304" pitchFamily="18" charset="0"/>
              </a:rPr>
              <a:t>The highest income group (infinity) remained relatively stable</a:t>
            </a:r>
            <a:r>
              <a:rPr kumimoji="0" lang="en-US" altLang="en-US" sz="1800" b="0" i="0" u="none" strike="noStrike" cap="none" normalizeH="0" baseline="0" dirty="0">
                <a:ln>
                  <a:noFill/>
                </a:ln>
                <a:solidFill>
                  <a:schemeClr val="tx1"/>
                </a:solidFill>
                <a:effectLst/>
                <a:highlight>
                  <a:srgbClr val="E2E2E2"/>
                </a:highligh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only a small proportion moving out. </a:t>
            </a:r>
          </a:p>
        </p:txBody>
      </p:sp>
      <p:pic>
        <p:nvPicPr>
          <p:cNvPr id="7" name="Picture 6">
            <a:extLst>
              <a:ext uri="{FF2B5EF4-FFF2-40B4-BE49-F238E27FC236}">
                <a16:creationId xmlns:a16="http://schemas.microsoft.com/office/drawing/2014/main" id="{FF81E424-60BC-A73B-97E4-086AF9C55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92" y="1282050"/>
            <a:ext cx="7220042" cy="2580043"/>
          </a:xfrm>
          <a:prstGeom prst="rect">
            <a:avLst/>
          </a:prstGeom>
        </p:spPr>
      </p:pic>
      <p:sp>
        <p:nvSpPr>
          <p:cNvPr id="8" name="TextBox 7">
            <a:extLst>
              <a:ext uri="{FF2B5EF4-FFF2-40B4-BE49-F238E27FC236}">
                <a16:creationId xmlns:a16="http://schemas.microsoft.com/office/drawing/2014/main" id="{A7EEF734-45A7-ED7C-950D-411126B95BC4}"/>
              </a:ext>
            </a:extLst>
          </p:cNvPr>
          <p:cNvSpPr txBox="1"/>
          <p:nvPr/>
        </p:nvSpPr>
        <p:spPr>
          <a:xfrm>
            <a:off x="7511499" y="1282050"/>
            <a:ext cx="4609381" cy="5478423"/>
          </a:xfrm>
          <a:prstGeom prst="rect">
            <a:avLst/>
          </a:prstGeom>
          <a:solidFill>
            <a:srgbClr val="AEAEAE"/>
          </a:solidFill>
        </p:spPr>
        <p:txBody>
          <a:bodyPr wrap="square" rtlCol="0">
            <a:spAutoFit/>
          </a:bodyPr>
          <a:lstStyle/>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Economic liberalization</a:t>
            </a:r>
            <a:r>
              <a:rPr lang="en-IN" sz="24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Countries like India (</a:t>
            </a:r>
            <a:r>
              <a:rPr lang="en-IN" b="1" dirty="0">
                <a:latin typeface="Times New Roman" panose="02020603050405020304" pitchFamily="18" charset="0"/>
                <a:cs typeface="Times New Roman" panose="02020603050405020304" pitchFamily="18" charset="0"/>
              </a:rPr>
              <a:t>1991 reforms</a:t>
            </a:r>
            <a:r>
              <a:rPr lang="en-IN" dirty="0">
                <a:latin typeface="Times New Roman" panose="02020603050405020304" pitchFamily="18" charset="0"/>
                <a:cs typeface="Times New Roman" panose="02020603050405020304" pitchFamily="18" charset="0"/>
              </a:rPr>
              <a:t>) and China (1978 reforms continuing into the 1980s and 1990s) opened up their economies to trade, foreign investments, and market competition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middle-income countries advanced due to industrialization and adoption of new technologies, enabling productivity gains. Example: Korea transitioned into advanced industries like electronics and </a:t>
            </a:r>
            <a:r>
              <a:rPr lang="en-IN" dirty="0" err="1">
                <a:latin typeface="Times New Roman" panose="02020603050405020304" pitchFamily="18" charset="0"/>
                <a:cs typeface="Times New Roman" panose="02020603050405020304" pitchFamily="18" charset="0"/>
              </a:rPr>
              <a:t>automotiv</a:t>
            </a:r>
            <a:r>
              <a:rPr lang="en-IN"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Debt Crisis</a:t>
            </a:r>
            <a:r>
              <a:rPr lang="en-IN" sz="2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Many Latin American countries (e.g., </a:t>
            </a:r>
            <a:r>
              <a:rPr lang="en-IN" b="1" dirty="0">
                <a:solidFill>
                  <a:srgbClr val="C00000"/>
                </a:solidFill>
                <a:latin typeface="Times New Roman" panose="02020603050405020304" pitchFamily="18" charset="0"/>
                <a:cs typeface="Times New Roman" panose="02020603050405020304" pitchFamily="18" charset="0"/>
              </a:rPr>
              <a:t>Argentina, Brazil, and Mexico</a:t>
            </a:r>
            <a:r>
              <a:rPr lang="en-IN" dirty="0">
                <a:latin typeface="Times New Roman" panose="02020603050405020304" pitchFamily="18" charset="0"/>
                <a:cs typeface="Times New Roman" panose="02020603050405020304" pitchFamily="18" charset="0"/>
              </a:rPr>
              <a:t>) faced massive debt defaults in the 1980s, leading to economic stagnation or regressions.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1997 Asian Financial Crisis</a:t>
            </a:r>
            <a:r>
              <a:rPr lang="en-IN" dirty="0">
                <a:latin typeface="Times New Roman" panose="02020603050405020304" pitchFamily="18" charset="0"/>
                <a:cs typeface="Times New Roman" panose="02020603050405020304" pitchFamily="18" charset="0"/>
              </a:rPr>
              <a:t> impacted countries like </a:t>
            </a:r>
            <a:r>
              <a:rPr lang="en-IN" dirty="0">
                <a:highlight>
                  <a:srgbClr val="E2E2E2"/>
                </a:highlight>
                <a:latin typeface="Times New Roman" panose="02020603050405020304" pitchFamily="18" charset="0"/>
                <a:cs typeface="Times New Roman" panose="02020603050405020304" pitchFamily="18" charset="0"/>
              </a:rPr>
              <a:t>Thailand, Indonesia, and Malaysia, </a:t>
            </a:r>
            <a:r>
              <a:rPr lang="en-IN" dirty="0">
                <a:latin typeface="Times New Roman" panose="02020603050405020304" pitchFamily="18" charset="0"/>
                <a:cs typeface="Times New Roman" panose="02020603050405020304" pitchFamily="18" charset="0"/>
              </a:rPr>
              <a:t>leading to recessions and slowed growth</a:t>
            </a:r>
          </a:p>
        </p:txBody>
      </p:sp>
    </p:spTree>
    <p:extLst>
      <p:ext uri="{BB962C8B-B14F-4D97-AF65-F5344CB8AC3E}">
        <p14:creationId xmlns:p14="http://schemas.microsoft.com/office/powerpoint/2010/main" val="2530500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9491B-C731-6BFC-A834-F35CCA32A1EB}"/>
              </a:ext>
            </a:extLst>
          </p:cNvPr>
          <p:cNvSpPr>
            <a:spLocks noGrp="1"/>
          </p:cNvSpPr>
          <p:nvPr>
            <p:ph type="title"/>
          </p:nvPr>
        </p:nvSpPr>
        <p:spPr>
          <a:xfrm>
            <a:off x="91611" y="250063"/>
            <a:ext cx="11762933" cy="1012370"/>
          </a:xfrm>
          <a:solidFill>
            <a:srgbClr val="C4C4C4"/>
          </a:solidFill>
        </p:spPr>
        <p:txBody>
          <a:bodyPr>
            <a:normAutofit/>
          </a:bodyPr>
          <a:lstStyle/>
          <a:p>
            <a:pPr algn="ctr"/>
            <a:r>
              <a:rPr lang="en-US" sz="3600" b="1" dirty="0">
                <a:latin typeface="Times New Roman" panose="02020603050405020304" pitchFamily="18" charset="0"/>
                <a:cs typeface="Times New Roman" panose="02020603050405020304" pitchFamily="18" charset="0"/>
              </a:rPr>
              <a:t>Mobility Matrix(2000-2019)</a:t>
            </a:r>
            <a:endParaRPr lang="en-IN" sz="36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616BEB2-0E86-7CEB-90BF-9D845FA672B2}"/>
              </a:ext>
            </a:extLst>
          </p:cNvPr>
          <p:cNvSpPr>
            <a:spLocks noGrp="1" noChangeArrowheads="1"/>
          </p:cNvSpPr>
          <p:nvPr>
            <p:ph idx="1"/>
          </p:nvPr>
        </p:nvSpPr>
        <p:spPr bwMode="auto">
          <a:xfrm>
            <a:off x="91612" y="4241716"/>
            <a:ext cx="6635760" cy="2308324"/>
          </a:xfrm>
          <a:prstGeom prst="rect">
            <a:avLst/>
          </a:prstGeom>
          <a:solidFill>
            <a:srgbClr val="B4B0B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significant upward mobility from the lower income groups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the higher income groups, especially from the 0.5 and 1 income groups.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middle income groups (0.5 and 1) experienced the most movement, with </a:t>
            </a:r>
            <a:r>
              <a:rPr kumimoji="0" lang="en-US" altLang="en-US" sz="18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a significant proportion moving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both up and down the income ladder.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highest income group (infinity) remained relatively stable, with only a small proportion moving out</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7" name="Picture 6">
            <a:extLst>
              <a:ext uri="{FF2B5EF4-FFF2-40B4-BE49-F238E27FC236}">
                <a16:creationId xmlns:a16="http://schemas.microsoft.com/office/drawing/2014/main" id="{8C5A20B6-27F9-BFD3-33F5-31E5D68A5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11" y="1433834"/>
            <a:ext cx="6763694" cy="2448267"/>
          </a:xfrm>
          <a:prstGeom prst="rect">
            <a:avLst/>
          </a:prstGeom>
        </p:spPr>
      </p:pic>
      <p:sp>
        <p:nvSpPr>
          <p:cNvPr id="8" name="TextBox 7">
            <a:extLst>
              <a:ext uri="{FF2B5EF4-FFF2-40B4-BE49-F238E27FC236}">
                <a16:creationId xmlns:a16="http://schemas.microsoft.com/office/drawing/2014/main" id="{BD5BE196-6DFE-D47D-447B-D13E8724F597}"/>
              </a:ext>
            </a:extLst>
          </p:cNvPr>
          <p:cNvSpPr txBox="1"/>
          <p:nvPr/>
        </p:nvSpPr>
        <p:spPr>
          <a:xfrm>
            <a:off x="7091612" y="1375846"/>
            <a:ext cx="4762932" cy="5482154"/>
          </a:xfrm>
          <a:prstGeom prst="rect">
            <a:avLst/>
          </a:prstGeom>
          <a:solidFill>
            <a:srgbClr val="B4B0B0"/>
          </a:solidFill>
        </p:spPr>
        <p:txBody>
          <a:bodyPr wrap="square" rtlCol="0">
            <a:spAutoFit/>
          </a:bodyPr>
          <a:lstStyle/>
          <a:p>
            <a:r>
              <a:rPr lang="en-IN" b="1" dirty="0">
                <a:latin typeface="Times New Roman" panose="02020603050405020304" pitchFamily="18" charset="0"/>
                <a:cs typeface="Times New Roman" panose="02020603050405020304" pitchFamily="18" charset="0"/>
              </a:rPr>
              <a:t> Global Financial Crisis (2008–2009)</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High-income and middle-income countries</a:t>
            </a:r>
            <a:r>
              <a:rPr lang="en-IN" dirty="0">
                <a:latin typeface="Times New Roman" panose="02020603050405020304" pitchFamily="18" charset="0"/>
                <a:cs typeface="Times New Roman" panose="02020603050405020304" pitchFamily="18" charset="0"/>
              </a:rPr>
              <a:t> were severely affected:</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Europe</a:t>
            </a:r>
            <a:r>
              <a:rPr lang="en-IN" dirty="0">
                <a:latin typeface="Times New Roman" panose="02020603050405020304" pitchFamily="18" charset="0"/>
                <a:cs typeface="Times New Roman" panose="02020603050405020304" pitchFamily="18" charset="0"/>
              </a:rPr>
              <a:t>: Countries like </a:t>
            </a:r>
            <a:r>
              <a:rPr lang="en-IN" b="1" dirty="0">
                <a:latin typeface="Times New Roman" panose="02020603050405020304" pitchFamily="18" charset="0"/>
                <a:cs typeface="Times New Roman" panose="02020603050405020304" pitchFamily="18" charset="0"/>
              </a:rPr>
              <a:t>Greece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Spain</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Italy</a:t>
            </a:r>
            <a:r>
              <a:rPr lang="en-IN" dirty="0">
                <a:latin typeface="Times New Roman" panose="02020603050405020304" pitchFamily="18" charset="0"/>
                <a:cs typeface="Times New Roman" panose="02020603050405020304" pitchFamily="18" charset="0"/>
              </a:rPr>
              <a:t> experienced recessions and slow recoveries due to debt crises and austerity measures.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United States</a:t>
            </a:r>
            <a:r>
              <a:rPr lang="en-IN" dirty="0">
                <a:latin typeface="Times New Roman" panose="02020603050405020304" pitchFamily="18" charset="0"/>
                <a:cs typeface="Times New Roman" panose="02020603050405020304" pitchFamily="18" charset="0"/>
              </a:rPr>
              <a:t>: Despite recovery, the crisis highlighted stagnating incomes and inequality.</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India</a:t>
            </a:r>
            <a:r>
              <a:rPr lang="en-IN" dirty="0">
                <a:latin typeface="Times New Roman" panose="02020603050405020304" pitchFamily="18" charset="0"/>
                <a:cs typeface="Times New Roman" panose="02020603050405020304" pitchFamily="18" charset="0"/>
              </a:rPr>
              <a:t>: Growth was </a:t>
            </a:r>
            <a:r>
              <a:rPr lang="en-IN" dirty="0" err="1">
                <a:latin typeface="Times New Roman" panose="02020603050405020304" pitchFamily="18" charset="0"/>
                <a:cs typeface="Times New Roman" panose="02020603050405020304" pitchFamily="18" charset="0"/>
              </a:rPr>
              <a:t>fueled</a:t>
            </a:r>
            <a:r>
              <a:rPr lang="en-IN" dirty="0">
                <a:latin typeface="Times New Roman" panose="02020603050405020304" pitchFamily="18" charset="0"/>
                <a:cs typeface="Times New Roman" panose="02020603050405020304" pitchFamily="18" charset="0"/>
              </a:rPr>
              <a:t> by the </a:t>
            </a:r>
            <a:r>
              <a:rPr lang="en-IN" b="1" dirty="0">
                <a:solidFill>
                  <a:srgbClr val="C00000"/>
                </a:solidFill>
                <a:latin typeface="Times New Roman" panose="02020603050405020304" pitchFamily="18" charset="0"/>
                <a:cs typeface="Times New Roman" panose="02020603050405020304" pitchFamily="18" charset="0"/>
              </a:rPr>
              <a:t>IT sector, urbanization, and economic reforms.</a:t>
            </a:r>
            <a:r>
              <a:rPr lang="en-IN" dirty="0">
                <a:latin typeface="Times New Roman" panose="02020603050405020304" pitchFamily="18" charset="0"/>
                <a:cs typeface="Times New Roman" panose="02020603050405020304" pitchFamily="18" charset="0"/>
              </a:rPr>
              <a:t> Increased domestic consumption also played a major role.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Botswana</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Angola</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Nigeria</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Chile</a:t>
            </a:r>
            <a:r>
              <a:rPr lang="en-IN" dirty="0">
                <a:latin typeface="Times New Roman" panose="02020603050405020304" pitchFamily="18" charset="0"/>
                <a:cs typeface="Times New Roman" panose="02020603050405020304" pitchFamily="18" charset="0"/>
              </a:rPr>
              <a:t>, experienced significant growth during the early 2000s </a:t>
            </a:r>
            <a:r>
              <a:rPr lang="en-IN" b="1" dirty="0">
                <a:highlight>
                  <a:srgbClr val="E2E2E2"/>
                </a:highlight>
                <a:latin typeface="Times New Roman" panose="02020603050405020304" pitchFamily="18" charset="0"/>
                <a:cs typeface="Times New Roman" panose="02020603050405020304" pitchFamily="18" charset="0"/>
              </a:rPr>
              <a:t>due to high global demand </a:t>
            </a:r>
            <a:r>
              <a:rPr lang="en-IN" dirty="0">
                <a:latin typeface="Times New Roman" panose="02020603050405020304" pitchFamily="18" charset="0"/>
                <a:cs typeface="Times New Roman" panose="02020603050405020304" pitchFamily="18" charset="0"/>
              </a:rPr>
              <a:t>for commodities (oil, metals, and agricultural products).</a:t>
            </a:r>
          </a:p>
          <a:p>
            <a:endParaRPr lang="en-IN" dirty="0"/>
          </a:p>
        </p:txBody>
      </p:sp>
    </p:spTree>
    <p:extLst>
      <p:ext uri="{BB962C8B-B14F-4D97-AF65-F5344CB8AC3E}">
        <p14:creationId xmlns:p14="http://schemas.microsoft.com/office/powerpoint/2010/main" val="270334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0C3E-90D6-E689-F9BB-8C3B52396AE8}"/>
              </a:ext>
            </a:extLst>
          </p:cNvPr>
          <p:cNvSpPr>
            <a:spLocks noGrp="1"/>
          </p:cNvSpPr>
          <p:nvPr>
            <p:ph type="ctrTitle"/>
          </p:nvPr>
        </p:nvSpPr>
        <p:spPr>
          <a:xfrm>
            <a:off x="164505" y="71666"/>
            <a:ext cx="11732436" cy="507454"/>
          </a:xfrm>
          <a:solidFill>
            <a:schemeClr val="bg1">
              <a:lumMod val="85000"/>
            </a:schemeClr>
          </a:solidFill>
        </p:spPr>
        <p:txBody>
          <a:bodyPr>
            <a:normAutofit fontScale="90000"/>
          </a:bodyPr>
          <a:lstStyle/>
          <a:p>
            <a:r>
              <a:rPr lang="en-US" sz="4000" b="1" dirty="0">
                <a:latin typeface="Times New Roman" panose="02020603050405020304" pitchFamily="18" charset="0"/>
                <a:cs typeface="Times New Roman" panose="02020603050405020304" pitchFamily="18" charset="0"/>
              </a:rPr>
              <a:t>Mobility Matrix(1980-2019)</a:t>
            </a:r>
            <a:endParaRPr lang="en-IN" sz="4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7AE2ACB-E7BF-D9DA-086C-41B17A5CC318}"/>
              </a:ext>
            </a:extLst>
          </p:cNvPr>
          <p:cNvSpPr>
            <a:spLocks noGrp="1" noChangeArrowheads="1"/>
          </p:cNvSpPr>
          <p:nvPr>
            <p:ph type="subTitle" idx="1"/>
          </p:nvPr>
        </p:nvSpPr>
        <p:spPr bwMode="auto">
          <a:xfrm>
            <a:off x="6545804" y="3753773"/>
            <a:ext cx="5351138" cy="861774"/>
          </a:xfrm>
          <a:prstGeom prst="rect">
            <a:avLst/>
          </a:prstGeom>
          <a:solidFill>
            <a:schemeClr val="bg1">
              <a:lumMod val="50000"/>
            </a:schemeClr>
          </a:solidFill>
          <a:ln>
            <a:no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IN"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High-Income Group (1980: infinity).</a:t>
            </a:r>
          </a:p>
          <a:p>
            <a:pPr marR="0" lvl="0" algn="l" defTabSz="914400" rtl="0" eaLnBrk="0" fontAlgn="base" latinLnBrk="0" hangingPunct="0">
              <a:lnSpc>
                <a:spcPct val="100000"/>
              </a:lnSpc>
              <a:spcBef>
                <a:spcPct val="0"/>
              </a:spcBef>
              <a:spcAft>
                <a:spcPct val="0"/>
              </a:spcAft>
              <a:buClrTx/>
              <a:buSzTx/>
              <a:tabLst/>
            </a:pPr>
            <a:r>
              <a:rPr kumimoji="0" lang="en-IN"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countries retained their high-income status, showing entrenched wealth disparities</a:t>
            </a:r>
            <a:r>
              <a:rPr kumimoji="0" lang="en-IN" altLang="en-US" sz="1800" b="0" i="0" u="none" strike="noStrike" cap="none" normalizeH="0" baseline="0" dirty="0">
                <a:ln>
                  <a:noFill/>
                </a:ln>
                <a:solidFill>
                  <a:schemeClr val="tx1"/>
                </a:solidFill>
                <a:effectLst/>
                <a:latin typeface="Arial" panose="020B0604020202020204" pitchFamily="34" charset="0"/>
              </a:rPr>
              <a:t>.</a:t>
            </a:r>
          </a:p>
        </p:txBody>
      </p:sp>
      <p:sp>
        <p:nvSpPr>
          <p:cNvPr id="24" name="TextBox 23">
            <a:extLst>
              <a:ext uri="{FF2B5EF4-FFF2-40B4-BE49-F238E27FC236}">
                <a16:creationId xmlns:a16="http://schemas.microsoft.com/office/drawing/2014/main" id="{8289AB36-FB22-1628-FDC0-7DD54C161EEE}"/>
              </a:ext>
            </a:extLst>
          </p:cNvPr>
          <p:cNvSpPr txBox="1"/>
          <p:nvPr/>
        </p:nvSpPr>
        <p:spPr>
          <a:xfrm>
            <a:off x="164504" y="708237"/>
            <a:ext cx="5834553" cy="3970318"/>
          </a:xfrm>
          <a:prstGeom prst="rect">
            <a:avLst/>
          </a:prstGeom>
          <a:solidFill>
            <a:srgbClr val="E2E2E2"/>
          </a:solid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Low-Income Group (1980:0.25)</a:t>
            </a:r>
            <a:endParaRPr lang="en-US" altLang="en-US" b="1"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Majority stayed low-income (68%), but 18% moved up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lower-middle income(0.5)</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Countries like Bangladesh and Nepal likely advanced, while others like Uganda and Congo, Dem. Rep. remained low-income.</a:t>
            </a:r>
            <a:endParaRPr lang="en-US" altLang="en-US"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IN"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Lower-Middle Income Group (1980: 0.5) </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stayed stable, while 27% moved up to middle-income (1).</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small fraction regressed to low income (0.25).</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Countries like India and Indonesia likely progressed, whereas others like Philippines stayed the same.</a:t>
            </a:r>
          </a:p>
          <a:p>
            <a:endParaRPr lang="en-IN" dirty="0"/>
          </a:p>
        </p:txBody>
      </p:sp>
      <p:sp>
        <p:nvSpPr>
          <p:cNvPr id="25" name="TextBox 24">
            <a:extLst>
              <a:ext uri="{FF2B5EF4-FFF2-40B4-BE49-F238E27FC236}">
                <a16:creationId xmlns:a16="http://schemas.microsoft.com/office/drawing/2014/main" id="{4E69B188-FDE4-D2B9-6B09-6DDCA6E32E40}"/>
              </a:ext>
            </a:extLst>
          </p:cNvPr>
          <p:cNvSpPr txBox="1"/>
          <p:nvPr/>
        </p:nvSpPr>
        <p:spPr>
          <a:xfrm>
            <a:off x="0" y="4615547"/>
            <a:ext cx="12027496" cy="2328431"/>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IN"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Middle-Income Group (1980: 1)</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 remained middle-income, while 42% moved up (to 2 or infinity).</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Eastern Europe (e.g., Poland) and some Asian countries (e.g., Malaysia) likely </a:t>
            </a:r>
            <a:r>
              <a:rPr kumimoji="0" lang="en-IN"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advanced.Latin</a:t>
            </a: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America (e.g., Brazil, Argentina) mostly stagnated.</a:t>
            </a:r>
          </a:p>
          <a:p>
            <a:pPr marR="0" lvl="0" algn="l" defTabSz="914400" rtl="0" eaLnBrk="0" fontAlgn="base" latinLnBrk="0" hangingPunct="0">
              <a:lnSpc>
                <a:spcPct val="100000"/>
              </a:lnSpc>
              <a:spcBef>
                <a:spcPct val="0"/>
              </a:spcBef>
              <a:spcAft>
                <a:spcPct val="0"/>
              </a:spcAft>
              <a:buClrTx/>
              <a:buSzTx/>
              <a:tabLst/>
            </a:pPr>
            <a:endParaRPr lang="en-IN" altLang="en-US"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IN"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Upper-Middle Income Group (1980: 2)</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Divided evenly: 33% moved up to high income (infinity), 33% stayed stable, and 33% fell to middle-income (1).</a:t>
            </a:r>
          </a:p>
          <a:p>
            <a:pPr marR="0" lvl="0" algn="l" defTabSz="914400" rtl="0" eaLnBrk="0" fontAlgn="base" latinLnBrk="0" hangingPunct="0">
              <a:lnSpc>
                <a:spcPct val="100000"/>
              </a:lnSpc>
              <a:spcBef>
                <a:spcPct val="0"/>
              </a:spcBef>
              <a:spcAft>
                <a:spcPct val="0"/>
              </a:spcAft>
              <a:buClrTx/>
              <a:buSzTx/>
              <a:tabLst/>
            </a:pP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Korea (Rep.) and Israel likely progressed, while some European countries like Spain remained stable</a:t>
            </a:r>
            <a:r>
              <a:rPr kumimoji="0" lang="en-IN" altLang="en-US" sz="1600" b="0" i="0" u="none" strike="noStrike" cap="none" normalizeH="0" baseline="0" dirty="0">
                <a:ln>
                  <a:noFill/>
                </a:ln>
                <a:solidFill>
                  <a:schemeClr val="tx1"/>
                </a:solidFill>
                <a:effectLst/>
                <a:latin typeface="Arial" panose="020B0604020202020204" pitchFamily="34" charset="0"/>
              </a:rPr>
              <a:t>.</a:t>
            </a:r>
          </a:p>
        </p:txBody>
      </p:sp>
      <p:pic>
        <p:nvPicPr>
          <p:cNvPr id="27" name="Picture 26">
            <a:extLst>
              <a:ext uri="{FF2B5EF4-FFF2-40B4-BE49-F238E27FC236}">
                <a16:creationId xmlns:a16="http://schemas.microsoft.com/office/drawing/2014/main" id="{7DB33324-6038-0867-716D-E10AB1818B23}"/>
              </a:ext>
            </a:extLst>
          </p:cNvPr>
          <p:cNvPicPr>
            <a:picLocks noChangeAspect="1"/>
          </p:cNvPicPr>
          <p:nvPr/>
        </p:nvPicPr>
        <p:blipFill>
          <a:blip r:embed="rId3"/>
          <a:stretch>
            <a:fillRect/>
          </a:stretch>
        </p:blipFill>
        <p:spPr>
          <a:xfrm>
            <a:off x="6162139" y="1004030"/>
            <a:ext cx="5734802" cy="2476846"/>
          </a:xfrm>
          <a:prstGeom prst="rect">
            <a:avLst/>
          </a:prstGeom>
        </p:spPr>
      </p:pic>
    </p:spTree>
    <p:extLst>
      <p:ext uri="{BB962C8B-B14F-4D97-AF65-F5344CB8AC3E}">
        <p14:creationId xmlns:p14="http://schemas.microsoft.com/office/powerpoint/2010/main" val="2404893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58A46-4BE9-4A5A-8572-3C2CC42F129D}"/>
              </a:ext>
            </a:extLst>
          </p:cNvPr>
          <p:cNvSpPr>
            <a:spLocks noGrp="1"/>
          </p:cNvSpPr>
          <p:nvPr>
            <p:ph type="title"/>
          </p:nvPr>
        </p:nvSpPr>
        <p:spPr>
          <a:xfrm>
            <a:off x="6263640" y="803994"/>
            <a:ext cx="5491480" cy="3910246"/>
          </a:xfrm>
        </p:spPr>
        <p:txBody>
          <a:bodyPr>
            <a:normAutofit fontScale="90000"/>
          </a:bodyPr>
          <a:lstStyle/>
          <a:p>
            <a:pPr algn="r"/>
            <a:r>
              <a:rPr lang="en-IN" b="1" dirty="0">
                <a:solidFill>
                  <a:schemeClr val="bg1">
                    <a:lumMod val="85000"/>
                  </a:schemeClr>
                </a:solidFill>
                <a:latin typeface="Times New Roman" panose="02020603050405020304" pitchFamily="18" charset="0"/>
                <a:cs typeface="Times New Roman" panose="02020603050405020304" pitchFamily="18" charset="0"/>
              </a:rPr>
              <a:t>Understanding variations in growth rates across income distribution </a:t>
            </a:r>
            <a:r>
              <a:rPr lang="en-IN" sz="6700" b="1" dirty="0">
                <a:solidFill>
                  <a:schemeClr val="bg1">
                    <a:lumMod val="65000"/>
                  </a:schemeClr>
                </a:solidFill>
                <a:latin typeface="Times New Roman" panose="02020603050405020304" pitchFamily="18" charset="0"/>
                <a:cs typeface="Times New Roman" panose="02020603050405020304" pitchFamily="18" charset="0"/>
              </a:rPr>
              <a:t>Growth Incidence Curves (GIC)</a:t>
            </a:r>
            <a:endParaRPr lang="en-IN" b="1"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0258F4-CF1A-515E-C7D3-C9872E44C632}"/>
              </a:ext>
            </a:extLst>
          </p:cNvPr>
          <p:cNvPicPr>
            <a:picLocks noChangeAspect="1"/>
          </p:cNvPicPr>
          <p:nvPr/>
        </p:nvPicPr>
        <p:blipFill>
          <a:blip r:embed="rId3">
            <a:extLst>
              <a:ext uri="{28A0092B-C50C-407E-A947-70E740481C1C}">
                <a14:useLocalDpi xmlns:a14="http://schemas.microsoft.com/office/drawing/2010/main" val="0"/>
              </a:ext>
            </a:extLst>
          </a:blip>
          <a:srcRect r="1055"/>
          <a:stretch/>
        </p:blipFill>
        <p:spPr>
          <a:xfrm>
            <a:off x="162560" y="1178378"/>
            <a:ext cx="6228080" cy="4501244"/>
          </a:xfrm>
          <a:prstGeom prst="rect">
            <a:avLst/>
          </a:prstGeom>
        </p:spPr>
      </p:pic>
      <p:cxnSp>
        <p:nvCxnSpPr>
          <p:cNvPr id="4" name="Straight Connector 3">
            <a:extLst>
              <a:ext uri="{FF2B5EF4-FFF2-40B4-BE49-F238E27FC236}">
                <a16:creationId xmlns:a16="http://schemas.microsoft.com/office/drawing/2014/main" id="{D81B183C-9B64-32A5-2D08-721EDC154521}"/>
              </a:ext>
            </a:extLst>
          </p:cNvPr>
          <p:cNvCxnSpPr/>
          <p:nvPr/>
        </p:nvCxnSpPr>
        <p:spPr>
          <a:xfrm flipV="1">
            <a:off x="162560" y="5974080"/>
            <a:ext cx="10485120" cy="81280"/>
          </a:xfrm>
          <a:prstGeom prst="line">
            <a:avLst/>
          </a:prstGeom>
          <a:ln w="571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390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AEAEA"/>
        </a:soli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B7688D2D-5FE0-4215-AB45-6B85CB292AF7}"/>
              </a:ext>
            </a:extLst>
          </p:cNvPr>
          <p:cNvGraphicFramePr>
            <a:graphicFrameLocks noGrp="1"/>
          </p:cNvGraphicFramePr>
          <p:nvPr/>
        </p:nvGraphicFramePr>
        <p:xfrm>
          <a:off x="1439333" y="390071"/>
          <a:ext cx="9313333" cy="60778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32153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BCBCB"/>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80CC3EFE-4814-4117-9B96-E107E2B51784}"/>
              </a:ext>
            </a:extLst>
          </p:cNvPr>
          <p:cNvGraphicFramePr>
            <a:graphicFrameLocks noGrp="1"/>
          </p:cNvGraphicFramePr>
          <p:nvPr>
            <p:extLst>
              <p:ext uri="{D42A27DB-BD31-4B8C-83A1-F6EECF244321}">
                <p14:modId xmlns:p14="http://schemas.microsoft.com/office/powerpoint/2010/main" val="3468643856"/>
              </p:ext>
            </p:extLst>
          </p:nvPr>
        </p:nvGraphicFramePr>
        <p:xfrm>
          <a:off x="1095204" y="0"/>
          <a:ext cx="9759609" cy="63843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1677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2AEAE"/>
        </a:soli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09B1C7D-1C21-4AFD-AE7F-43B6453AD050}"/>
              </a:ext>
            </a:extLst>
          </p:cNvPr>
          <p:cNvGraphicFramePr>
            <a:graphicFrameLocks noGrp="1"/>
          </p:cNvGraphicFramePr>
          <p:nvPr/>
        </p:nvGraphicFramePr>
        <p:xfrm>
          <a:off x="1439333" y="390071"/>
          <a:ext cx="9313333" cy="60778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93705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CBE522F-FBED-4A6E-8AA7-42F9CBECBB43}"/>
              </a:ext>
            </a:extLst>
          </p:cNvPr>
          <p:cNvGraphicFramePr>
            <a:graphicFrameLocks noGrp="1"/>
          </p:cNvGraphicFramePr>
          <p:nvPr/>
        </p:nvGraphicFramePr>
        <p:xfrm>
          <a:off x="1439333" y="390071"/>
          <a:ext cx="9313333" cy="60778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01863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F2381DF0-5E30-4564-8E77-8EB00A7ABAF3}"/>
              </a:ext>
            </a:extLst>
          </p:cNvPr>
          <p:cNvGraphicFramePr>
            <a:graphicFrameLocks noGrp="1"/>
          </p:cNvGraphicFramePr>
          <p:nvPr/>
        </p:nvGraphicFramePr>
        <p:xfrm>
          <a:off x="0" y="0"/>
          <a:ext cx="5392271" cy="3429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FB18D87D-07CD-408C-9572-70BA2A6976FB}"/>
              </a:ext>
            </a:extLst>
          </p:cNvPr>
          <p:cNvGraphicFramePr>
            <a:graphicFrameLocks noGrp="1"/>
          </p:cNvGraphicFramePr>
          <p:nvPr/>
        </p:nvGraphicFramePr>
        <p:xfrm>
          <a:off x="0" y="3429000"/>
          <a:ext cx="5392271"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FD938151-7329-4A21-9607-E36F6B3B0237}"/>
              </a:ext>
            </a:extLst>
          </p:cNvPr>
          <p:cNvSpPr txBox="1"/>
          <p:nvPr/>
        </p:nvSpPr>
        <p:spPr>
          <a:xfrm>
            <a:off x="6096000" y="831495"/>
            <a:ext cx="5953760" cy="5496248"/>
          </a:xfrm>
          <a:prstGeom prst="rect">
            <a:avLst/>
          </a:prstGeom>
          <a:solidFill>
            <a:srgbClr val="958F8F"/>
          </a:solidFill>
        </p:spPr>
        <p:txBody>
          <a:bodyPr wrap="square" rtlCol="0">
            <a:spAutoFit/>
          </a:bodyPr>
          <a:lstStyle/>
          <a:p>
            <a:pPr marL="285750" indent="-285750" algn="just">
              <a:lnSpc>
                <a:spcPct val="107000"/>
              </a:lnSpc>
              <a:spcAft>
                <a:spcPts val="800"/>
              </a:spcAf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Before 2000, the growth rates for each centile of </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income distribution indicates a “pro-poor” trend</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Latin American countries suffered from debt crises, the Middle East suffered from wars and oil price volatility, Japan experienced prolonged economic stagnation, while other parts of the world were still recovering from the </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impact of the Cold War, developing countries like China, Vietnam and India made huge strides</a:t>
            </a:r>
          </a:p>
          <a:p>
            <a:pPr marL="285750" indent="-285750" algn="just">
              <a:lnSpc>
                <a:spcPct val="107000"/>
              </a:lnSpc>
              <a:spcAft>
                <a:spcPts val="800"/>
              </a:spcAft>
              <a:buFont typeface="Arial" panose="020B0604020202020204" pitchFamily="34" charset="0"/>
              <a:buChar char="•"/>
            </a:pPr>
            <a:r>
              <a:rPr lang="en-IN" dirty="0">
                <a:latin typeface="Times New Roman" panose="02020603050405020304" pitchFamily="18" charset="0"/>
                <a:ea typeface="Calibri" panose="020F0502020204030204" pitchFamily="34" charset="0"/>
                <a:cs typeface="Times New Roman" panose="02020603050405020304" pitchFamily="18" charset="0"/>
              </a:rPr>
              <a:t>G</a:t>
            </a:r>
            <a:r>
              <a:rPr lang="en-IN" dirty="0">
                <a:effectLst/>
                <a:latin typeface="Times New Roman" panose="02020603050405020304" pitchFamily="18" charset="0"/>
                <a:ea typeface="Calibri" panose="020F0502020204030204" pitchFamily="34" charset="0"/>
                <a:cs typeface="Times New Roman" panose="02020603050405020304" pitchFamily="18" charset="0"/>
              </a:rPr>
              <a:t>rowth stories triggered an economic boost to those lying towards the lower centiles of the global income distribution </a:t>
            </a:r>
          </a:p>
          <a:p>
            <a:pPr marL="285750" indent="-285750" algn="just">
              <a:lnSpc>
                <a:spcPct val="107000"/>
              </a:lnSpc>
              <a:spcAft>
                <a:spcPts val="800"/>
              </a:spcAf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The “pro-poor” trend was somewhat dampened after 2000</a:t>
            </a:r>
          </a:p>
          <a:p>
            <a:pPr marL="285750" indent="-285750" algn="just">
              <a:lnSpc>
                <a:spcPct val="107000"/>
              </a:lnSpc>
              <a:spcAft>
                <a:spcPts val="800"/>
              </a:spcAft>
              <a:buFont typeface="Arial" panose="020B0604020202020204" pitchFamily="34" charset="0"/>
              <a:buChar char="•"/>
            </a:pPr>
            <a:r>
              <a:rPr lang="en-IN" dirty="0">
                <a:latin typeface="Times New Roman" panose="02020603050405020304" pitchFamily="18" charset="0"/>
                <a:ea typeface="Calibri" panose="020F0502020204030204" pitchFamily="34" charset="0"/>
                <a:cs typeface="Times New Roman" panose="02020603050405020304" pitchFamily="18" charset="0"/>
              </a:rPr>
              <a:t>E</a:t>
            </a:r>
            <a:r>
              <a:rPr lang="en-IN" dirty="0">
                <a:effectLst/>
                <a:latin typeface="Times New Roman" panose="02020603050405020304" pitchFamily="18" charset="0"/>
                <a:ea typeface="Calibri" panose="020F0502020204030204" pitchFamily="34" charset="0"/>
                <a:cs typeface="Times New Roman" panose="02020603050405020304" pitchFamily="18" charset="0"/>
              </a:rPr>
              <a:t>mergence of the </a:t>
            </a:r>
            <a:r>
              <a:rPr lang="en-IN"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“global middle class”; notable events: the 2008 financial crisis, crisis in the Eurozone</a:t>
            </a:r>
          </a:p>
          <a:p>
            <a:pPr marL="285750" indent="-285750" algn="just">
              <a:lnSpc>
                <a:spcPct val="107000"/>
              </a:lnSpc>
              <a:spcAft>
                <a:spcPts val="800"/>
              </a:spcAf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With the rise of the Big Tech, this period also witnessed a rise in inequality</a:t>
            </a:r>
          </a:p>
          <a:p>
            <a:endParaRPr lang="en-IN" dirty="0"/>
          </a:p>
        </p:txBody>
      </p:sp>
    </p:spTree>
    <p:extLst>
      <p:ext uri="{BB962C8B-B14F-4D97-AF65-F5344CB8AC3E}">
        <p14:creationId xmlns:p14="http://schemas.microsoft.com/office/powerpoint/2010/main" val="1947556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7C7C7"/>
        </a:soli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CDA0CCED-DF88-42DA-93E3-36E973F9E231}"/>
              </a:ext>
            </a:extLst>
          </p:cNvPr>
          <p:cNvGraphicFramePr>
            <a:graphicFrameLocks noGrp="1"/>
          </p:cNvGraphicFramePr>
          <p:nvPr/>
        </p:nvGraphicFramePr>
        <p:xfrm>
          <a:off x="1277469" y="0"/>
          <a:ext cx="9601201" cy="5365269"/>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F9561EA4-4297-4B7B-841C-5CCF90F1ADFA}"/>
              </a:ext>
            </a:extLst>
          </p:cNvPr>
          <p:cNvSpPr txBox="1"/>
          <p:nvPr/>
        </p:nvSpPr>
        <p:spPr>
          <a:xfrm>
            <a:off x="707091" y="5657671"/>
            <a:ext cx="10777817" cy="1200329"/>
          </a:xfrm>
          <a:prstGeom prst="rect">
            <a:avLst/>
          </a:prstGeom>
          <a:noFill/>
        </p:spPr>
        <p:txBody>
          <a:bodyPr wrap="square" rtlCol="0">
            <a:spAutoFit/>
          </a:bodyPr>
          <a:lstStyle/>
          <a:p>
            <a:pPr algn="just"/>
            <a:r>
              <a:rPr lang="en-IN" sz="1800" dirty="0">
                <a:effectLst/>
                <a:latin typeface="Calibri" panose="020F0502020204030204" pitchFamily="34" charset="0"/>
                <a:ea typeface="Calibri" panose="020F0502020204030204" pitchFamily="34" charset="0"/>
                <a:cs typeface="Times New Roman" panose="02020603050405020304" pitchFamily="18" charset="0"/>
              </a:rPr>
              <a:t>The overall (1980-2019) GIC indicates that the growth has been largely “pro-poor”, predominantly dictated by the dynamic shifts in the global income patterns (along with the emergence of the “global middle class” and unprecedented economic events) observed till the early 2000s</a:t>
            </a:r>
          </a:p>
          <a:p>
            <a:endParaRPr lang="en-IN" dirty="0"/>
          </a:p>
        </p:txBody>
      </p:sp>
    </p:spTree>
    <p:extLst>
      <p:ext uri="{BB962C8B-B14F-4D97-AF65-F5344CB8AC3E}">
        <p14:creationId xmlns:p14="http://schemas.microsoft.com/office/powerpoint/2010/main" val="176977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33F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31834-956F-4641-90F0-C509B6017E37}"/>
              </a:ext>
            </a:extLst>
          </p:cNvPr>
          <p:cNvSpPr>
            <a:spLocks noGrp="1"/>
          </p:cNvSpPr>
          <p:nvPr>
            <p:ph type="title"/>
          </p:nvPr>
        </p:nvSpPr>
        <p:spPr>
          <a:xfrm>
            <a:off x="0" y="1112520"/>
            <a:ext cx="5577837" cy="3235960"/>
          </a:xfrm>
          <a:solidFill>
            <a:schemeClr val="bg1">
              <a:lumMod val="50000"/>
            </a:schemeClr>
          </a:solidFill>
        </p:spPr>
        <p:txBody>
          <a:bodyPr>
            <a:normAutofit fontScale="90000"/>
          </a:bodyPr>
          <a:lstStyle/>
          <a:p>
            <a:pPr algn="just"/>
            <a:r>
              <a:rPr lang="en-IN" sz="7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Growth</a:t>
            </a:r>
            <a:r>
              <a:rPr lang="en-IN" sz="7200" dirty="0">
                <a:solidFill>
                  <a:srgbClr val="7E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8900" b="1" dirty="0">
                <a:solidFill>
                  <a:schemeClr val="accent3">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Inequality</a:t>
            </a:r>
            <a:br>
              <a:rPr lang="en-IN" sz="7200" dirty="0">
                <a:solidFill>
                  <a:srgbClr val="7E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IN" sz="8000" b="1" dirty="0">
                <a:solidFill>
                  <a:srgbClr val="CC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POVERTY</a:t>
            </a:r>
            <a:r>
              <a:rPr lang="en-IN" sz="7200" dirty="0">
                <a:solidFill>
                  <a:srgbClr val="7E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sz="5400" b="1" dirty="0">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endParaRPr>
          </a:p>
        </p:txBody>
      </p:sp>
      <p:pic>
        <p:nvPicPr>
          <p:cNvPr id="6" name="Picture 5">
            <a:extLst>
              <a:ext uri="{FF2B5EF4-FFF2-40B4-BE49-F238E27FC236}">
                <a16:creationId xmlns:a16="http://schemas.microsoft.com/office/drawing/2014/main" id="{919BEC47-B186-323A-CCC3-15F282997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7838" y="0"/>
            <a:ext cx="6614161" cy="3830320"/>
          </a:xfrm>
          <a:prstGeom prst="rect">
            <a:avLst/>
          </a:prstGeom>
          <a:effectLst>
            <a:outerShdw blurRad="50800" dist="50800" dir="5400000" algn="ctr" rotWithShape="0">
              <a:srgbClr val="000000">
                <a:alpha val="53000"/>
              </a:srgbClr>
            </a:outerShdw>
            <a:reflection stA="79000" endPos="65000" dist="50800" dir="5400000" sy="-100000" algn="bl" rotWithShape="0"/>
          </a:effectLst>
        </p:spPr>
      </p:pic>
      <p:sp>
        <p:nvSpPr>
          <p:cNvPr id="3" name="TextBox 2">
            <a:extLst>
              <a:ext uri="{FF2B5EF4-FFF2-40B4-BE49-F238E27FC236}">
                <a16:creationId xmlns:a16="http://schemas.microsoft.com/office/drawing/2014/main" id="{4E528DD0-A448-5230-9710-742AFBFE3C8F}"/>
              </a:ext>
            </a:extLst>
          </p:cNvPr>
          <p:cNvSpPr txBox="1"/>
          <p:nvPr/>
        </p:nvSpPr>
        <p:spPr>
          <a:xfrm>
            <a:off x="335281" y="5952311"/>
            <a:ext cx="11318240" cy="646331"/>
          </a:xfrm>
          <a:prstGeom prst="rect">
            <a:avLst/>
          </a:prstGeom>
          <a:noFill/>
        </p:spPr>
        <p:txBody>
          <a:bodyPr wrap="square" rtlCol="0">
            <a:spAutoFit/>
          </a:bodyPr>
          <a:lstStyle/>
          <a:p>
            <a:r>
              <a:rPr lang="en-IN" sz="3600" b="1" dirty="0">
                <a:solidFill>
                  <a:schemeClr val="accent2">
                    <a:lumMod val="20000"/>
                    <a:lumOff val="80000"/>
                  </a:schemeClr>
                </a:solidFill>
                <a:effectLst>
                  <a:outerShdw blurRad="38100" dist="38100" dir="2700000" algn="tl">
                    <a:srgbClr val="000000">
                      <a:alpha val="43137"/>
                    </a:srgbClr>
                  </a:outerShdw>
                </a:effectLst>
                <a:latin typeface="Papyrus" panose="03070502060502030205" pitchFamily="66" charset="0"/>
              </a:rPr>
              <a:t>Conundrum using Regression Analysis</a:t>
            </a:r>
          </a:p>
        </p:txBody>
      </p:sp>
    </p:spTree>
    <p:extLst>
      <p:ext uri="{BB962C8B-B14F-4D97-AF65-F5344CB8AC3E}">
        <p14:creationId xmlns:p14="http://schemas.microsoft.com/office/powerpoint/2010/main" val="2137230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7C7C7"/>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518D81-DC0D-4FC7-848D-250D8B1B2966}"/>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652682" y="648536"/>
            <a:ext cx="7539318" cy="1842247"/>
          </a:xfrm>
          <a:prstGeom prst="rect">
            <a:avLst/>
          </a:prstGeom>
          <a:ln>
            <a:solidFill>
              <a:schemeClr val="tx1"/>
            </a:solidFill>
          </a:ln>
        </p:spPr>
      </p:pic>
      <p:sp>
        <p:nvSpPr>
          <p:cNvPr id="6" name="TextBox 5">
            <a:extLst>
              <a:ext uri="{FF2B5EF4-FFF2-40B4-BE49-F238E27FC236}">
                <a16:creationId xmlns:a16="http://schemas.microsoft.com/office/drawing/2014/main" id="{BAF8BC6D-8843-4C1F-B90F-51A03B62E07A}"/>
              </a:ext>
            </a:extLst>
          </p:cNvPr>
          <p:cNvSpPr txBox="1"/>
          <p:nvPr/>
        </p:nvSpPr>
        <p:spPr>
          <a:xfrm>
            <a:off x="0" y="383114"/>
            <a:ext cx="4486836" cy="3785652"/>
          </a:xfrm>
          <a:prstGeom prst="rect">
            <a:avLst/>
          </a:prstGeom>
          <a:solidFill>
            <a:schemeClr val="bg2">
              <a:lumMod val="75000"/>
            </a:schemeClr>
          </a:solidFill>
        </p:spPr>
        <p:txBody>
          <a:bodyPr wrap="square">
            <a:spAutoFit/>
          </a:bodyPr>
          <a:lstStyle/>
          <a:p>
            <a:pPr marL="285750" indent="-28575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I</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ncome shares of the bottom decile and quintile in our sample</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are negatively-related to that of the top quintile</a:t>
            </a:r>
          </a:p>
          <a:p>
            <a:pPr marL="285750" indent="-28575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E</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ven when an economy prospers, the benefits of this prosperity are mostly reaped by the richest few while the poorest get an increasingly lesser share of the pie</a:t>
            </a: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picture depicted by our sample is that of a zero-sum game, i.e., the rich get richer only at the cost of the poor getting poorer</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1370AA53-357B-410C-A745-B421E8CF64C3}"/>
              </a:ext>
            </a:extLst>
          </p:cNvPr>
          <p:cNvPicPr/>
          <p:nvPr/>
        </p:nvPicPr>
        <p:blipFill>
          <a:blip r:embed="rId4"/>
          <a:stretch>
            <a:fillRect/>
          </a:stretch>
        </p:blipFill>
        <p:spPr>
          <a:xfrm>
            <a:off x="0" y="4303721"/>
            <a:ext cx="7032812" cy="1754070"/>
          </a:xfrm>
          <a:prstGeom prst="rect">
            <a:avLst/>
          </a:prstGeom>
          <a:ln>
            <a:solidFill>
              <a:schemeClr val="tx1"/>
            </a:solidFill>
          </a:ln>
        </p:spPr>
      </p:pic>
      <p:sp>
        <p:nvSpPr>
          <p:cNvPr id="9" name="TextBox 8">
            <a:extLst>
              <a:ext uri="{FF2B5EF4-FFF2-40B4-BE49-F238E27FC236}">
                <a16:creationId xmlns:a16="http://schemas.microsoft.com/office/drawing/2014/main" id="{48A54D6B-61FB-4F73-BC2C-FE5F33E96B13}"/>
              </a:ext>
            </a:extLst>
          </p:cNvPr>
          <p:cNvSpPr txBox="1"/>
          <p:nvPr/>
        </p:nvSpPr>
        <p:spPr>
          <a:xfrm>
            <a:off x="7032812" y="3139321"/>
            <a:ext cx="5159188" cy="2554545"/>
          </a:xfrm>
          <a:prstGeom prst="rect">
            <a:avLst/>
          </a:prstGeom>
          <a:solidFill>
            <a:schemeClr val="bg2">
              <a:lumMod val="75000"/>
            </a:schemeClr>
          </a:solidFill>
        </p:spPr>
        <p:txBody>
          <a:bodyPr wrap="square">
            <a:spAutoFit/>
          </a:bodyPr>
          <a:lstStyle/>
          <a:p>
            <a:pPr marL="285750" indent="-28575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L</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arger gaps (&gt;5 years) : Coefficients are smaller in absolute values</a:t>
            </a: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Growth in the shorter run is more directly linked to inequality (since it inevitably calls for an increased concentration of wealth in the hands of the elites), while in the longer run this relationship weakens as the effect of the growth eventually trickles down</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7765F87-6E12-41AD-B6F6-7535E91C57D9}"/>
              </a:ext>
            </a:extLst>
          </p:cNvPr>
          <p:cNvSpPr txBox="1"/>
          <p:nvPr/>
        </p:nvSpPr>
        <p:spPr>
          <a:xfrm>
            <a:off x="9612406" y="1529833"/>
            <a:ext cx="1519519" cy="369332"/>
          </a:xfrm>
          <a:prstGeom prst="rect">
            <a:avLst/>
          </a:prstGeom>
          <a:noFill/>
        </p:spPr>
        <p:txBody>
          <a:bodyPr wrap="square" rtlCol="0">
            <a:spAutoFit/>
          </a:bodyPr>
          <a:lstStyle/>
          <a:p>
            <a:r>
              <a:rPr lang="en-IN" dirty="0"/>
              <a:t>***</a:t>
            </a:r>
          </a:p>
        </p:txBody>
      </p:sp>
      <p:sp>
        <p:nvSpPr>
          <p:cNvPr id="11" name="TextBox 10">
            <a:extLst>
              <a:ext uri="{FF2B5EF4-FFF2-40B4-BE49-F238E27FC236}">
                <a16:creationId xmlns:a16="http://schemas.microsoft.com/office/drawing/2014/main" id="{349EB713-F539-4527-9268-986E5DE113C8}"/>
              </a:ext>
            </a:extLst>
          </p:cNvPr>
          <p:cNvSpPr txBox="1"/>
          <p:nvPr/>
        </p:nvSpPr>
        <p:spPr>
          <a:xfrm>
            <a:off x="9612405" y="1814275"/>
            <a:ext cx="1519519" cy="369332"/>
          </a:xfrm>
          <a:prstGeom prst="rect">
            <a:avLst/>
          </a:prstGeom>
          <a:noFill/>
        </p:spPr>
        <p:txBody>
          <a:bodyPr wrap="square" rtlCol="0">
            <a:spAutoFit/>
          </a:bodyPr>
          <a:lstStyle/>
          <a:p>
            <a:r>
              <a:rPr lang="en-IN" dirty="0"/>
              <a:t>***</a:t>
            </a:r>
          </a:p>
        </p:txBody>
      </p:sp>
      <p:sp>
        <p:nvSpPr>
          <p:cNvPr id="12" name="TextBox 11">
            <a:extLst>
              <a:ext uri="{FF2B5EF4-FFF2-40B4-BE49-F238E27FC236}">
                <a16:creationId xmlns:a16="http://schemas.microsoft.com/office/drawing/2014/main" id="{CEB70EF4-8CB1-497F-A232-D87AEAEE248D}"/>
              </a:ext>
            </a:extLst>
          </p:cNvPr>
          <p:cNvSpPr txBox="1"/>
          <p:nvPr/>
        </p:nvSpPr>
        <p:spPr>
          <a:xfrm>
            <a:off x="4652682" y="5171581"/>
            <a:ext cx="1519519" cy="369332"/>
          </a:xfrm>
          <a:prstGeom prst="rect">
            <a:avLst/>
          </a:prstGeom>
          <a:noFill/>
        </p:spPr>
        <p:txBody>
          <a:bodyPr wrap="square" rtlCol="0">
            <a:spAutoFit/>
          </a:bodyPr>
          <a:lstStyle/>
          <a:p>
            <a:r>
              <a:rPr lang="en-IN" dirty="0"/>
              <a:t>***</a:t>
            </a:r>
          </a:p>
        </p:txBody>
      </p:sp>
      <p:sp>
        <p:nvSpPr>
          <p:cNvPr id="13" name="TextBox 12">
            <a:extLst>
              <a:ext uri="{FF2B5EF4-FFF2-40B4-BE49-F238E27FC236}">
                <a16:creationId xmlns:a16="http://schemas.microsoft.com/office/drawing/2014/main" id="{454302C3-403B-46F3-8D15-9416C2BDF988}"/>
              </a:ext>
            </a:extLst>
          </p:cNvPr>
          <p:cNvSpPr txBox="1"/>
          <p:nvPr/>
        </p:nvSpPr>
        <p:spPr>
          <a:xfrm>
            <a:off x="4664255" y="5491202"/>
            <a:ext cx="1519519" cy="369332"/>
          </a:xfrm>
          <a:prstGeom prst="rect">
            <a:avLst/>
          </a:prstGeom>
          <a:noFill/>
        </p:spPr>
        <p:txBody>
          <a:bodyPr wrap="square" rtlCol="0">
            <a:spAutoFit/>
          </a:bodyPr>
          <a:lstStyle/>
          <a:p>
            <a:r>
              <a:rPr lang="en-IN" dirty="0"/>
              <a:t>***</a:t>
            </a:r>
          </a:p>
        </p:txBody>
      </p:sp>
      <p:sp>
        <p:nvSpPr>
          <p:cNvPr id="15" name="TextBox 14">
            <a:extLst>
              <a:ext uri="{FF2B5EF4-FFF2-40B4-BE49-F238E27FC236}">
                <a16:creationId xmlns:a16="http://schemas.microsoft.com/office/drawing/2014/main" id="{615D0619-0D3C-403A-9C99-E754C66D49F4}"/>
              </a:ext>
            </a:extLst>
          </p:cNvPr>
          <p:cNvSpPr txBox="1"/>
          <p:nvPr/>
        </p:nvSpPr>
        <p:spPr>
          <a:xfrm>
            <a:off x="5084110" y="6057792"/>
            <a:ext cx="7135345" cy="1292662"/>
          </a:xfrm>
          <a:prstGeom prst="rect">
            <a:avLst/>
          </a:prstGeom>
          <a:noFill/>
        </p:spPr>
        <p:txBody>
          <a:bodyPr wrap="square">
            <a:spAutoFit/>
          </a:bodyPr>
          <a:lstStyle/>
          <a:p>
            <a:pPr marL="342900" indent="-342900">
              <a:buFont typeface="+mj-lt"/>
              <a:buAutoNum type="arabicPeriod"/>
            </a:pPr>
            <a:r>
              <a:rPr lang="en-IN" sz="1400" i="1" dirty="0">
                <a:latin typeface="Calibri" panose="020F0502020204030204" pitchFamily="34" charset="0"/>
                <a:ea typeface="Calibri" panose="020F0502020204030204" pitchFamily="34" charset="0"/>
                <a:cs typeface="Times New Roman" panose="02020603050405020304" pitchFamily="18" charset="0"/>
              </a:rPr>
              <a:t>Observations are from more than 70 countries, over 1980-2019</a:t>
            </a:r>
          </a:p>
          <a:p>
            <a:pPr marL="342900" indent="-342900">
              <a:buFont typeface="+mj-lt"/>
              <a:buAutoNum type="arabicPeriod"/>
            </a:pPr>
            <a:r>
              <a:rPr lang="en-IN" sz="1400" i="1" dirty="0">
                <a:latin typeface="Calibri" panose="020F0502020204030204" pitchFamily="34" charset="0"/>
                <a:ea typeface="Calibri" panose="020F0502020204030204" pitchFamily="34" charset="0"/>
                <a:cs typeface="Times New Roman" panose="02020603050405020304" pitchFamily="18" charset="0"/>
              </a:rPr>
              <a:t>All data are sourced from World Bank</a:t>
            </a:r>
          </a:p>
          <a:p>
            <a:pPr marL="342900" indent="-342900">
              <a:buFont typeface="+mj-lt"/>
              <a:buAutoNum type="arabicPeriod"/>
            </a:pPr>
            <a:r>
              <a:rPr lang="en-IN" sz="1400" i="1" dirty="0">
                <a:latin typeface="Calibri" panose="020F0502020204030204" pitchFamily="34" charset="0"/>
                <a:ea typeface="Calibri" panose="020F0502020204030204" pitchFamily="34" charset="0"/>
                <a:cs typeface="Times New Roman" panose="02020603050405020304" pitchFamily="18" charset="0"/>
              </a:rPr>
              <a:t>‘*’- significance at 10% level, ‘**’- significance at 5% level, ‘***’- significance at 1% level </a:t>
            </a:r>
          </a:p>
          <a:p>
            <a:endParaRPr lang="en-IN"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cxnSp>
        <p:nvCxnSpPr>
          <p:cNvPr id="17" name="Straight Connector 16">
            <a:extLst>
              <a:ext uri="{FF2B5EF4-FFF2-40B4-BE49-F238E27FC236}">
                <a16:creationId xmlns:a16="http://schemas.microsoft.com/office/drawing/2014/main" id="{ACBC095F-62EF-4F04-ADE6-A7DEEA23DFA8}"/>
              </a:ext>
            </a:extLst>
          </p:cNvPr>
          <p:cNvCxnSpPr/>
          <p:nvPr/>
        </p:nvCxnSpPr>
        <p:spPr>
          <a:xfrm>
            <a:off x="5084110" y="6057792"/>
            <a:ext cx="710789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6791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5DB144-7DF0-4DC8-88BA-658AA8D40CE5}"/>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4471" y="487581"/>
            <a:ext cx="6952129" cy="2608729"/>
          </a:xfrm>
          <a:prstGeom prst="rect">
            <a:avLst/>
          </a:prstGeom>
          <a:ln>
            <a:solidFill>
              <a:schemeClr val="tx1"/>
            </a:solidFill>
          </a:ln>
        </p:spPr>
      </p:pic>
      <p:sp>
        <p:nvSpPr>
          <p:cNvPr id="4" name="TextBox 3">
            <a:extLst>
              <a:ext uri="{FF2B5EF4-FFF2-40B4-BE49-F238E27FC236}">
                <a16:creationId xmlns:a16="http://schemas.microsoft.com/office/drawing/2014/main" id="{259CC2DD-CC96-4DF2-B842-ECC4A613A042}"/>
              </a:ext>
            </a:extLst>
          </p:cNvPr>
          <p:cNvSpPr txBox="1"/>
          <p:nvPr/>
        </p:nvSpPr>
        <p:spPr>
          <a:xfrm>
            <a:off x="7086600" y="510987"/>
            <a:ext cx="5105400" cy="2585323"/>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ea typeface="Calibri" panose="020F0502020204030204" pitchFamily="34" charset="0"/>
                <a:cs typeface="Times New Roman" panose="02020603050405020304" pitchFamily="18" charset="0"/>
              </a:rPr>
              <a:t>T</a:t>
            </a:r>
            <a:r>
              <a:rPr lang="en-IN" dirty="0">
                <a:effectLst/>
                <a:latin typeface="Times New Roman" panose="02020603050405020304" pitchFamily="18" charset="0"/>
                <a:ea typeface="Calibri" panose="020F0502020204030204" pitchFamily="34" charset="0"/>
                <a:cs typeface="Times New Roman" panose="02020603050405020304" pitchFamily="18" charset="0"/>
              </a:rPr>
              <a:t>he coefficient of GDP per capita tis statistically significant and positive</a:t>
            </a:r>
          </a:p>
          <a:p>
            <a:pPr marL="285750" indent="-285750" algn="jus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Ignoring the inequality aspect for the time being, we find that the poor in countries with </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higher average income do enjoy a relatively larger share of the pie compared to those in countries with smaller average income</a:t>
            </a:r>
          </a:p>
          <a:p>
            <a:pPr marL="285750" indent="-285750" algn="just">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The coefficient of inflation is also statistically significant and positive</a:t>
            </a:r>
          </a:p>
        </p:txBody>
      </p:sp>
      <p:sp>
        <p:nvSpPr>
          <p:cNvPr id="5" name="TextBox 4">
            <a:extLst>
              <a:ext uri="{FF2B5EF4-FFF2-40B4-BE49-F238E27FC236}">
                <a16:creationId xmlns:a16="http://schemas.microsoft.com/office/drawing/2014/main" id="{C8DA2134-05DC-4019-A194-8DBBA318CD0E}"/>
              </a:ext>
            </a:extLst>
          </p:cNvPr>
          <p:cNvSpPr txBox="1"/>
          <p:nvPr/>
        </p:nvSpPr>
        <p:spPr>
          <a:xfrm>
            <a:off x="0" y="3257014"/>
            <a:ext cx="12192000" cy="2862322"/>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C</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ountries with higher GDP per capita often enjoy healthy amounts of inflation; Unstable economies suffering from highly volatile inflation rates, with little or no growth, the population being largely poor</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coefficient of rule of law is statistically significant and negative, </a:t>
            </a:r>
            <a:r>
              <a:rPr lang="en-IN" sz="20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hinting at the rising inequality in extremely prosperous and liberal democracies with a strong rule of law</a:t>
            </a:r>
            <a:endParaRPr lang="en-IN" sz="2000" b="1" dirty="0">
              <a:solidFill>
                <a:srgbClr val="C0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Effectiveness of government’s participation in welfare programs vis-à-vis the state of law and order in the country</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The coefficient of life expectancy is statistically significant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(though not always) and negative, again hinting at the rising inequality in advanced economies making rapid strides in health</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 large proportion of poor being engaged in the agricultural sector, we ran a simple regression and found the coefficient of per worker agricultural value added to be almost statistically significant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884FC6-B44F-458A-B9C9-9F11863CF4F1}"/>
              </a:ext>
            </a:extLst>
          </p:cNvPr>
          <p:cNvSpPr txBox="1"/>
          <p:nvPr/>
        </p:nvSpPr>
        <p:spPr>
          <a:xfrm>
            <a:off x="6397438" y="6119336"/>
            <a:ext cx="6125134" cy="738664"/>
          </a:xfrm>
          <a:prstGeom prst="rect">
            <a:avLst/>
          </a:prstGeom>
          <a:noFill/>
        </p:spPr>
        <p:txBody>
          <a:bodyPr wrap="square">
            <a:spAutoFit/>
          </a:bodyPr>
          <a:lstStyle/>
          <a:p>
            <a:pPr marL="342900" indent="-342900">
              <a:buFont typeface="+mj-lt"/>
              <a:buAutoNum type="arabicPeriod"/>
            </a:pPr>
            <a:r>
              <a:rPr lang="en-IN" sz="1400" i="1" dirty="0">
                <a:effectLst/>
                <a:latin typeface="Calibri" panose="020F0502020204030204" pitchFamily="34" charset="0"/>
                <a:ea typeface="Calibri" panose="020F0502020204030204" pitchFamily="34" charset="0"/>
                <a:cs typeface="Times New Roman" panose="02020603050405020304" pitchFamily="18" charset="0"/>
              </a:rPr>
              <a:t>Here, we focus on the cross-section of 2018</a:t>
            </a:r>
          </a:p>
          <a:p>
            <a:pPr marL="342900" indent="-342900">
              <a:buFont typeface="+mj-lt"/>
              <a:buAutoNum type="arabicPeriod"/>
            </a:pPr>
            <a:r>
              <a:rPr lang="en-IN" sz="1400" i="1" dirty="0">
                <a:effectLst/>
                <a:latin typeface="Calibri" panose="020F0502020204030204" pitchFamily="34" charset="0"/>
                <a:ea typeface="Calibri" panose="020F0502020204030204" pitchFamily="34" charset="0"/>
                <a:cs typeface="Times New Roman" panose="02020603050405020304" pitchFamily="18" charset="0"/>
              </a:rPr>
              <a:t>The coefficient, however, turned out to be insignificant in an MLRM due to possible multicollinearity with GDP per capita</a:t>
            </a:r>
            <a:endParaRPr lang="en-IN" sz="1400" i="1" dirty="0"/>
          </a:p>
        </p:txBody>
      </p:sp>
      <p:cxnSp>
        <p:nvCxnSpPr>
          <p:cNvPr id="8" name="Straight Connector 7">
            <a:extLst>
              <a:ext uri="{FF2B5EF4-FFF2-40B4-BE49-F238E27FC236}">
                <a16:creationId xmlns:a16="http://schemas.microsoft.com/office/drawing/2014/main" id="{98F4754B-CD30-4951-937B-7AF7EB22C25E}"/>
              </a:ext>
            </a:extLst>
          </p:cNvPr>
          <p:cNvCxnSpPr>
            <a:cxnSpLocks/>
          </p:cNvCxnSpPr>
          <p:nvPr/>
        </p:nvCxnSpPr>
        <p:spPr>
          <a:xfrm>
            <a:off x="6397438" y="6057792"/>
            <a:ext cx="5794562" cy="0"/>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E843492-FD70-4D9C-88C1-9A82C5023BD3}"/>
              </a:ext>
            </a:extLst>
          </p:cNvPr>
          <p:cNvSpPr txBox="1"/>
          <p:nvPr/>
        </p:nvSpPr>
        <p:spPr>
          <a:xfrm>
            <a:off x="4827493" y="1446019"/>
            <a:ext cx="672353" cy="369332"/>
          </a:xfrm>
          <a:prstGeom prst="rect">
            <a:avLst/>
          </a:prstGeom>
          <a:noFill/>
        </p:spPr>
        <p:txBody>
          <a:bodyPr wrap="square" rtlCol="0">
            <a:spAutoFit/>
          </a:bodyPr>
          <a:lstStyle/>
          <a:p>
            <a:r>
              <a:rPr lang="en-IN" dirty="0"/>
              <a:t>**</a:t>
            </a:r>
          </a:p>
        </p:txBody>
      </p:sp>
      <p:sp>
        <p:nvSpPr>
          <p:cNvPr id="13" name="TextBox 12">
            <a:extLst>
              <a:ext uri="{FF2B5EF4-FFF2-40B4-BE49-F238E27FC236}">
                <a16:creationId xmlns:a16="http://schemas.microsoft.com/office/drawing/2014/main" id="{32F006DB-56A9-4B74-BC16-7E3D275F272E}"/>
              </a:ext>
            </a:extLst>
          </p:cNvPr>
          <p:cNvSpPr txBox="1"/>
          <p:nvPr/>
        </p:nvSpPr>
        <p:spPr>
          <a:xfrm>
            <a:off x="4827493" y="1630685"/>
            <a:ext cx="672353" cy="369332"/>
          </a:xfrm>
          <a:prstGeom prst="rect">
            <a:avLst/>
          </a:prstGeom>
          <a:noFill/>
        </p:spPr>
        <p:txBody>
          <a:bodyPr wrap="square" rtlCol="0">
            <a:spAutoFit/>
          </a:bodyPr>
          <a:lstStyle/>
          <a:p>
            <a:r>
              <a:rPr lang="en-IN" dirty="0"/>
              <a:t>**</a:t>
            </a:r>
          </a:p>
        </p:txBody>
      </p:sp>
      <p:sp>
        <p:nvSpPr>
          <p:cNvPr id="14" name="TextBox 13">
            <a:extLst>
              <a:ext uri="{FF2B5EF4-FFF2-40B4-BE49-F238E27FC236}">
                <a16:creationId xmlns:a16="http://schemas.microsoft.com/office/drawing/2014/main" id="{93DDCC94-02F9-4518-AEE1-86977BE36159}"/>
              </a:ext>
            </a:extLst>
          </p:cNvPr>
          <p:cNvSpPr txBox="1"/>
          <p:nvPr/>
        </p:nvSpPr>
        <p:spPr>
          <a:xfrm>
            <a:off x="4827492" y="2005868"/>
            <a:ext cx="672353" cy="369332"/>
          </a:xfrm>
          <a:prstGeom prst="rect">
            <a:avLst/>
          </a:prstGeom>
          <a:noFill/>
        </p:spPr>
        <p:txBody>
          <a:bodyPr wrap="square" rtlCol="0">
            <a:spAutoFit/>
          </a:bodyPr>
          <a:lstStyle/>
          <a:p>
            <a:r>
              <a:rPr lang="en-IN" dirty="0"/>
              <a:t>**</a:t>
            </a:r>
          </a:p>
        </p:txBody>
      </p:sp>
      <p:sp>
        <p:nvSpPr>
          <p:cNvPr id="15" name="TextBox 14">
            <a:extLst>
              <a:ext uri="{FF2B5EF4-FFF2-40B4-BE49-F238E27FC236}">
                <a16:creationId xmlns:a16="http://schemas.microsoft.com/office/drawing/2014/main" id="{48045E18-93E3-40C2-AC5A-FFA9B35254DF}"/>
              </a:ext>
            </a:extLst>
          </p:cNvPr>
          <p:cNvSpPr txBox="1"/>
          <p:nvPr/>
        </p:nvSpPr>
        <p:spPr>
          <a:xfrm>
            <a:off x="4827491" y="2376695"/>
            <a:ext cx="672353" cy="369332"/>
          </a:xfrm>
          <a:prstGeom prst="rect">
            <a:avLst/>
          </a:prstGeom>
          <a:noFill/>
        </p:spPr>
        <p:txBody>
          <a:bodyPr wrap="square" rtlCol="0">
            <a:spAutoFit/>
          </a:bodyPr>
          <a:lstStyle/>
          <a:p>
            <a:r>
              <a:rPr lang="en-IN" dirty="0"/>
              <a:t>**</a:t>
            </a:r>
          </a:p>
        </p:txBody>
      </p:sp>
      <p:sp>
        <p:nvSpPr>
          <p:cNvPr id="16" name="TextBox 15">
            <a:extLst>
              <a:ext uri="{FF2B5EF4-FFF2-40B4-BE49-F238E27FC236}">
                <a16:creationId xmlns:a16="http://schemas.microsoft.com/office/drawing/2014/main" id="{2E15DFB2-4114-48E4-BEB5-7028CC7AFD72}"/>
              </a:ext>
            </a:extLst>
          </p:cNvPr>
          <p:cNvSpPr txBox="1"/>
          <p:nvPr/>
        </p:nvSpPr>
        <p:spPr>
          <a:xfrm>
            <a:off x="4827489" y="2579787"/>
            <a:ext cx="672353" cy="369332"/>
          </a:xfrm>
          <a:prstGeom prst="rect">
            <a:avLst/>
          </a:prstGeom>
          <a:noFill/>
        </p:spPr>
        <p:txBody>
          <a:bodyPr wrap="square" rtlCol="0">
            <a:spAutoFit/>
          </a:bodyPr>
          <a:lstStyle/>
          <a:p>
            <a:r>
              <a:rPr lang="en-IN" dirty="0"/>
              <a:t>***</a:t>
            </a:r>
          </a:p>
        </p:txBody>
      </p:sp>
    </p:spTree>
    <p:extLst>
      <p:ext uri="{BB962C8B-B14F-4D97-AF65-F5344CB8AC3E}">
        <p14:creationId xmlns:p14="http://schemas.microsoft.com/office/powerpoint/2010/main" val="707462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0E963A-2A94-4E68-8C84-8FDDC92CC512}"/>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37422" y="489716"/>
            <a:ext cx="6639896" cy="1675260"/>
          </a:xfrm>
          <a:prstGeom prst="rect">
            <a:avLst/>
          </a:prstGeom>
          <a:ln>
            <a:solidFill>
              <a:schemeClr val="tx1"/>
            </a:solidFill>
          </a:ln>
        </p:spPr>
      </p:pic>
      <p:pic>
        <p:nvPicPr>
          <p:cNvPr id="3" name="Picture 2">
            <a:extLst>
              <a:ext uri="{FF2B5EF4-FFF2-40B4-BE49-F238E27FC236}">
                <a16:creationId xmlns:a16="http://schemas.microsoft.com/office/drawing/2014/main" id="{9C1C7B15-F8EF-42FC-9E00-1039822A5E04}"/>
              </a:ext>
            </a:extLst>
          </p:cNvPr>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37422" y="2452687"/>
            <a:ext cx="6639896" cy="3410231"/>
          </a:xfrm>
          <a:prstGeom prst="rect">
            <a:avLst/>
          </a:prstGeom>
          <a:ln>
            <a:solidFill>
              <a:schemeClr val="tx1"/>
            </a:solidFill>
          </a:ln>
        </p:spPr>
      </p:pic>
      <p:sp>
        <p:nvSpPr>
          <p:cNvPr id="4" name="TextBox 3">
            <a:extLst>
              <a:ext uri="{FF2B5EF4-FFF2-40B4-BE49-F238E27FC236}">
                <a16:creationId xmlns:a16="http://schemas.microsoft.com/office/drawing/2014/main" id="{7A9CD59C-1903-4E6D-97BE-7A71D9D881BF}"/>
              </a:ext>
            </a:extLst>
          </p:cNvPr>
          <p:cNvSpPr txBox="1"/>
          <p:nvPr/>
        </p:nvSpPr>
        <p:spPr>
          <a:xfrm>
            <a:off x="4558553" y="1559859"/>
            <a:ext cx="887506" cy="369332"/>
          </a:xfrm>
          <a:prstGeom prst="rect">
            <a:avLst/>
          </a:prstGeom>
          <a:noFill/>
        </p:spPr>
        <p:txBody>
          <a:bodyPr wrap="square" rtlCol="0">
            <a:spAutoFit/>
          </a:bodyPr>
          <a:lstStyle/>
          <a:p>
            <a:r>
              <a:rPr lang="en-IN" dirty="0"/>
              <a:t>***</a:t>
            </a:r>
          </a:p>
        </p:txBody>
      </p:sp>
      <p:sp>
        <p:nvSpPr>
          <p:cNvPr id="5" name="TextBox 4">
            <a:extLst>
              <a:ext uri="{FF2B5EF4-FFF2-40B4-BE49-F238E27FC236}">
                <a16:creationId xmlns:a16="http://schemas.microsoft.com/office/drawing/2014/main" id="{3C619BCA-339A-4267-B0F1-2CFEE633117B}"/>
              </a:ext>
            </a:extLst>
          </p:cNvPr>
          <p:cNvSpPr txBox="1"/>
          <p:nvPr/>
        </p:nvSpPr>
        <p:spPr>
          <a:xfrm>
            <a:off x="4483603" y="5083495"/>
            <a:ext cx="887506" cy="369332"/>
          </a:xfrm>
          <a:prstGeom prst="rect">
            <a:avLst/>
          </a:prstGeom>
          <a:noFill/>
        </p:spPr>
        <p:txBody>
          <a:bodyPr wrap="square" rtlCol="0">
            <a:spAutoFit/>
          </a:bodyPr>
          <a:lstStyle/>
          <a:p>
            <a:r>
              <a:rPr lang="en-IN" dirty="0"/>
              <a:t>***</a:t>
            </a:r>
          </a:p>
        </p:txBody>
      </p:sp>
      <p:sp>
        <p:nvSpPr>
          <p:cNvPr id="6" name="TextBox 5">
            <a:extLst>
              <a:ext uri="{FF2B5EF4-FFF2-40B4-BE49-F238E27FC236}">
                <a16:creationId xmlns:a16="http://schemas.microsoft.com/office/drawing/2014/main" id="{49BCC1DF-DC64-4549-BA01-273AF3AF81F2}"/>
              </a:ext>
            </a:extLst>
          </p:cNvPr>
          <p:cNvSpPr txBox="1"/>
          <p:nvPr/>
        </p:nvSpPr>
        <p:spPr>
          <a:xfrm>
            <a:off x="4498593" y="4364032"/>
            <a:ext cx="887506" cy="369332"/>
          </a:xfrm>
          <a:prstGeom prst="rect">
            <a:avLst/>
          </a:prstGeom>
          <a:noFill/>
        </p:spPr>
        <p:txBody>
          <a:bodyPr wrap="square" rtlCol="0">
            <a:spAutoFit/>
          </a:bodyPr>
          <a:lstStyle/>
          <a:p>
            <a:r>
              <a:rPr lang="en-IN" dirty="0"/>
              <a:t>***</a:t>
            </a:r>
          </a:p>
        </p:txBody>
      </p:sp>
      <p:sp>
        <p:nvSpPr>
          <p:cNvPr id="7" name="TextBox 6">
            <a:extLst>
              <a:ext uri="{FF2B5EF4-FFF2-40B4-BE49-F238E27FC236}">
                <a16:creationId xmlns:a16="http://schemas.microsoft.com/office/drawing/2014/main" id="{D889859D-E3A9-4082-BE3F-8DA78E4E88B4}"/>
              </a:ext>
            </a:extLst>
          </p:cNvPr>
          <p:cNvSpPr txBox="1"/>
          <p:nvPr/>
        </p:nvSpPr>
        <p:spPr>
          <a:xfrm>
            <a:off x="4468613" y="4076321"/>
            <a:ext cx="887506" cy="369332"/>
          </a:xfrm>
          <a:prstGeom prst="rect">
            <a:avLst/>
          </a:prstGeom>
          <a:noFill/>
        </p:spPr>
        <p:txBody>
          <a:bodyPr wrap="square" rtlCol="0">
            <a:spAutoFit/>
          </a:bodyPr>
          <a:lstStyle/>
          <a:p>
            <a:r>
              <a:rPr lang="en-IN" dirty="0"/>
              <a:t>***</a:t>
            </a:r>
          </a:p>
        </p:txBody>
      </p:sp>
      <p:sp>
        <p:nvSpPr>
          <p:cNvPr id="8" name="TextBox 7">
            <a:extLst>
              <a:ext uri="{FF2B5EF4-FFF2-40B4-BE49-F238E27FC236}">
                <a16:creationId xmlns:a16="http://schemas.microsoft.com/office/drawing/2014/main" id="{4F69D89A-A90C-4C11-8231-C2EC377E0816}"/>
              </a:ext>
            </a:extLst>
          </p:cNvPr>
          <p:cNvSpPr txBox="1"/>
          <p:nvPr/>
        </p:nvSpPr>
        <p:spPr>
          <a:xfrm>
            <a:off x="4498593" y="3603944"/>
            <a:ext cx="887506" cy="369332"/>
          </a:xfrm>
          <a:prstGeom prst="rect">
            <a:avLst/>
          </a:prstGeom>
          <a:noFill/>
        </p:spPr>
        <p:txBody>
          <a:bodyPr wrap="square" rtlCol="0">
            <a:spAutoFit/>
          </a:bodyPr>
          <a:lstStyle/>
          <a:p>
            <a:r>
              <a:rPr lang="en-IN" dirty="0"/>
              <a:t>***</a:t>
            </a:r>
          </a:p>
        </p:txBody>
      </p:sp>
      <p:sp>
        <p:nvSpPr>
          <p:cNvPr id="9" name="TextBox 8">
            <a:extLst>
              <a:ext uri="{FF2B5EF4-FFF2-40B4-BE49-F238E27FC236}">
                <a16:creationId xmlns:a16="http://schemas.microsoft.com/office/drawing/2014/main" id="{C05F8F96-C04F-448D-8929-7B90ACCB7362}"/>
              </a:ext>
            </a:extLst>
          </p:cNvPr>
          <p:cNvSpPr txBox="1"/>
          <p:nvPr/>
        </p:nvSpPr>
        <p:spPr>
          <a:xfrm>
            <a:off x="4558553" y="3826875"/>
            <a:ext cx="887506" cy="369332"/>
          </a:xfrm>
          <a:prstGeom prst="rect">
            <a:avLst/>
          </a:prstGeom>
          <a:noFill/>
        </p:spPr>
        <p:txBody>
          <a:bodyPr wrap="square" rtlCol="0">
            <a:spAutoFit/>
          </a:bodyPr>
          <a:lstStyle/>
          <a:p>
            <a:r>
              <a:rPr lang="en-IN" dirty="0"/>
              <a:t>*</a:t>
            </a:r>
          </a:p>
        </p:txBody>
      </p:sp>
      <p:sp>
        <p:nvSpPr>
          <p:cNvPr id="10" name="TextBox 9">
            <a:extLst>
              <a:ext uri="{FF2B5EF4-FFF2-40B4-BE49-F238E27FC236}">
                <a16:creationId xmlns:a16="http://schemas.microsoft.com/office/drawing/2014/main" id="{C60003E6-7CA8-4B8C-8D1F-07EC03BA29CB}"/>
              </a:ext>
            </a:extLst>
          </p:cNvPr>
          <p:cNvSpPr txBox="1"/>
          <p:nvPr/>
        </p:nvSpPr>
        <p:spPr>
          <a:xfrm>
            <a:off x="4558553" y="4576318"/>
            <a:ext cx="887506" cy="369332"/>
          </a:xfrm>
          <a:prstGeom prst="rect">
            <a:avLst/>
          </a:prstGeom>
          <a:noFill/>
        </p:spPr>
        <p:txBody>
          <a:bodyPr wrap="square" rtlCol="0">
            <a:spAutoFit/>
          </a:bodyPr>
          <a:lstStyle/>
          <a:p>
            <a:r>
              <a:rPr lang="en-IN" dirty="0"/>
              <a:t>*</a:t>
            </a:r>
          </a:p>
        </p:txBody>
      </p:sp>
      <p:sp>
        <p:nvSpPr>
          <p:cNvPr id="11" name="TextBox 10">
            <a:extLst>
              <a:ext uri="{FF2B5EF4-FFF2-40B4-BE49-F238E27FC236}">
                <a16:creationId xmlns:a16="http://schemas.microsoft.com/office/drawing/2014/main" id="{3EF55263-FA6D-49D2-A42B-E470B432DD32}"/>
              </a:ext>
            </a:extLst>
          </p:cNvPr>
          <p:cNvSpPr txBox="1"/>
          <p:nvPr/>
        </p:nvSpPr>
        <p:spPr>
          <a:xfrm>
            <a:off x="4558553" y="5366111"/>
            <a:ext cx="887506" cy="369332"/>
          </a:xfrm>
          <a:prstGeom prst="rect">
            <a:avLst/>
          </a:prstGeom>
          <a:noFill/>
        </p:spPr>
        <p:txBody>
          <a:bodyPr wrap="square" rtlCol="0">
            <a:spAutoFit/>
          </a:bodyPr>
          <a:lstStyle/>
          <a:p>
            <a:r>
              <a:rPr lang="en-IN" dirty="0"/>
              <a:t>**</a:t>
            </a:r>
          </a:p>
        </p:txBody>
      </p:sp>
      <p:sp>
        <p:nvSpPr>
          <p:cNvPr id="13" name="TextBox 12">
            <a:extLst>
              <a:ext uri="{FF2B5EF4-FFF2-40B4-BE49-F238E27FC236}">
                <a16:creationId xmlns:a16="http://schemas.microsoft.com/office/drawing/2014/main" id="{8BFFEB25-CD32-494B-8384-DFA58D80EF85}"/>
              </a:ext>
            </a:extLst>
          </p:cNvPr>
          <p:cNvSpPr txBox="1"/>
          <p:nvPr/>
        </p:nvSpPr>
        <p:spPr>
          <a:xfrm>
            <a:off x="7155255" y="1559859"/>
            <a:ext cx="4681145" cy="3477875"/>
          </a:xfrm>
          <a:prstGeom prst="rect">
            <a:avLst/>
          </a:prstGeom>
          <a:solidFill>
            <a:schemeClr val="bg1">
              <a:lumMod val="75000"/>
            </a:schemeClr>
          </a:solidFill>
        </p:spPr>
        <p:txBody>
          <a:bodyPr wrap="square">
            <a:spAutoFit/>
          </a:bodyPr>
          <a:lstStyle/>
          <a:p>
            <a:pPr marL="285750" indent="-28575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he coefficient for </a:t>
            </a:r>
            <a:r>
              <a:rPr lang="en-IN" sz="20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the high-income group to be statistically significantly negative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than the low-income group</a:t>
            </a:r>
          </a:p>
          <a:p>
            <a:pPr marL="285750" indent="-285750" algn="just">
              <a:buFont typeface="Arial" panose="020B0604020202020204" pitchFamily="34" charset="0"/>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Despite it being well-established, that the poor in countries with higher income may be better-off than the poor in countries with lower income, it cannot be ignored that the poor in the high-income countries experience the brunt of </a:t>
            </a:r>
            <a:r>
              <a:rPr lang="en-IN" sz="2000" dirty="0">
                <a:effectLst/>
                <a:highlight>
                  <a:srgbClr val="999595"/>
                </a:highlight>
                <a:latin typeface="Times New Roman" panose="02020603050405020304" pitchFamily="18" charset="0"/>
                <a:ea typeface="Calibri" panose="020F0502020204030204" pitchFamily="34" charset="0"/>
                <a:cs typeface="Times New Roman" panose="02020603050405020304" pitchFamily="18" charset="0"/>
              </a:rPr>
              <a:t>inequality more severely than those elsewhere</a:t>
            </a:r>
            <a:endParaRPr lang="en-IN" sz="2000" dirty="0">
              <a:highlight>
                <a:srgbClr val="999595"/>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235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2455</Words>
  <Application>Microsoft Office PowerPoint</Application>
  <PresentationFormat>Widescreen</PresentationFormat>
  <Paragraphs>182</Paragraphs>
  <Slides>24</Slides>
  <Notes>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24</vt:i4>
      </vt:variant>
    </vt:vector>
  </HeadingPairs>
  <TitlesOfParts>
    <vt:vector size="41" baseType="lpstr">
      <vt:lpstr>MingLiU_HKSCS-ExtB</vt:lpstr>
      <vt:lpstr>Algerian</vt:lpstr>
      <vt:lpstr>Arial</vt:lpstr>
      <vt:lpstr>Bell MT</vt:lpstr>
      <vt:lpstr>Bodoni MT Black</vt:lpstr>
      <vt:lpstr>Book Antiqua</vt:lpstr>
      <vt:lpstr>Calibri</vt:lpstr>
      <vt:lpstr>Calibri Light</vt:lpstr>
      <vt:lpstr>Engravers MT</vt:lpstr>
      <vt:lpstr>Felix Titling</vt:lpstr>
      <vt:lpstr>Garamond</vt:lpstr>
      <vt:lpstr>Papyrus</vt:lpstr>
      <vt:lpstr>Segoe UI Light</vt:lpstr>
      <vt:lpstr>Stencil</vt:lpstr>
      <vt:lpstr>Times New Roman</vt:lpstr>
      <vt:lpstr>Wingdings</vt:lpstr>
      <vt:lpstr>Office Theme</vt:lpstr>
      <vt:lpstr>Mapping Inequality POVERTY  Gap Analysis Across Regions</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Understanding Socioeconomic Transition</vt:lpstr>
      <vt:lpstr>        Mobility Matrix(1980-1999)</vt:lpstr>
      <vt:lpstr>Mobility Matrix(2000-2019)</vt:lpstr>
      <vt:lpstr>Mobility Matrix(1980-2019)</vt:lpstr>
      <vt:lpstr>Understanding variations in growth rates across income distribution Growth Incidence Curves (GIC)</vt:lpstr>
      <vt:lpstr>PowerPoint Presentation</vt:lpstr>
      <vt:lpstr>PowerPoint Presentation</vt:lpstr>
      <vt:lpstr>PowerPoint Presentation</vt:lpstr>
      <vt:lpstr>PowerPoint Presentation</vt:lpstr>
      <vt:lpstr>PowerPoint Presentation</vt:lpstr>
      <vt:lpstr>PowerPoint Presentation</vt:lpstr>
      <vt:lpstr>Growth Inequality POVERTY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mrdebasisdas2@gmail.com</dc:creator>
  <cp:lastModifiedBy>Bhawika Agarwal</cp:lastModifiedBy>
  <cp:revision>14</cp:revision>
  <dcterms:created xsi:type="dcterms:W3CDTF">2024-11-19T16:45:19Z</dcterms:created>
  <dcterms:modified xsi:type="dcterms:W3CDTF">2024-11-20T15:43:16Z</dcterms:modified>
</cp:coreProperties>
</file>